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8" r:id="rId1"/>
    <p:sldMasterId id="2147483669" r:id="rId2"/>
  </p:sldMasterIdLst>
  <p:notesMasterIdLst>
    <p:notesMasterId r:id="rId59"/>
  </p:notesMasterIdLst>
  <p:sldIdLst>
    <p:sldId id="256" r:id="rId3"/>
    <p:sldId id="257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8" r:id="rId12"/>
    <p:sldId id="269" r:id="rId13"/>
    <p:sldId id="270" r:id="rId14"/>
    <p:sldId id="271" r:id="rId15"/>
    <p:sldId id="272" r:id="rId16"/>
    <p:sldId id="274" r:id="rId17"/>
    <p:sldId id="276" r:id="rId18"/>
    <p:sldId id="277" r:id="rId19"/>
    <p:sldId id="278" r:id="rId20"/>
    <p:sldId id="279" r:id="rId21"/>
    <p:sldId id="280" r:id="rId22"/>
    <p:sldId id="284" r:id="rId23"/>
    <p:sldId id="285" r:id="rId24"/>
    <p:sldId id="286" r:id="rId25"/>
    <p:sldId id="287" r:id="rId26"/>
    <p:sldId id="288" r:id="rId27"/>
    <p:sldId id="289" r:id="rId28"/>
    <p:sldId id="290" r:id="rId29"/>
    <p:sldId id="291" r:id="rId30"/>
    <p:sldId id="292" r:id="rId31"/>
    <p:sldId id="294" r:id="rId32"/>
    <p:sldId id="295" r:id="rId33"/>
    <p:sldId id="296" r:id="rId34"/>
    <p:sldId id="297" r:id="rId35"/>
    <p:sldId id="298" r:id="rId36"/>
    <p:sldId id="299" r:id="rId37"/>
    <p:sldId id="300" r:id="rId38"/>
    <p:sldId id="301" r:id="rId39"/>
    <p:sldId id="302" r:id="rId40"/>
    <p:sldId id="303" r:id="rId41"/>
    <p:sldId id="304" r:id="rId42"/>
    <p:sldId id="305" r:id="rId43"/>
    <p:sldId id="306" r:id="rId44"/>
    <p:sldId id="307" r:id="rId45"/>
    <p:sldId id="308" r:id="rId46"/>
    <p:sldId id="309" r:id="rId47"/>
    <p:sldId id="310" r:id="rId48"/>
    <p:sldId id="311" r:id="rId49"/>
    <p:sldId id="313" r:id="rId50"/>
    <p:sldId id="314" r:id="rId51"/>
    <p:sldId id="315" r:id="rId52"/>
    <p:sldId id="316" r:id="rId53"/>
    <p:sldId id="317" r:id="rId54"/>
    <p:sldId id="318" r:id="rId55"/>
    <p:sldId id="319" r:id="rId56"/>
    <p:sldId id="320" r:id="rId57"/>
    <p:sldId id="322" r:id="rId58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Perla Atila" initials="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606" y="6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5" Type="http://schemas.openxmlformats.org/officeDocument/2006/relationships/slide" Target="slides/slide3.xml"/><Relationship Id="rId61" Type="http://schemas.openxmlformats.org/officeDocument/2006/relationships/presProps" Target="presProps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commentAuthors" Target="commentAuthors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4fd471d146_2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4fd471d146_2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4ce68cfbca_0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4ce68cfbca_0_2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4ce68cfbca_0_2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4ce68cfbca_0_2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4ce68cfbca_0_2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4ce68cfbca_0_2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4ce68cfbca_0_2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4ce68cfbca_0_2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4ce68cfbca_0_2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4ce68cfbca_0_2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4ce68cfbca_0_2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4ce68cfbca_0_2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5fd8bee8bc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5fd8bee8bc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5fd8bee8bc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5fd8bee8bc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4ce68cfbca_0_2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4ce68cfbca_0_2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4ce68cfbca_0_2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4ce68cfbca_0_2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4ce68cfbca_0_2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4ce68cfbca_0_2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4ce68cfbca_0_2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4ce68cfbca_0_2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4ce68cfbca_0_4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4ce68cfbca_0_4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4ce68cfbca_0_2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4ce68cfbca_0_2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4ce68cfbca_0_3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4ce68cfbca_0_3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4ce68cfbca_0_3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4ce68cfbca_0_3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4ce68cfbca_0_3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4ce68cfbca_0_3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4ce68cfbca_0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4ce68cfbca_0_3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3f9458b05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33f9458b05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553e7c35cf_0_1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553e7c35cf_0_1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4ce68cfbca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g4ce68cfbca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4ce68cfbca_0_3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4ce68cfbca_0_3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4ce68cfbca_0_3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4ce68cfbca_0_3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5fd8bee8bc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g5fd8bee8bc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fd8bee8bc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g5fd8bee8bc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4ce68cfbca_0_4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4ce68cfbca_0_4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4ce68cfbca_0_3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4ce68cfbca_0_3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4ce68cfbca_0_3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5" name="Google Shape;515;g4ce68cfbca_0_3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5fd8bee8bc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6" name="Google Shape;536;g5fd8bee8bc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4ce68cfbca_0_5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3" name="Google Shape;543;g4ce68cfbca_0_5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5fd8bee8bc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9" name="Google Shape;549;g5fd8bee8bc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5fd8bee8bc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5" name="Google Shape;555;g5fd8bee8bc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g553e7c35c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4" name="Google Shape;564;g553e7c35c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553e7c35cf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9" name="Google Shape;569;g553e7c35cf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553e7c35cf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6" name="Google Shape;576;g553e7c35cf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5fd8bee8bc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4" name="Google Shape;584;g5fd8bee8bc_0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5fd8bee8bc_0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g5fd8bee8bc_0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g5fd8bee8bc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3" name="Google Shape;603;g5fd8bee8bc_0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g5fd8bee8bc_0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3" name="Google Shape;613;g5fd8bee8bc_0_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g553e7c35cf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3" name="Google Shape;623;g553e7c35cf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g553e7c35cf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4" name="Google Shape;634;g553e7c35cf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5fd8bee8bc_0_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3" name="Google Shape;643;g5fd8bee8bc_0_1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g5fd8bee8bc_0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5" name="Google Shape;655;g5fd8bee8bc_0_1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553e7c35cf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4" name="Google Shape;664;g553e7c35cf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g553e7c35cf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6" name="Google Shape;676;g553e7c35cf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g5fd8bee8bc_0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8" name="Google Shape;688;g5fd8bee8bc_0_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g5fd8bee8bc_0_1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6" name="Google Shape;706;g5fd8bee8bc_0_1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g5fd8bee8bc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5" name="Google Shape;715;g5fd8bee8bc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g553e7c35cf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3" name="Google Shape;723;g553e7c35cf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g553e7c35cf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0" name="Google Shape;730;g553e7c35cf_0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5fd8bee8bc_0_2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5fd8bee8bc_0_2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4ce68cfbca_0_4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4" name="Google Shape;744;g4ce68cfbca_0_4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g4ce68cfbca_0_5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9" name="Google Shape;749;g4ce68cfbca_0_5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g4ce68cfbca_0_5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5" name="Google Shape;755;g4ce68cfbca_0_5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>
          <a:extLst>
            <a:ext uri="{FF2B5EF4-FFF2-40B4-BE49-F238E27FC236}">
              <a16:creationId xmlns:a16="http://schemas.microsoft.com/office/drawing/2014/main" id="{80A61846-A716-9AD5-273F-7F5C5E29F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4fd471d146_2_59:notes">
            <a:extLst>
              <a:ext uri="{FF2B5EF4-FFF2-40B4-BE49-F238E27FC236}">
                <a16:creationId xmlns:a16="http://schemas.microsoft.com/office/drawing/2014/main" id="{23D92C52-0B17-F9C7-4039-1C5009F159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4fd471d146_2_59:notes">
            <a:extLst>
              <a:ext uri="{FF2B5EF4-FFF2-40B4-BE49-F238E27FC236}">
                <a16:creationId xmlns:a16="http://schemas.microsoft.com/office/drawing/2014/main" id="{4A680863-E154-C192-F999-FDE1E3D2C9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59181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NAHUR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0" y="2741350"/>
            <a:ext cx="8520600" cy="222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5261233"/>
            <a:ext cx="8520600" cy="66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047000" y="626700"/>
            <a:ext cx="5378523" cy="137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3FA630"/>
              </a:buClr>
              <a:buSzPts val="3600"/>
              <a:buNone/>
              <a:defRPr sz="3600" b="1">
                <a:solidFill>
                  <a:srgbClr val="3FA630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grpSp>
        <p:nvGrpSpPr>
          <p:cNvPr id="17" name="Google Shape;17;p3"/>
          <p:cNvGrpSpPr/>
          <p:nvPr/>
        </p:nvGrpSpPr>
        <p:grpSpPr>
          <a:xfrm>
            <a:off x="0" y="0"/>
            <a:ext cx="9144002" cy="756302"/>
            <a:chOff x="0" y="0"/>
            <a:chExt cx="9144002" cy="756302"/>
          </a:xfrm>
        </p:grpSpPr>
        <p:sp>
          <p:nvSpPr>
            <p:cNvPr id="18" name="Google Shape;18;p3"/>
            <p:cNvSpPr/>
            <p:nvPr/>
          </p:nvSpPr>
          <p:spPr>
            <a:xfrm>
              <a:off x="0" y="0"/>
              <a:ext cx="9144000" cy="756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9" name="Google Shape;19;p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0" y="620239"/>
              <a:ext cx="9144002" cy="1360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" name="Google Shape;20;p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052000" y="142798"/>
              <a:ext cx="1969150" cy="34076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oogle Shape;22;p4"/>
          <p:cNvGrpSpPr/>
          <p:nvPr/>
        </p:nvGrpSpPr>
        <p:grpSpPr>
          <a:xfrm>
            <a:off x="0" y="0"/>
            <a:ext cx="9144002" cy="756302"/>
            <a:chOff x="0" y="0"/>
            <a:chExt cx="9144002" cy="756302"/>
          </a:xfrm>
        </p:grpSpPr>
        <p:sp>
          <p:nvSpPr>
            <p:cNvPr id="23" name="Google Shape;23;p4"/>
            <p:cNvSpPr/>
            <p:nvPr/>
          </p:nvSpPr>
          <p:spPr>
            <a:xfrm>
              <a:off x="0" y="0"/>
              <a:ext cx="9144000" cy="756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4" name="Google Shape;24;p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0" y="620239"/>
              <a:ext cx="9144002" cy="1360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" name="Google Shape;25;p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052000" y="142798"/>
              <a:ext cx="1969150" cy="34076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" name="Google Shape;26;p4"/>
          <p:cNvSpPr txBox="1">
            <a:spLocks noGrp="1"/>
          </p:cNvSpPr>
          <p:nvPr>
            <p:ph type="body" idx="1"/>
          </p:nvPr>
        </p:nvSpPr>
        <p:spPr>
          <a:xfrm>
            <a:off x="311700" y="1210133"/>
            <a:ext cx="8520600" cy="541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marL="914400" lvl="1" indent="-355600">
              <a:spcBef>
                <a:spcPts val="1600"/>
              </a:spcBef>
              <a:spcAft>
                <a:spcPts val="0"/>
              </a:spcAft>
              <a:buSzPts val="2000"/>
              <a:buChar char="○"/>
              <a:defRPr sz="2000"/>
            </a:lvl2pPr>
            <a:lvl3pPr marL="1371600" lvl="2" indent="-355600">
              <a:spcBef>
                <a:spcPts val="1600"/>
              </a:spcBef>
              <a:spcAft>
                <a:spcPts val="0"/>
              </a:spcAft>
              <a:buSzPts val="2000"/>
              <a:buChar char="■"/>
              <a:defRPr sz="2000"/>
            </a:lvl3pPr>
            <a:lvl4pPr marL="1828800" lvl="3" indent="-342900">
              <a:spcBef>
                <a:spcPts val="160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30200"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1600"/>
              </a:spcBef>
              <a:spcAft>
                <a:spcPts val="16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62100" y="-37200"/>
            <a:ext cx="6978300" cy="70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oogle Shape;30;p5"/>
          <p:cNvGrpSpPr/>
          <p:nvPr/>
        </p:nvGrpSpPr>
        <p:grpSpPr>
          <a:xfrm>
            <a:off x="0" y="0"/>
            <a:ext cx="9144002" cy="756302"/>
            <a:chOff x="0" y="0"/>
            <a:chExt cx="9144002" cy="756302"/>
          </a:xfrm>
        </p:grpSpPr>
        <p:sp>
          <p:nvSpPr>
            <p:cNvPr id="31" name="Google Shape;31;p5"/>
            <p:cNvSpPr/>
            <p:nvPr/>
          </p:nvSpPr>
          <p:spPr>
            <a:xfrm>
              <a:off x="0" y="0"/>
              <a:ext cx="9144000" cy="756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2" name="Google Shape;32;p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0" y="620239"/>
              <a:ext cx="9144002" cy="1360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" name="Google Shape;33;p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052000" y="142798"/>
              <a:ext cx="1969150" cy="34076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4" name="Google Shape;34;p5"/>
          <p:cNvSpPr txBox="1">
            <a:spLocks noGrp="1"/>
          </p:cNvSpPr>
          <p:nvPr>
            <p:ph type="body" idx="1"/>
          </p:nvPr>
        </p:nvSpPr>
        <p:spPr>
          <a:xfrm>
            <a:off x="311700" y="1225433"/>
            <a:ext cx="3999900" cy="532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marL="914400" lvl="1" indent="-355600">
              <a:spcBef>
                <a:spcPts val="1600"/>
              </a:spcBef>
              <a:spcAft>
                <a:spcPts val="0"/>
              </a:spcAft>
              <a:buSzPts val="2000"/>
              <a:buChar char="○"/>
              <a:defRPr sz="2000"/>
            </a:lvl2pPr>
            <a:lvl3pPr marL="1371600" lvl="2" indent="-355600">
              <a:spcBef>
                <a:spcPts val="1600"/>
              </a:spcBef>
              <a:spcAft>
                <a:spcPts val="0"/>
              </a:spcAft>
              <a:buSzPts val="2000"/>
              <a:buChar char="■"/>
              <a:defRPr sz="2000"/>
            </a:lvl3pPr>
            <a:lvl4pPr marL="1828800" lvl="3" indent="-342900">
              <a:spcBef>
                <a:spcPts val="160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30200"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1600"/>
              </a:spcBef>
              <a:spcAft>
                <a:spcPts val="16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2"/>
          </p:nvPr>
        </p:nvSpPr>
        <p:spPr>
          <a:xfrm>
            <a:off x="4832400" y="1225267"/>
            <a:ext cx="3999900" cy="532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marL="914400" lvl="1" indent="-355600">
              <a:spcBef>
                <a:spcPts val="1600"/>
              </a:spcBef>
              <a:spcAft>
                <a:spcPts val="0"/>
              </a:spcAft>
              <a:buSzPts val="2000"/>
              <a:buChar char="○"/>
              <a:defRPr sz="2000"/>
            </a:lvl2pPr>
            <a:lvl3pPr marL="1371600" lvl="2" indent="-355600">
              <a:spcBef>
                <a:spcPts val="1600"/>
              </a:spcBef>
              <a:spcAft>
                <a:spcPts val="0"/>
              </a:spcAft>
              <a:buSzPts val="2000"/>
              <a:buChar char="■"/>
              <a:defRPr sz="2000"/>
            </a:lvl3pPr>
            <a:lvl4pPr marL="1828800" lvl="3" indent="-342900">
              <a:spcBef>
                <a:spcPts val="160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30200"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1600"/>
              </a:spcBef>
              <a:spcAft>
                <a:spcPts val="16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title"/>
          </p:nvPr>
        </p:nvSpPr>
        <p:spPr>
          <a:xfrm>
            <a:off x="62100" y="-37200"/>
            <a:ext cx="6978300" cy="70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oogle Shape;39;p6"/>
          <p:cNvGrpSpPr/>
          <p:nvPr/>
        </p:nvGrpSpPr>
        <p:grpSpPr>
          <a:xfrm>
            <a:off x="0" y="0"/>
            <a:ext cx="9144002" cy="756302"/>
            <a:chOff x="0" y="0"/>
            <a:chExt cx="9144002" cy="756302"/>
          </a:xfrm>
        </p:grpSpPr>
        <p:sp>
          <p:nvSpPr>
            <p:cNvPr id="40" name="Google Shape;40;p6"/>
            <p:cNvSpPr/>
            <p:nvPr/>
          </p:nvSpPr>
          <p:spPr>
            <a:xfrm>
              <a:off x="0" y="0"/>
              <a:ext cx="9144000" cy="756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41" name="Google Shape;41;p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0" y="620239"/>
              <a:ext cx="9144002" cy="1360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" name="Google Shape;42;p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052000" y="142798"/>
              <a:ext cx="1969150" cy="34076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3" name="Google Shape;43;p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title"/>
          </p:nvPr>
        </p:nvSpPr>
        <p:spPr>
          <a:xfrm>
            <a:off x="0" y="0"/>
            <a:ext cx="68070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title" idx="2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3FA630"/>
              </a:buClr>
              <a:buSzPts val="3600"/>
              <a:buNone/>
              <a:defRPr sz="3600" b="1">
                <a:solidFill>
                  <a:srgbClr val="3FA630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acío con título">
  <p:cSld name="ONE_COLUMN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oogle Shape;47;p7"/>
          <p:cNvGrpSpPr/>
          <p:nvPr/>
        </p:nvGrpSpPr>
        <p:grpSpPr>
          <a:xfrm>
            <a:off x="0" y="0"/>
            <a:ext cx="9144002" cy="756302"/>
            <a:chOff x="0" y="0"/>
            <a:chExt cx="9144002" cy="756302"/>
          </a:xfrm>
        </p:grpSpPr>
        <p:sp>
          <p:nvSpPr>
            <p:cNvPr id="48" name="Google Shape;48;p7"/>
            <p:cNvSpPr/>
            <p:nvPr/>
          </p:nvSpPr>
          <p:spPr>
            <a:xfrm>
              <a:off x="0" y="0"/>
              <a:ext cx="9144000" cy="756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49" name="Google Shape;49;p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0" y="620239"/>
              <a:ext cx="9144002" cy="1360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" name="Google Shape;50;p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052000" y="142798"/>
              <a:ext cx="1969150" cy="34076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62100" y="-37200"/>
            <a:ext cx="6978300" cy="70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title"/>
          </p:nvPr>
        </p:nvSpPr>
        <p:spPr>
          <a:xfrm>
            <a:off x="490250" y="1270633"/>
            <a:ext cx="7712100" cy="478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3FA630"/>
              </a:buClr>
              <a:buSzPts val="4800"/>
              <a:buNone/>
              <a:defRPr sz="4800" b="1">
                <a:solidFill>
                  <a:srgbClr val="3FA63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grpSp>
        <p:nvGrpSpPr>
          <p:cNvPr id="56" name="Google Shape;56;p8"/>
          <p:cNvGrpSpPr/>
          <p:nvPr/>
        </p:nvGrpSpPr>
        <p:grpSpPr>
          <a:xfrm>
            <a:off x="0" y="0"/>
            <a:ext cx="9144002" cy="756302"/>
            <a:chOff x="0" y="0"/>
            <a:chExt cx="9144002" cy="756302"/>
          </a:xfrm>
        </p:grpSpPr>
        <p:sp>
          <p:nvSpPr>
            <p:cNvPr id="57" name="Google Shape;57;p8"/>
            <p:cNvSpPr/>
            <p:nvPr/>
          </p:nvSpPr>
          <p:spPr>
            <a:xfrm>
              <a:off x="0" y="0"/>
              <a:ext cx="9144000" cy="756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58" name="Google Shape;58;p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0" y="620239"/>
              <a:ext cx="9144002" cy="1360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9" name="Google Shape;59;p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052000" y="142798"/>
              <a:ext cx="1969150" cy="34076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"/>
          <p:cNvSpPr/>
          <p:nvPr/>
        </p:nvSpPr>
        <p:spPr>
          <a:xfrm>
            <a:off x="4572000" y="756301"/>
            <a:ext cx="4572000" cy="6101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3FA630"/>
              </a:buClr>
              <a:buSzPts val="4200"/>
              <a:buNone/>
              <a:defRPr sz="4200" b="1">
                <a:solidFill>
                  <a:srgbClr val="3FA630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ubTitle" idx="1"/>
          </p:nvPr>
        </p:nvSpPr>
        <p:spPr>
          <a:xfrm>
            <a:off x="265500" y="3737433"/>
            <a:ext cx="4045200" cy="241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body" idx="2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marL="914400" lvl="1" indent="-355600">
              <a:spcBef>
                <a:spcPts val="1600"/>
              </a:spcBef>
              <a:spcAft>
                <a:spcPts val="0"/>
              </a:spcAft>
              <a:buSzPts val="2000"/>
              <a:buChar char="○"/>
              <a:defRPr sz="2000"/>
            </a:lvl2pPr>
            <a:lvl3pPr marL="1371600" lvl="2" indent="-355600">
              <a:spcBef>
                <a:spcPts val="1600"/>
              </a:spcBef>
              <a:spcAft>
                <a:spcPts val="0"/>
              </a:spcAft>
              <a:buSzPts val="2000"/>
              <a:buChar char="■"/>
              <a:defRPr sz="2000"/>
            </a:lvl3pPr>
            <a:lvl4pPr marL="1828800" lvl="3" indent="-330200"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1600"/>
              </a:spcBef>
              <a:spcAft>
                <a:spcPts val="16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grpSp>
        <p:nvGrpSpPr>
          <p:cNvPr id="66" name="Google Shape;66;p9"/>
          <p:cNvGrpSpPr/>
          <p:nvPr/>
        </p:nvGrpSpPr>
        <p:grpSpPr>
          <a:xfrm>
            <a:off x="0" y="0"/>
            <a:ext cx="9144002" cy="756302"/>
            <a:chOff x="0" y="0"/>
            <a:chExt cx="9144002" cy="756302"/>
          </a:xfrm>
        </p:grpSpPr>
        <p:sp>
          <p:nvSpPr>
            <p:cNvPr id="67" name="Google Shape;67;p9"/>
            <p:cNvSpPr/>
            <p:nvPr/>
          </p:nvSpPr>
          <p:spPr>
            <a:xfrm>
              <a:off x="0" y="0"/>
              <a:ext cx="9144000" cy="756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68" name="Google Shape;68;p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0" y="620239"/>
              <a:ext cx="9144002" cy="1360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9" name="Google Shape;69;p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052000" y="142798"/>
              <a:ext cx="1969150" cy="34076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grpSp>
        <p:nvGrpSpPr>
          <p:cNvPr id="72" name="Google Shape;72;p10"/>
          <p:cNvGrpSpPr/>
          <p:nvPr/>
        </p:nvGrpSpPr>
        <p:grpSpPr>
          <a:xfrm>
            <a:off x="0" y="0"/>
            <a:ext cx="9144002" cy="756302"/>
            <a:chOff x="0" y="0"/>
            <a:chExt cx="9144002" cy="756302"/>
          </a:xfrm>
        </p:grpSpPr>
        <p:sp>
          <p:nvSpPr>
            <p:cNvPr id="73" name="Google Shape;73;p10"/>
            <p:cNvSpPr/>
            <p:nvPr/>
          </p:nvSpPr>
          <p:spPr>
            <a:xfrm>
              <a:off x="0" y="0"/>
              <a:ext cx="9144000" cy="756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74" name="Google Shape;74;p10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0" y="620239"/>
              <a:ext cx="9144002" cy="1360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5" name="Google Shape;75;p1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052000" y="142798"/>
              <a:ext cx="1969150" cy="34076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título 1">
  <p:cSld name="TITLE_ONLY_1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1"/>
          <p:cNvSpPr txBox="1">
            <a:spLocks noGrp="1"/>
          </p:cNvSpPr>
          <p:nvPr>
            <p:ph type="title"/>
          </p:nvPr>
        </p:nvSpPr>
        <p:spPr>
          <a:xfrm>
            <a:off x="311700" y="14061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grpSp>
        <p:nvGrpSpPr>
          <p:cNvPr id="79" name="Google Shape;79;p11"/>
          <p:cNvGrpSpPr/>
          <p:nvPr/>
        </p:nvGrpSpPr>
        <p:grpSpPr>
          <a:xfrm>
            <a:off x="0" y="0"/>
            <a:ext cx="9144002" cy="756302"/>
            <a:chOff x="0" y="0"/>
            <a:chExt cx="9144002" cy="756302"/>
          </a:xfrm>
        </p:grpSpPr>
        <p:sp>
          <p:nvSpPr>
            <p:cNvPr id="80" name="Google Shape;80;p11"/>
            <p:cNvSpPr/>
            <p:nvPr/>
          </p:nvSpPr>
          <p:spPr>
            <a:xfrm>
              <a:off x="0" y="0"/>
              <a:ext cx="9144000" cy="756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81" name="Google Shape;81;p11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0" y="620239"/>
              <a:ext cx="9144002" cy="1360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2" name="Google Shape;82;p1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052000" y="142798"/>
              <a:ext cx="1969150" cy="34076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NAHUR" type="title">
  <p:cSld name="TITLE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>
            <a:spLocks noGrp="1"/>
          </p:cNvSpPr>
          <p:nvPr>
            <p:ph type="ctrTitle"/>
          </p:nvPr>
        </p:nvSpPr>
        <p:spPr>
          <a:xfrm>
            <a:off x="311700" y="2741350"/>
            <a:ext cx="8520600" cy="222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1"/>
          </p:nvPr>
        </p:nvSpPr>
        <p:spPr>
          <a:xfrm>
            <a:off x="311700" y="5261233"/>
            <a:ext cx="8520600" cy="66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047000" y="626700"/>
            <a:ext cx="5378523" cy="137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>
            <a:spLocks noGrp="1"/>
          </p:cNvSpPr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3FA630"/>
              </a:buClr>
              <a:buSzPts val="3600"/>
              <a:buNone/>
              <a:defRPr sz="3600" b="1">
                <a:solidFill>
                  <a:srgbClr val="3FA630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9pPr>
          </a:lstStyle>
          <a:p>
            <a:endParaRPr/>
          </a:p>
        </p:txBody>
      </p:sp>
      <p:sp>
        <p:nvSpPr>
          <p:cNvPr id="94" name="Google Shape;94;p1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grpSp>
        <p:nvGrpSpPr>
          <p:cNvPr id="95" name="Google Shape;95;p14"/>
          <p:cNvGrpSpPr/>
          <p:nvPr/>
        </p:nvGrpSpPr>
        <p:grpSpPr>
          <a:xfrm>
            <a:off x="0" y="0"/>
            <a:ext cx="9144002" cy="756302"/>
            <a:chOff x="0" y="0"/>
            <a:chExt cx="9144002" cy="756302"/>
          </a:xfrm>
        </p:grpSpPr>
        <p:sp>
          <p:nvSpPr>
            <p:cNvPr id="96" name="Google Shape;96;p14"/>
            <p:cNvSpPr/>
            <p:nvPr/>
          </p:nvSpPr>
          <p:spPr>
            <a:xfrm>
              <a:off x="0" y="0"/>
              <a:ext cx="9144000" cy="756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7" name="Google Shape;97;p1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0" y="620239"/>
              <a:ext cx="9144002" cy="1360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8" name="Google Shape;98;p1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052000" y="142798"/>
              <a:ext cx="1969150" cy="34076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5"/>
          <p:cNvGrpSpPr/>
          <p:nvPr/>
        </p:nvGrpSpPr>
        <p:grpSpPr>
          <a:xfrm>
            <a:off x="0" y="0"/>
            <a:ext cx="9144002" cy="756302"/>
            <a:chOff x="0" y="0"/>
            <a:chExt cx="9144002" cy="756302"/>
          </a:xfrm>
        </p:grpSpPr>
        <p:sp>
          <p:nvSpPr>
            <p:cNvPr id="101" name="Google Shape;101;p15"/>
            <p:cNvSpPr/>
            <p:nvPr/>
          </p:nvSpPr>
          <p:spPr>
            <a:xfrm>
              <a:off x="0" y="0"/>
              <a:ext cx="9144000" cy="756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02" name="Google Shape;102;p1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0" y="620239"/>
              <a:ext cx="9144002" cy="1360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3" name="Google Shape;103;p1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052000" y="142798"/>
              <a:ext cx="1969150" cy="34076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4" name="Google Shape;104;p15"/>
          <p:cNvSpPr txBox="1">
            <a:spLocks noGrp="1"/>
          </p:cNvSpPr>
          <p:nvPr>
            <p:ph type="body" idx="1"/>
          </p:nvPr>
        </p:nvSpPr>
        <p:spPr>
          <a:xfrm>
            <a:off x="311700" y="1210133"/>
            <a:ext cx="8520600" cy="541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05" name="Google Shape;105;p1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sp>
        <p:nvSpPr>
          <p:cNvPr id="106" name="Google Shape;106;p15"/>
          <p:cNvSpPr txBox="1">
            <a:spLocks noGrp="1"/>
          </p:cNvSpPr>
          <p:nvPr>
            <p:ph type="title"/>
          </p:nvPr>
        </p:nvSpPr>
        <p:spPr>
          <a:xfrm>
            <a:off x="62100" y="-37200"/>
            <a:ext cx="6978300" cy="70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16"/>
          <p:cNvGrpSpPr/>
          <p:nvPr/>
        </p:nvGrpSpPr>
        <p:grpSpPr>
          <a:xfrm>
            <a:off x="0" y="0"/>
            <a:ext cx="9144002" cy="756302"/>
            <a:chOff x="0" y="0"/>
            <a:chExt cx="9144002" cy="756302"/>
          </a:xfrm>
        </p:grpSpPr>
        <p:sp>
          <p:nvSpPr>
            <p:cNvPr id="109" name="Google Shape;109;p16"/>
            <p:cNvSpPr/>
            <p:nvPr/>
          </p:nvSpPr>
          <p:spPr>
            <a:xfrm>
              <a:off x="0" y="0"/>
              <a:ext cx="9144000" cy="756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10" name="Google Shape;110;p1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0" y="620239"/>
              <a:ext cx="9144002" cy="1360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1" name="Google Shape;111;p1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052000" y="142798"/>
              <a:ext cx="1969150" cy="34076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2" name="Google Shape;112;p16"/>
          <p:cNvSpPr txBox="1">
            <a:spLocks noGrp="1"/>
          </p:cNvSpPr>
          <p:nvPr>
            <p:ph type="body" idx="1"/>
          </p:nvPr>
        </p:nvSpPr>
        <p:spPr>
          <a:xfrm>
            <a:off x="311700" y="1225433"/>
            <a:ext cx="3999900" cy="532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13" name="Google Shape;113;p16"/>
          <p:cNvSpPr txBox="1">
            <a:spLocks noGrp="1"/>
          </p:cNvSpPr>
          <p:nvPr>
            <p:ph type="body" idx="2"/>
          </p:nvPr>
        </p:nvSpPr>
        <p:spPr>
          <a:xfrm>
            <a:off x="4832400" y="1225267"/>
            <a:ext cx="3999900" cy="532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14" name="Google Shape;114;p1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sp>
        <p:nvSpPr>
          <p:cNvPr id="115" name="Google Shape;115;p16"/>
          <p:cNvSpPr txBox="1">
            <a:spLocks noGrp="1"/>
          </p:cNvSpPr>
          <p:nvPr>
            <p:ph type="title"/>
          </p:nvPr>
        </p:nvSpPr>
        <p:spPr>
          <a:xfrm>
            <a:off x="62100" y="-37200"/>
            <a:ext cx="6978300" cy="70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" name="Google Shape;117;p17"/>
          <p:cNvGrpSpPr/>
          <p:nvPr/>
        </p:nvGrpSpPr>
        <p:grpSpPr>
          <a:xfrm>
            <a:off x="0" y="0"/>
            <a:ext cx="9144002" cy="756302"/>
            <a:chOff x="0" y="0"/>
            <a:chExt cx="9144002" cy="756302"/>
          </a:xfrm>
        </p:grpSpPr>
        <p:sp>
          <p:nvSpPr>
            <p:cNvPr id="118" name="Google Shape;118;p17"/>
            <p:cNvSpPr/>
            <p:nvPr/>
          </p:nvSpPr>
          <p:spPr>
            <a:xfrm>
              <a:off x="0" y="0"/>
              <a:ext cx="9144000" cy="756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19" name="Google Shape;119;p1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0" y="620239"/>
              <a:ext cx="9144002" cy="1360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0" name="Google Shape;120;p1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052000" y="142798"/>
              <a:ext cx="1969150" cy="34076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1" name="Google Shape;121;p1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sp>
        <p:nvSpPr>
          <p:cNvPr id="122" name="Google Shape;122;p17"/>
          <p:cNvSpPr txBox="1">
            <a:spLocks noGrp="1"/>
          </p:cNvSpPr>
          <p:nvPr>
            <p:ph type="title"/>
          </p:nvPr>
        </p:nvSpPr>
        <p:spPr>
          <a:xfrm>
            <a:off x="0" y="0"/>
            <a:ext cx="68070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17"/>
          <p:cNvSpPr txBox="1">
            <a:spLocks noGrp="1"/>
          </p:cNvSpPr>
          <p:nvPr>
            <p:ph type="title" idx="2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3FA630"/>
              </a:buClr>
              <a:buSzPts val="3600"/>
              <a:buNone/>
              <a:defRPr sz="3600" b="1">
                <a:solidFill>
                  <a:srgbClr val="3FA630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acío con título">
  <p:cSld name="ONE_COLUMN_TEXT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" name="Google Shape;125;p18"/>
          <p:cNvGrpSpPr/>
          <p:nvPr/>
        </p:nvGrpSpPr>
        <p:grpSpPr>
          <a:xfrm>
            <a:off x="0" y="0"/>
            <a:ext cx="9144002" cy="756302"/>
            <a:chOff x="0" y="0"/>
            <a:chExt cx="9144002" cy="756302"/>
          </a:xfrm>
        </p:grpSpPr>
        <p:sp>
          <p:nvSpPr>
            <p:cNvPr id="126" name="Google Shape;126;p18"/>
            <p:cNvSpPr/>
            <p:nvPr/>
          </p:nvSpPr>
          <p:spPr>
            <a:xfrm>
              <a:off x="0" y="0"/>
              <a:ext cx="9144000" cy="756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27" name="Google Shape;127;p1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0" y="620239"/>
              <a:ext cx="9144002" cy="1360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8" name="Google Shape;128;p1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052000" y="142798"/>
              <a:ext cx="1969150" cy="34076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9" name="Google Shape;129;p1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sp>
        <p:nvSpPr>
          <p:cNvPr id="130" name="Google Shape;130;p18"/>
          <p:cNvSpPr txBox="1">
            <a:spLocks noGrp="1"/>
          </p:cNvSpPr>
          <p:nvPr>
            <p:ph type="title"/>
          </p:nvPr>
        </p:nvSpPr>
        <p:spPr>
          <a:xfrm>
            <a:off x="62100" y="-37200"/>
            <a:ext cx="6978300" cy="70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9"/>
          <p:cNvSpPr txBox="1">
            <a:spLocks noGrp="1"/>
          </p:cNvSpPr>
          <p:nvPr>
            <p:ph type="title"/>
          </p:nvPr>
        </p:nvSpPr>
        <p:spPr>
          <a:xfrm>
            <a:off x="490250" y="1270633"/>
            <a:ext cx="7712100" cy="478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3FA630"/>
              </a:buClr>
              <a:buSzPts val="4800"/>
              <a:buNone/>
              <a:defRPr sz="4800" b="1">
                <a:solidFill>
                  <a:srgbClr val="3FA63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33" name="Google Shape;133;p1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grpSp>
        <p:nvGrpSpPr>
          <p:cNvPr id="134" name="Google Shape;134;p19"/>
          <p:cNvGrpSpPr/>
          <p:nvPr/>
        </p:nvGrpSpPr>
        <p:grpSpPr>
          <a:xfrm>
            <a:off x="0" y="0"/>
            <a:ext cx="9144002" cy="756302"/>
            <a:chOff x="0" y="0"/>
            <a:chExt cx="9144002" cy="756302"/>
          </a:xfrm>
        </p:grpSpPr>
        <p:sp>
          <p:nvSpPr>
            <p:cNvPr id="135" name="Google Shape;135;p19"/>
            <p:cNvSpPr/>
            <p:nvPr/>
          </p:nvSpPr>
          <p:spPr>
            <a:xfrm>
              <a:off x="0" y="0"/>
              <a:ext cx="9144000" cy="756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36" name="Google Shape;136;p1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0" y="620239"/>
              <a:ext cx="9144002" cy="1360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7" name="Google Shape;137;p1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052000" y="142798"/>
              <a:ext cx="1969150" cy="34076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0"/>
          <p:cNvSpPr/>
          <p:nvPr/>
        </p:nvSpPr>
        <p:spPr>
          <a:xfrm>
            <a:off x="4572000" y="756301"/>
            <a:ext cx="4572000" cy="6101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20"/>
          <p:cNvSpPr txBox="1">
            <a:spLocks noGrp="1"/>
          </p:cNvSpPr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3FA630"/>
              </a:buClr>
              <a:buSzPts val="4200"/>
              <a:buNone/>
              <a:defRPr sz="4200" b="1">
                <a:solidFill>
                  <a:srgbClr val="3FA630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41" name="Google Shape;141;p20"/>
          <p:cNvSpPr txBox="1">
            <a:spLocks noGrp="1"/>
          </p:cNvSpPr>
          <p:nvPr>
            <p:ph type="subTitle" idx="1"/>
          </p:nvPr>
        </p:nvSpPr>
        <p:spPr>
          <a:xfrm>
            <a:off x="265500" y="3737433"/>
            <a:ext cx="4045200" cy="241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42" name="Google Shape;142;p20"/>
          <p:cNvSpPr txBox="1">
            <a:spLocks noGrp="1"/>
          </p:cNvSpPr>
          <p:nvPr>
            <p:ph type="body" idx="2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43" name="Google Shape;143;p2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grpSp>
        <p:nvGrpSpPr>
          <p:cNvPr id="144" name="Google Shape;144;p20"/>
          <p:cNvGrpSpPr/>
          <p:nvPr/>
        </p:nvGrpSpPr>
        <p:grpSpPr>
          <a:xfrm>
            <a:off x="0" y="0"/>
            <a:ext cx="9144002" cy="756302"/>
            <a:chOff x="0" y="0"/>
            <a:chExt cx="9144002" cy="756302"/>
          </a:xfrm>
        </p:grpSpPr>
        <p:sp>
          <p:nvSpPr>
            <p:cNvPr id="145" name="Google Shape;145;p20"/>
            <p:cNvSpPr/>
            <p:nvPr/>
          </p:nvSpPr>
          <p:spPr>
            <a:xfrm>
              <a:off x="0" y="0"/>
              <a:ext cx="9144000" cy="756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46" name="Google Shape;146;p20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0" y="620239"/>
              <a:ext cx="9144002" cy="1360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7" name="Google Shape;147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052000" y="142798"/>
              <a:ext cx="1969150" cy="34076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grpSp>
        <p:nvGrpSpPr>
          <p:cNvPr id="150" name="Google Shape;150;p21"/>
          <p:cNvGrpSpPr/>
          <p:nvPr/>
        </p:nvGrpSpPr>
        <p:grpSpPr>
          <a:xfrm>
            <a:off x="0" y="0"/>
            <a:ext cx="9144002" cy="756302"/>
            <a:chOff x="0" y="0"/>
            <a:chExt cx="9144002" cy="756302"/>
          </a:xfrm>
        </p:grpSpPr>
        <p:sp>
          <p:nvSpPr>
            <p:cNvPr id="151" name="Google Shape;151;p21"/>
            <p:cNvSpPr/>
            <p:nvPr/>
          </p:nvSpPr>
          <p:spPr>
            <a:xfrm>
              <a:off x="0" y="0"/>
              <a:ext cx="9144000" cy="756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52" name="Google Shape;152;p21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0" y="620239"/>
              <a:ext cx="9144002" cy="1360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3" name="Google Shape;153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052000" y="142798"/>
              <a:ext cx="1969150" cy="34076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título 1">
  <p:cSld name="TITLE_ONLY_1"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2"/>
          <p:cNvSpPr txBox="1">
            <a:spLocks noGrp="1"/>
          </p:cNvSpPr>
          <p:nvPr>
            <p:ph type="title"/>
          </p:nvPr>
        </p:nvSpPr>
        <p:spPr>
          <a:xfrm>
            <a:off x="311700" y="14061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2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grpSp>
        <p:nvGrpSpPr>
          <p:cNvPr id="157" name="Google Shape;157;p22"/>
          <p:cNvGrpSpPr/>
          <p:nvPr/>
        </p:nvGrpSpPr>
        <p:grpSpPr>
          <a:xfrm>
            <a:off x="0" y="0"/>
            <a:ext cx="9144002" cy="756302"/>
            <a:chOff x="0" y="0"/>
            <a:chExt cx="9144002" cy="756302"/>
          </a:xfrm>
        </p:grpSpPr>
        <p:sp>
          <p:nvSpPr>
            <p:cNvPr id="158" name="Google Shape;158;p22"/>
            <p:cNvSpPr/>
            <p:nvPr/>
          </p:nvSpPr>
          <p:spPr>
            <a:xfrm>
              <a:off x="0" y="0"/>
              <a:ext cx="9144000" cy="756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59" name="Google Shape;159;p2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0" y="620239"/>
              <a:ext cx="9144002" cy="1360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0" name="Google Shape;160;p2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052000" y="142798"/>
              <a:ext cx="1969150" cy="34076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14061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2268967"/>
            <a:ext cx="8520600" cy="43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2"/>
          <p:cNvSpPr txBox="1">
            <a:spLocks noGrp="1"/>
          </p:cNvSpPr>
          <p:nvPr>
            <p:ph type="title"/>
          </p:nvPr>
        </p:nvSpPr>
        <p:spPr>
          <a:xfrm>
            <a:off x="311700" y="14061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5" name="Google Shape;85;p12"/>
          <p:cNvSpPr txBox="1">
            <a:spLocks noGrp="1"/>
          </p:cNvSpPr>
          <p:nvPr>
            <p:ph type="body" idx="1"/>
          </p:nvPr>
        </p:nvSpPr>
        <p:spPr>
          <a:xfrm>
            <a:off x="311700" y="2268967"/>
            <a:ext cx="8520600" cy="43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6" name="Google Shape;86;p1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4.png"/><Relationship Id="rId4" Type="http://schemas.openxmlformats.org/officeDocument/2006/relationships/image" Target="../media/image16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png"/><Relationship Id="rId5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4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6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6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6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6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47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3"/>
          <p:cNvSpPr txBox="1">
            <a:spLocks noGrp="1"/>
          </p:cNvSpPr>
          <p:nvPr>
            <p:ph type="ctrTitle"/>
          </p:nvPr>
        </p:nvSpPr>
        <p:spPr>
          <a:xfrm>
            <a:off x="311700" y="2909402"/>
            <a:ext cx="8520600" cy="103919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/>
              <a:t>Programación estructurada</a:t>
            </a:r>
            <a:endParaRPr dirty="0"/>
          </a:p>
        </p:txBody>
      </p:sp>
      <p:sp>
        <p:nvSpPr>
          <p:cNvPr id="166" name="Google Shape;166;p23"/>
          <p:cNvSpPr txBox="1">
            <a:spLocks noGrp="1"/>
          </p:cNvSpPr>
          <p:nvPr>
            <p:ph type="subTitle" idx="1"/>
          </p:nvPr>
        </p:nvSpPr>
        <p:spPr>
          <a:xfrm>
            <a:off x="311700" y="5261233"/>
            <a:ext cx="8520600" cy="66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s-AR" dirty="0"/>
              <a:t>| &gt;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4"/>
          <p:cNvSpPr txBox="1">
            <a:spLocks noGrp="1"/>
          </p:cNvSpPr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Introducción a Gobstones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6"/>
          <p:cNvSpPr txBox="1">
            <a:spLocks noGrp="1"/>
          </p:cNvSpPr>
          <p:nvPr>
            <p:ph type="title"/>
          </p:nvPr>
        </p:nvSpPr>
        <p:spPr>
          <a:xfrm>
            <a:off x="62100" y="-37200"/>
            <a:ext cx="6978300" cy="70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Elementos de Gobstones</a:t>
            </a:r>
            <a:endParaRPr/>
          </a:p>
        </p:txBody>
      </p:sp>
      <p:sp>
        <p:nvSpPr>
          <p:cNvPr id="187" name="Google Shape;187;p26"/>
          <p:cNvSpPr txBox="1"/>
          <p:nvPr/>
        </p:nvSpPr>
        <p:spPr>
          <a:xfrm>
            <a:off x="7449150" y="2661400"/>
            <a:ext cx="1402800" cy="5631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500"/>
              <a:t>Tablero</a:t>
            </a:r>
            <a:endParaRPr sz="2500"/>
          </a:p>
        </p:txBody>
      </p:sp>
      <p:sp>
        <p:nvSpPr>
          <p:cNvPr id="188" name="Google Shape;188;p26"/>
          <p:cNvSpPr txBox="1"/>
          <p:nvPr/>
        </p:nvSpPr>
        <p:spPr>
          <a:xfrm>
            <a:off x="517500" y="1213350"/>
            <a:ext cx="8109000" cy="1330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" sz="2400"/>
              <a:t>Máquina (</a:t>
            </a:r>
            <a:r>
              <a:rPr lang="es" sz="2400" b="1" i="1"/>
              <a:t>cabezal</a:t>
            </a:r>
            <a:r>
              <a:rPr lang="es" sz="2400"/>
              <a:t>)</a:t>
            </a:r>
            <a:endParaRPr sz="24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" sz="2400"/>
              <a:t>Manipula </a:t>
            </a:r>
            <a:r>
              <a:rPr lang="es" sz="2400" b="1" i="1"/>
              <a:t>bolitas</a:t>
            </a:r>
            <a:r>
              <a:rPr lang="es" sz="2400" b="1"/>
              <a:t> </a:t>
            </a:r>
            <a:r>
              <a:rPr lang="es" sz="2400"/>
              <a:t>sobre un </a:t>
            </a:r>
            <a:r>
              <a:rPr lang="es" sz="2400" b="1" i="1"/>
              <a:t>tablero</a:t>
            </a:r>
            <a:endParaRPr sz="2400" b="1" i="1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" sz="2400"/>
              <a:t>Solo puede acceder a una </a:t>
            </a:r>
            <a:r>
              <a:rPr lang="es" sz="2400" b="1" i="1"/>
              <a:t>celda </a:t>
            </a:r>
            <a:r>
              <a:rPr lang="es" sz="2400"/>
              <a:t>por vez</a:t>
            </a:r>
            <a:endParaRPr sz="2400" i="1"/>
          </a:p>
        </p:txBody>
      </p:sp>
      <p:pic>
        <p:nvPicPr>
          <p:cNvPr id="189" name="Google Shape;18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30316" y="3147475"/>
            <a:ext cx="3985225" cy="337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6"/>
          <p:cNvSpPr txBox="1"/>
          <p:nvPr/>
        </p:nvSpPr>
        <p:spPr>
          <a:xfrm>
            <a:off x="6928400" y="5191225"/>
            <a:ext cx="1402800" cy="5631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500"/>
              <a:t>Bolitas</a:t>
            </a:r>
            <a:endParaRPr sz="2500"/>
          </a:p>
        </p:txBody>
      </p:sp>
      <p:sp>
        <p:nvSpPr>
          <p:cNvPr id="191" name="Google Shape;191;p26"/>
          <p:cNvSpPr txBox="1"/>
          <p:nvPr/>
        </p:nvSpPr>
        <p:spPr>
          <a:xfrm>
            <a:off x="506950" y="2952763"/>
            <a:ext cx="1936200" cy="9159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500"/>
              <a:t>Posición</a:t>
            </a:r>
            <a:endParaRPr sz="25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500"/>
              <a:t>del cabezal</a:t>
            </a:r>
            <a:endParaRPr sz="2500"/>
          </a:p>
        </p:txBody>
      </p:sp>
      <p:cxnSp>
        <p:nvCxnSpPr>
          <p:cNvPr id="192" name="Google Shape;192;p26"/>
          <p:cNvCxnSpPr>
            <a:stCxn id="191" idx="3"/>
          </p:cNvCxnSpPr>
          <p:nvPr/>
        </p:nvCxnSpPr>
        <p:spPr>
          <a:xfrm>
            <a:off x="2443150" y="3410713"/>
            <a:ext cx="1036500" cy="12816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3" name="Google Shape;193;p26"/>
          <p:cNvCxnSpPr/>
          <p:nvPr/>
        </p:nvCxnSpPr>
        <p:spPr>
          <a:xfrm flipH="1">
            <a:off x="6640050" y="2913388"/>
            <a:ext cx="809100" cy="3414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4" name="Google Shape;194;p26"/>
          <p:cNvCxnSpPr>
            <a:stCxn id="190" idx="1"/>
          </p:cNvCxnSpPr>
          <p:nvPr/>
        </p:nvCxnSpPr>
        <p:spPr>
          <a:xfrm rot="10800000">
            <a:off x="5370800" y="4750075"/>
            <a:ext cx="1557600" cy="7227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5" name="Google Shape;195;p26"/>
          <p:cNvCxnSpPr>
            <a:stCxn id="190" idx="1"/>
          </p:cNvCxnSpPr>
          <p:nvPr/>
        </p:nvCxnSpPr>
        <p:spPr>
          <a:xfrm flipH="1">
            <a:off x="5428700" y="5472775"/>
            <a:ext cx="1499700" cy="3312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96" name="Google Shape;196;p26"/>
          <p:cNvSpPr txBox="1"/>
          <p:nvPr/>
        </p:nvSpPr>
        <p:spPr>
          <a:xfrm>
            <a:off x="915825" y="5180425"/>
            <a:ext cx="1402800" cy="9159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500" b="1" i="1"/>
              <a:t>Celda actual</a:t>
            </a:r>
            <a:endParaRPr sz="2500" b="1" i="1"/>
          </a:p>
        </p:txBody>
      </p:sp>
      <p:cxnSp>
        <p:nvCxnSpPr>
          <p:cNvPr id="197" name="Google Shape;197;p26"/>
          <p:cNvCxnSpPr/>
          <p:nvPr/>
        </p:nvCxnSpPr>
        <p:spPr>
          <a:xfrm rot="10800000" flipH="1">
            <a:off x="2318625" y="5284375"/>
            <a:ext cx="886500" cy="3540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98" name="Google Shape;198;p26"/>
          <p:cNvSpPr txBox="1"/>
          <p:nvPr/>
        </p:nvSpPr>
        <p:spPr>
          <a:xfrm>
            <a:off x="7449150" y="3840575"/>
            <a:ext cx="1036500" cy="5631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500"/>
              <a:t>Celda</a:t>
            </a:r>
            <a:endParaRPr sz="2500"/>
          </a:p>
        </p:txBody>
      </p:sp>
      <p:cxnSp>
        <p:nvCxnSpPr>
          <p:cNvPr id="199" name="Google Shape;199;p26"/>
          <p:cNvCxnSpPr>
            <a:stCxn id="198" idx="1"/>
          </p:cNvCxnSpPr>
          <p:nvPr/>
        </p:nvCxnSpPr>
        <p:spPr>
          <a:xfrm rot="10800000">
            <a:off x="6596550" y="4068425"/>
            <a:ext cx="852600" cy="537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7"/>
          <p:cNvSpPr txBox="1">
            <a:spLocks noGrp="1"/>
          </p:cNvSpPr>
          <p:nvPr>
            <p:ph type="title"/>
          </p:nvPr>
        </p:nvSpPr>
        <p:spPr>
          <a:xfrm>
            <a:off x="62100" y="-37200"/>
            <a:ext cx="6978300" cy="70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Elementos de Gobstones</a:t>
            </a:r>
            <a:endParaRPr/>
          </a:p>
        </p:txBody>
      </p:sp>
      <p:sp>
        <p:nvSpPr>
          <p:cNvPr id="205" name="Google Shape;205;p27"/>
          <p:cNvSpPr txBox="1"/>
          <p:nvPr/>
        </p:nvSpPr>
        <p:spPr>
          <a:xfrm>
            <a:off x="517500" y="1213350"/>
            <a:ext cx="8109000" cy="27384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" sz="2400"/>
              <a:t>El </a:t>
            </a:r>
            <a:r>
              <a:rPr lang="es" sz="2400" i="1"/>
              <a:t>cabezal</a:t>
            </a:r>
            <a:r>
              <a:rPr lang="es" sz="2400"/>
              <a:t> </a:t>
            </a:r>
            <a:endParaRPr sz="2400"/>
          </a:p>
          <a:p>
            <a:pPr marL="91440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s" sz="2400"/>
              <a:t>realiza </a:t>
            </a:r>
            <a:r>
              <a:rPr lang="es" sz="2400" b="1" i="1"/>
              <a:t>acciones </a:t>
            </a:r>
            <a:r>
              <a:rPr lang="es" sz="2400"/>
              <a:t>al recibir instrucciones </a:t>
            </a:r>
            <a:endParaRPr sz="2400"/>
          </a:p>
          <a:p>
            <a:pPr marL="91440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s" sz="2400"/>
              <a:t>brinda </a:t>
            </a:r>
            <a:r>
              <a:rPr lang="es" sz="2400" b="1" i="1"/>
              <a:t>información</a:t>
            </a:r>
            <a:r>
              <a:rPr lang="es" sz="2400"/>
              <a:t> al responder preguntas </a:t>
            </a:r>
            <a:endParaRPr sz="2400"/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" sz="2400"/>
              <a:t>Se utilizan textos (o bloques) para manejar al cabezal</a:t>
            </a:r>
            <a:endParaRPr sz="2400"/>
          </a:p>
          <a:p>
            <a:pPr marL="91440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s" sz="2400"/>
              <a:t>Los </a:t>
            </a:r>
            <a:r>
              <a:rPr lang="es" sz="2400" b="1" i="1"/>
              <a:t>comandos </a:t>
            </a:r>
            <a:r>
              <a:rPr lang="es" sz="2400"/>
              <a:t>son descripciones de </a:t>
            </a:r>
            <a:r>
              <a:rPr lang="es" sz="2400" i="1"/>
              <a:t>acciones</a:t>
            </a:r>
            <a:endParaRPr sz="2400" i="1"/>
          </a:p>
          <a:p>
            <a:pPr marL="91440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s" sz="2400"/>
              <a:t>Las </a:t>
            </a:r>
            <a:r>
              <a:rPr lang="es" sz="2400" b="1" i="1"/>
              <a:t>expresiones</a:t>
            </a:r>
            <a:r>
              <a:rPr lang="es" sz="2400"/>
              <a:t> son descripciones de </a:t>
            </a:r>
            <a:r>
              <a:rPr lang="es" sz="2400" i="1"/>
              <a:t>información</a:t>
            </a:r>
            <a:endParaRPr sz="2400" i="1"/>
          </a:p>
        </p:txBody>
      </p:sp>
      <p:sp>
        <p:nvSpPr>
          <p:cNvPr id="206" name="Google Shape;206;p27"/>
          <p:cNvSpPr txBox="1"/>
          <p:nvPr/>
        </p:nvSpPr>
        <p:spPr>
          <a:xfrm>
            <a:off x="751575" y="4150500"/>
            <a:ext cx="1733100" cy="5631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500"/>
              <a:t>Comandos</a:t>
            </a:r>
            <a:endParaRPr sz="2500"/>
          </a:p>
        </p:txBody>
      </p:sp>
      <p:cxnSp>
        <p:nvCxnSpPr>
          <p:cNvPr id="207" name="Google Shape;207;p27"/>
          <p:cNvCxnSpPr>
            <a:stCxn id="206" idx="2"/>
            <a:endCxn id="208" idx="0"/>
          </p:cNvCxnSpPr>
          <p:nvPr/>
        </p:nvCxnSpPr>
        <p:spPr>
          <a:xfrm>
            <a:off x="1618125" y="4713600"/>
            <a:ext cx="117900" cy="10398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9" name="Google Shape;209;p27"/>
          <p:cNvCxnSpPr>
            <a:stCxn id="206" idx="2"/>
            <a:endCxn id="210" idx="1"/>
          </p:cNvCxnSpPr>
          <p:nvPr/>
        </p:nvCxnSpPr>
        <p:spPr>
          <a:xfrm>
            <a:off x="1618125" y="4713600"/>
            <a:ext cx="866700" cy="6567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11" name="Google Shape;211;p27"/>
          <p:cNvSpPr txBox="1"/>
          <p:nvPr/>
        </p:nvSpPr>
        <p:spPr>
          <a:xfrm>
            <a:off x="6338975" y="5804425"/>
            <a:ext cx="2053500" cy="5631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500"/>
              <a:t>Expresiones</a:t>
            </a:r>
            <a:endParaRPr sz="2500"/>
          </a:p>
        </p:txBody>
      </p:sp>
      <p:cxnSp>
        <p:nvCxnSpPr>
          <p:cNvPr id="212" name="Google Shape;212;p27"/>
          <p:cNvCxnSpPr>
            <a:stCxn id="211" idx="0"/>
            <a:endCxn id="213" idx="2"/>
          </p:cNvCxnSpPr>
          <p:nvPr/>
        </p:nvCxnSpPr>
        <p:spPr>
          <a:xfrm rot="10800000">
            <a:off x="5667125" y="4674925"/>
            <a:ext cx="1698600" cy="11295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4" name="Google Shape;214;p27"/>
          <p:cNvCxnSpPr>
            <a:stCxn id="211" idx="0"/>
            <a:endCxn id="215" idx="2"/>
          </p:cNvCxnSpPr>
          <p:nvPr/>
        </p:nvCxnSpPr>
        <p:spPr>
          <a:xfrm rot="10800000" flipH="1">
            <a:off x="7365725" y="5144725"/>
            <a:ext cx="398700" cy="6597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213" name="Google Shape;21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14700" y="4141588"/>
            <a:ext cx="190500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21525" y="4611375"/>
            <a:ext cx="188595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84675" y="5037650"/>
            <a:ext cx="1481307" cy="66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87375" y="5753275"/>
            <a:ext cx="1497150" cy="66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84525" y="5026843"/>
            <a:ext cx="1497150" cy="6718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70575" y="5734818"/>
            <a:ext cx="1530762" cy="70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666350" y="4082184"/>
            <a:ext cx="2053500" cy="607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7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804177" y="4547036"/>
            <a:ext cx="2165579" cy="60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8"/>
          <p:cNvSpPr txBox="1">
            <a:spLocks noGrp="1"/>
          </p:cNvSpPr>
          <p:nvPr>
            <p:ph type="title"/>
          </p:nvPr>
        </p:nvSpPr>
        <p:spPr>
          <a:xfrm>
            <a:off x="62100" y="-37200"/>
            <a:ext cx="6978300" cy="70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Programas</a:t>
            </a:r>
            <a:endParaRPr/>
          </a:p>
        </p:txBody>
      </p:sp>
      <p:sp>
        <p:nvSpPr>
          <p:cNvPr id="225" name="Google Shape;225;p28"/>
          <p:cNvSpPr txBox="1"/>
          <p:nvPr/>
        </p:nvSpPr>
        <p:spPr>
          <a:xfrm>
            <a:off x="517500" y="1213350"/>
            <a:ext cx="8109000" cy="23238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" sz="2400"/>
              <a:t>Un </a:t>
            </a:r>
            <a:r>
              <a:rPr lang="es" sz="2400" b="1" i="1"/>
              <a:t>programa</a:t>
            </a:r>
            <a:endParaRPr sz="2400" b="1" i="1"/>
          </a:p>
          <a:p>
            <a:pPr marL="91440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s" sz="2400"/>
              <a:t>es un </a:t>
            </a:r>
            <a:r>
              <a:rPr lang="es" sz="2400" b="1" i="1"/>
              <a:t>texto</a:t>
            </a:r>
            <a:r>
              <a:rPr lang="es" sz="2400"/>
              <a:t> que combina comandos y expresiones </a:t>
            </a:r>
            <a:endParaRPr sz="2400"/>
          </a:p>
          <a:p>
            <a:pPr marL="91440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s" sz="2400" b="1" i="1"/>
              <a:t>describe</a:t>
            </a:r>
            <a:r>
              <a:rPr lang="es" sz="2400"/>
              <a:t> la solución a un problema</a:t>
            </a:r>
            <a:endParaRPr sz="2400"/>
          </a:p>
          <a:p>
            <a:pPr marL="91440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s" sz="2400"/>
              <a:t>puede ser </a:t>
            </a:r>
            <a:r>
              <a:rPr lang="es" sz="2400" b="1" i="1"/>
              <a:t>ejecutado </a:t>
            </a:r>
            <a:r>
              <a:rPr lang="es" sz="2400"/>
              <a:t>por la máquina </a:t>
            </a:r>
            <a:br>
              <a:rPr lang="es" sz="2400"/>
            </a:br>
            <a:r>
              <a:rPr lang="es" sz="2400"/>
              <a:t>para obtener la solución propuesta</a:t>
            </a:r>
            <a:endParaRPr sz="2400"/>
          </a:p>
        </p:txBody>
      </p:sp>
      <p:sp>
        <p:nvSpPr>
          <p:cNvPr id="226" name="Google Shape;226;p28"/>
          <p:cNvSpPr txBox="1"/>
          <p:nvPr/>
        </p:nvSpPr>
        <p:spPr>
          <a:xfrm>
            <a:off x="3084925" y="3775950"/>
            <a:ext cx="1733100" cy="5631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500"/>
              <a:t>Programa</a:t>
            </a:r>
            <a:endParaRPr sz="2500"/>
          </a:p>
        </p:txBody>
      </p:sp>
      <p:sp>
        <p:nvSpPr>
          <p:cNvPr id="227" name="Google Shape;227;p28"/>
          <p:cNvSpPr txBox="1"/>
          <p:nvPr/>
        </p:nvSpPr>
        <p:spPr>
          <a:xfrm>
            <a:off x="3703025" y="4755450"/>
            <a:ext cx="1630200" cy="10557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/>
              <a:t>¿Qué solución describe? </a:t>
            </a:r>
            <a:endParaRPr sz="1800"/>
          </a:p>
        </p:txBody>
      </p:sp>
      <p:pic>
        <p:nvPicPr>
          <p:cNvPr id="228" name="Google Shape;22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6225" y="3748150"/>
            <a:ext cx="2461800" cy="3043593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8"/>
          <p:cNvSpPr txBox="1"/>
          <p:nvPr/>
        </p:nvSpPr>
        <p:spPr>
          <a:xfrm>
            <a:off x="3991263" y="6020650"/>
            <a:ext cx="1733100" cy="5631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500"/>
              <a:t>Ejecutar</a:t>
            </a:r>
            <a:endParaRPr sz="2500"/>
          </a:p>
        </p:txBody>
      </p:sp>
      <p:cxnSp>
        <p:nvCxnSpPr>
          <p:cNvPr id="230" name="Google Shape;230;p28"/>
          <p:cNvCxnSpPr>
            <a:stCxn id="229" idx="3"/>
          </p:cNvCxnSpPr>
          <p:nvPr/>
        </p:nvCxnSpPr>
        <p:spPr>
          <a:xfrm>
            <a:off x="5724363" y="6302200"/>
            <a:ext cx="2476500" cy="1476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231" name="Google Shape;231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7494" y="4085400"/>
            <a:ext cx="2247044" cy="216020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2" name="Google Shape;232;p28"/>
          <p:cNvCxnSpPr>
            <a:stCxn id="226" idx="1"/>
          </p:cNvCxnSpPr>
          <p:nvPr/>
        </p:nvCxnSpPr>
        <p:spPr>
          <a:xfrm flipH="1">
            <a:off x="1307125" y="4057500"/>
            <a:ext cx="1777800" cy="2766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9"/>
          <p:cNvSpPr txBox="1">
            <a:spLocks noGrp="1"/>
          </p:cNvSpPr>
          <p:nvPr>
            <p:ph type="title"/>
          </p:nvPr>
        </p:nvSpPr>
        <p:spPr>
          <a:xfrm>
            <a:off x="62100" y="-37200"/>
            <a:ext cx="6978300" cy="70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Programar es comunicar</a:t>
            </a:r>
            <a:endParaRPr/>
          </a:p>
        </p:txBody>
      </p:sp>
      <p:pic>
        <p:nvPicPr>
          <p:cNvPr id="238" name="Google Shape;238;p29" descr="computer_programmer.jpg"/>
          <p:cNvPicPr preferRelativeResize="0"/>
          <p:nvPr/>
        </p:nvPicPr>
        <p:blipFill rotWithShape="1">
          <a:blip r:embed="rId3">
            <a:alphaModFix/>
          </a:blip>
          <a:srcRect l="57585" t="6944" b="39844"/>
          <a:stretch/>
        </p:blipFill>
        <p:spPr>
          <a:xfrm>
            <a:off x="627206" y="4202438"/>
            <a:ext cx="1733100" cy="1826038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9"/>
          <p:cNvSpPr txBox="1"/>
          <p:nvPr/>
        </p:nvSpPr>
        <p:spPr>
          <a:xfrm>
            <a:off x="517500" y="1213350"/>
            <a:ext cx="8109000" cy="18261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" sz="2400" b="1" i="1"/>
              <a:t>Programar </a:t>
            </a:r>
            <a:r>
              <a:rPr lang="es" sz="2400"/>
              <a:t>es </a:t>
            </a:r>
            <a:r>
              <a:rPr lang="es" sz="2400" b="1" i="1"/>
              <a:t>describir </a:t>
            </a:r>
            <a:r>
              <a:rPr lang="es" sz="2400"/>
              <a:t>la solución de un problema de forma </a:t>
            </a:r>
            <a:r>
              <a:rPr lang="es" sz="2400" i="1"/>
              <a:t>metódica </a:t>
            </a:r>
            <a:r>
              <a:rPr lang="es" sz="2400"/>
              <a:t>de manera que</a:t>
            </a:r>
            <a:endParaRPr sz="2400"/>
          </a:p>
          <a:p>
            <a:pPr marL="91440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s" sz="2400"/>
              <a:t>una máquina pueda </a:t>
            </a:r>
            <a:r>
              <a:rPr lang="es" sz="2400" b="1" i="1"/>
              <a:t>ejecutar </a:t>
            </a:r>
            <a:r>
              <a:rPr lang="es" sz="2400"/>
              <a:t>la solución</a:t>
            </a:r>
            <a:endParaRPr sz="2400"/>
          </a:p>
          <a:p>
            <a:pPr marL="91440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s" sz="2400"/>
              <a:t>las personas puedan </a:t>
            </a:r>
            <a:r>
              <a:rPr lang="es" sz="2400" b="1" i="1"/>
              <a:t>entender</a:t>
            </a:r>
            <a:r>
              <a:rPr lang="es" sz="2400"/>
              <a:t> la solución</a:t>
            </a:r>
            <a:endParaRPr sz="2400"/>
          </a:p>
        </p:txBody>
      </p:sp>
      <p:sp>
        <p:nvSpPr>
          <p:cNvPr id="240" name="Google Shape;240;p29"/>
          <p:cNvSpPr txBox="1"/>
          <p:nvPr/>
        </p:nvSpPr>
        <p:spPr>
          <a:xfrm>
            <a:off x="5827625" y="5790725"/>
            <a:ext cx="1733100" cy="5631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500"/>
              <a:t>entiende</a:t>
            </a:r>
            <a:endParaRPr sz="2500"/>
          </a:p>
        </p:txBody>
      </p:sp>
      <p:cxnSp>
        <p:nvCxnSpPr>
          <p:cNvPr id="241" name="Google Shape;241;p29"/>
          <p:cNvCxnSpPr>
            <a:stCxn id="242" idx="3"/>
            <a:endCxn id="243" idx="3"/>
          </p:cNvCxnSpPr>
          <p:nvPr/>
        </p:nvCxnSpPr>
        <p:spPr>
          <a:xfrm flipH="1">
            <a:off x="5703550" y="4501602"/>
            <a:ext cx="961200" cy="3261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44" name="Google Shape;244;p29"/>
          <p:cNvSpPr txBox="1"/>
          <p:nvPr/>
        </p:nvSpPr>
        <p:spPr>
          <a:xfrm>
            <a:off x="1266688" y="3678300"/>
            <a:ext cx="1733100" cy="5631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500"/>
              <a:t>ejecuta</a:t>
            </a:r>
            <a:endParaRPr sz="2500"/>
          </a:p>
        </p:txBody>
      </p:sp>
      <p:cxnSp>
        <p:nvCxnSpPr>
          <p:cNvPr id="245" name="Google Shape;245;p29"/>
          <p:cNvCxnSpPr>
            <a:stCxn id="238" idx="3"/>
            <a:endCxn id="243" idx="1"/>
          </p:cNvCxnSpPr>
          <p:nvPr/>
        </p:nvCxnSpPr>
        <p:spPr>
          <a:xfrm rot="10800000" flipH="1">
            <a:off x="2360306" y="4827756"/>
            <a:ext cx="1096200" cy="2877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242" name="Google Shape;242;p29" descr="images"/>
          <p:cNvPicPr preferRelativeResize="0"/>
          <p:nvPr/>
        </p:nvPicPr>
        <p:blipFill rotWithShape="1">
          <a:blip r:embed="rId4">
            <a:alphaModFix/>
          </a:blip>
          <a:srcRect b="11606"/>
          <a:stretch/>
        </p:blipFill>
        <p:spPr>
          <a:xfrm flipH="1">
            <a:off x="6664750" y="3353353"/>
            <a:ext cx="1839150" cy="22964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56444" y="3747525"/>
            <a:ext cx="2247044" cy="21602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9050" y="4771700"/>
            <a:ext cx="1838175" cy="82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9050" y="4771702"/>
            <a:ext cx="1838175" cy="8248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96925" y="4397313"/>
            <a:ext cx="190500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979075" y="4360197"/>
            <a:ext cx="2053500" cy="607665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30"/>
          <p:cNvSpPr txBox="1">
            <a:spLocks noGrp="1"/>
          </p:cNvSpPr>
          <p:nvPr>
            <p:ph type="title"/>
          </p:nvPr>
        </p:nvSpPr>
        <p:spPr>
          <a:xfrm>
            <a:off x="62100" y="-37200"/>
            <a:ext cx="6978300" cy="70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Programar es comunicar</a:t>
            </a:r>
            <a:endParaRPr/>
          </a:p>
        </p:txBody>
      </p:sp>
      <p:sp>
        <p:nvSpPr>
          <p:cNvPr id="255" name="Google Shape;255;p30"/>
          <p:cNvSpPr txBox="1"/>
          <p:nvPr/>
        </p:nvSpPr>
        <p:spPr>
          <a:xfrm>
            <a:off x="517500" y="1213350"/>
            <a:ext cx="8109000" cy="23961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es" sz="2400"/>
              <a:t>Necesitamos </a:t>
            </a:r>
            <a:r>
              <a:rPr lang="es" sz="2400" b="1" i="1"/>
              <a:t>reglas </a:t>
            </a:r>
            <a:r>
              <a:rPr lang="es" sz="2400"/>
              <a:t>para construir programas tal que</a:t>
            </a:r>
            <a:endParaRPr sz="2400"/>
          </a:p>
          <a:p>
            <a:pPr marL="914400" marR="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s" sz="2400"/>
              <a:t>la máquina pueda leerlos y ejecutarlos</a:t>
            </a:r>
            <a:endParaRPr sz="2400"/>
          </a:p>
          <a:p>
            <a:pPr marL="914400" marR="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s" sz="2400"/>
              <a:t>las personas puedan leerlos y entenderlos</a:t>
            </a:r>
            <a:endParaRPr sz="2400"/>
          </a:p>
          <a:p>
            <a: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" sz="2400" b="1" i="1"/>
              <a:t>Lenguaje de programación</a:t>
            </a:r>
            <a:endParaRPr sz="2400" b="1" i="1"/>
          </a:p>
          <a:p>
            <a:pPr marL="914400" marR="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s" sz="2400"/>
              <a:t>Establece esas reglas para una máquina dada</a:t>
            </a:r>
            <a:endParaRPr sz="2400"/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pic>
        <p:nvPicPr>
          <p:cNvPr id="256" name="Google Shape;256;p3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457828" y="4142850"/>
            <a:ext cx="2419348" cy="209336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7" name="Google Shape;257;p30"/>
          <p:cNvCxnSpPr/>
          <p:nvPr/>
        </p:nvCxnSpPr>
        <p:spPr>
          <a:xfrm rot="10800000" flipH="1">
            <a:off x="2164925" y="4446100"/>
            <a:ext cx="973500" cy="4068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58" name="Google Shape;258;p30"/>
          <p:cNvCxnSpPr/>
          <p:nvPr/>
        </p:nvCxnSpPr>
        <p:spPr>
          <a:xfrm rot="10800000" flipH="1">
            <a:off x="2201075" y="4954700"/>
            <a:ext cx="2695500" cy="4824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2"/>
          <p:cNvSpPr txBox="1">
            <a:spLocks noGrp="1"/>
          </p:cNvSpPr>
          <p:nvPr>
            <p:ph type="title"/>
          </p:nvPr>
        </p:nvSpPr>
        <p:spPr>
          <a:xfrm>
            <a:off x="311700" y="2867800"/>
            <a:ext cx="8520600" cy="211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800"/>
              <a:t>Programar:</a:t>
            </a:r>
            <a:endParaRPr sz="48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45818E"/>
                </a:solidFill>
              </a:rPr>
              <a:t>Comunicar la descripción de la solución a un problema que puede ser ejecutado en una computadora.</a:t>
            </a:r>
            <a:endParaRPr>
              <a:solidFill>
                <a:srgbClr val="45818E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3"/>
          <p:cNvSpPr txBox="1">
            <a:spLocks noGrp="1"/>
          </p:cNvSpPr>
          <p:nvPr>
            <p:ph type="title"/>
          </p:nvPr>
        </p:nvSpPr>
        <p:spPr>
          <a:xfrm>
            <a:off x="62100" y="-37200"/>
            <a:ext cx="6978300" cy="70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Programar como transformar estados</a:t>
            </a:r>
            <a:endParaRPr/>
          </a:p>
        </p:txBody>
      </p:sp>
      <p:sp>
        <p:nvSpPr>
          <p:cNvPr id="280" name="Google Shape;280;p33"/>
          <p:cNvSpPr txBox="1"/>
          <p:nvPr/>
        </p:nvSpPr>
        <p:spPr>
          <a:xfrm>
            <a:off x="517500" y="1137150"/>
            <a:ext cx="8109000" cy="22506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" sz="2400"/>
              <a:t>¿Qué tipo de problemas podemos resolver?</a:t>
            </a:r>
            <a:endParaRPr sz="2400"/>
          </a:p>
          <a:p>
            <a:pPr marL="91440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s" sz="2400"/>
              <a:t>transformaciones de </a:t>
            </a:r>
            <a:r>
              <a:rPr lang="es" sz="2400" b="1" i="1"/>
              <a:t>estado</a:t>
            </a:r>
            <a:endParaRPr sz="2400" b="1" i="1"/>
          </a:p>
          <a:p>
            <a:pPr marL="91440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s" sz="2400"/>
              <a:t>transformaciones de </a:t>
            </a:r>
            <a:r>
              <a:rPr lang="es" sz="2400" b="1" i="1"/>
              <a:t>información</a:t>
            </a:r>
            <a:endParaRPr sz="2400" b="1" i="1"/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" sz="2400"/>
              <a:t>En Gobstones, se transforma </a:t>
            </a:r>
            <a:br>
              <a:rPr lang="es" sz="2400"/>
            </a:br>
            <a:r>
              <a:rPr lang="es" sz="2400"/>
              <a:t>un </a:t>
            </a:r>
            <a:r>
              <a:rPr lang="es" sz="2400" b="1" i="1"/>
              <a:t>tablero inicial </a:t>
            </a:r>
            <a:r>
              <a:rPr lang="es" sz="2400"/>
              <a:t>en un </a:t>
            </a:r>
            <a:r>
              <a:rPr lang="es" sz="2400" b="1" i="1"/>
              <a:t>tablero final</a:t>
            </a:r>
            <a:endParaRPr sz="2400" b="1" i="1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81" name="Google Shape;281;p33"/>
          <p:cNvGrpSpPr/>
          <p:nvPr/>
        </p:nvGrpSpPr>
        <p:grpSpPr>
          <a:xfrm>
            <a:off x="593720" y="4105596"/>
            <a:ext cx="7893544" cy="2637954"/>
            <a:chOff x="517499" y="3822499"/>
            <a:chExt cx="8051350" cy="2845076"/>
          </a:xfrm>
        </p:grpSpPr>
        <p:cxnSp>
          <p:nvCxnSpPr>
            <p:cNvPr id="282" name="Google Shape;282;p33"/>
            <p:cNvCxnSpPr>
              <a:stCxn id="283" idx="3"/>
              <a:endCxn id="284" idx="1"/>
            </p:cNvCxnSpPr>
            <p:nvPr/>
          </p:nvCxnSpPr>
          <p:spPr>
            <a:xfrm rot="10800000" flipH="1">
              <a:off x="5330094" y="5244956"/>
              <a:ext cx="799500" cy="22800"/>
            </a:xfrm>
            <a:prstGeom prst="straightConnector1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pic>
          <p:nvPicPr>
            <p:cNvPr id="284" name="Google Shape;284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29500" y="3822510"/>
              <a:ext cx="2439350" cy="28450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5" name="Google Shape;285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17499" y="3822499"/>
              <a:ext cx="2439350" cy="2845076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86" name="Google Shape;286;p33"/>
            <p:cNvCxnSpPr>
              <a:stCxn id="285" idx="3"/>
              <a:endCxn id="283" idx="1"/>
            </p:cNvCxnSpPr>
            <p:nvPr/>
          </p:nvCxnSpPr>
          <p:spPr>
            <a:xfrm>
              <a:off x="2956849" y="5245037"/>
              <a:ext cx="863700" cy="22800"/>
            </a:xfrm>
            <a:prstGeom prst="straightConnector1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287" name="Google Shape;287;p33"/>
          <p:cNvSpPr txBox="1"/>
          <p:nvPr/>
        </p:nvSpPr>
        <p:spPr>
          <a:xfrm>
            <a:off x="472225" y="3492150"/>
            <a:ext cx="2529900" cy="5232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500"/>
              <a:t>Tablero inicial</a:t>
            </a:r>
            <a:endParaRPr sz="2500"/>
          </a:p>
        </p:txBody>
      </p:sp>
      <p:sp>
        <p:nvSpPr>
          <p:cNvPr id="288" name="Google Shape;288;p33"/>
          <p:cNvSpPr txBox="1"/>
          <p:nvPr/>
        </p:nvSpPr>
        <p:spPr>
          <a:xfrm>
            <a:off x="6084225" y="3485100"/>
            <a:ext cx="2529900" cy="5232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500"/>
              <a:t>Tablero final</a:t>
            </a:r>
            <a:endParaRPr sz="2500"/>
          </a:p>
        </p:txBody>
      </p:sp>
      <p:grpSp>
        <p:nvGrpSpPr>
          <p:cNvPr id="289" name="Google Shape;289;p33"/>
          <p:cNvGrpSpPr/>
          <p:nvPr/>
        </p:nvGrpSpPr>
        <p:grpSpPr>
          <a:xfrm>
            <a:off x="417252" y="3753750"/>
            <a:ext cx="945948" cy="677450"/>
            <a:chOff x="417252" y="3729925"/>
            <a:chExt cx="945948" cy="677450"/>
          </a:xfrm>
        </p:grpSpPr>
        <p:sp>
          <p:nvSpPr>
            <p:cNvPr id="290" name="Google Shape;290;p33"/>
            <p:cNvSpPr/>
            <p:nvPr/>
          </p:nvSpPr>
          <p:spPr>
            <a:xfrm>
              <a:off x="517500" y="4010475"/>
              <a:ext cx="845700" cy="396900"/>
            </a:xfrm>
            <a:prstGeom prst="ellipse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91" name="Google Shape;291;p33"/>
            <p:cNvCxnSpPr>
              <a:stCxn id="287" idx="1"/>
              <a:endCxn id="290" idx="2"/>
            </p:cNvCxnSpPr>
            <p:nvPr/>
          </p:nvCxnSpPr>
          <p:spPr>
            <a:xfrm>
              <a:off x="472225" y="3729925"/>
              <a:ext cx="45300" cy="479100"/>
            </a:xfrm>
            <a:prstGeom prst="curvedConnector3">
              <a:avLst>
                <a:gd name="adj1" fmla="val -525662"/>
              </a:avLst>
            </a:pr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92" name="Google Shape;292;p33"/>
            <p:cNvSpPr/>
            <p:nvPr/>
          </p:nvSpPr>
          <p:spPr>
            <a:xfrm rot="-1106097">
              <a:off x="427507" y="4153591"/>
              <a:ext cx="79689" cy="77507"/>
            </a:xfrm>
            <a:prstGeom prst="triangle">
              <a:avLst>
                <a:gd name="adj" fmla="val 50000"/>
              </a:avLst>
            </a:prstGeom>
            <a:solidFill>
              <a:srgbClr val="FF0000"/>
            </a:solidFill>
            <a:ln w="952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3" name="Google Shape;293;p33"/>
          <p:cNvGrpSpPr/>
          <p:nvPr/>
        </p:nvGrpSpPr>
        <p:grpSpPr>
          <a:xfrm flipH="1">
            <a:off x="7711052" y="3746700"/>
            <a:ext cx="945948" cy="684488"/>
            <a:chOff x="417252" y="3722888"/>
            <a:chExt cx="945948" cy="684488"/>
          </a:xfrm>
        </p:grpSpPr>
        <p:sp>
          <p:nvSpPr>
            <p:cNvPr id="294" name="Google Shape;294;p33"/>
            <p:cNvSpPr/>
            <p:nvPr/>
          </p:nvSpPr>
          <p:spPr>
            <a:xfrm>
              <a:off x="517500" y="4010475"/>
              <a:ext cx="845700" cy="396900"/>
            </a:xfrm>
            <a:prstGeom prst="ellipse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95" name="Google Shape;295;p33"/>
            <p:cNvCxnSpPr>
              <a:stCxn id="288" idx="3"/>
              <a:endCxn id="294" idx="2"/>
            </p:cNvCxnSpPr>
            <p:nvPr/>
          </p:nvCxnSpPr>
          <p:spPr>
            <a:xfrm>
              <a:off x="460127" y="3722888"/>
              <a:ext cx="57300" cy="486000"/>
            </a:xfrm>
            <a:prstGeom prst="curvedConnector3">
              <a:avLst>
                <a:gd name="adj1" fmla="val -415576"/>
              </a:avLst>
            </a:pr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96" name="Google Shape;296;p33"/>
            <p:cNvSpPr/>
            <p:nvPr/>
          </p:nvSpPr>
          <p:spPr>
            <a:xfrm rot="-1106097">
              <a:off x="427507" y="4153591"/>
              <a:ext cx="79689" cy="77507"/>
            </a:xfrm>
            <a:prstGeom prst="triangle">
              <a:avLst>
                <a:gd name="adj" fmla="val 50000"/>
              </a:avLst>
            </a:prstGeom>
            <a:solidFill>
              <a:srgbClr val="FF0000"/>
            </a:solidFill>
            <a:ln w="952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83" name="Google Shape;283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32013" y="4734250"/>
            <a:ext cx="1479975" cy="142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5"/>
          <p:cNvSpPr txBox="1">
            <a:spLocks noGrp="1"/>
          </p:cNvSpPr>
          <p:nvPr>
            <p:ph type="title"/>
          </p:nvPr>
        </p:nvSpPr>
        <p:spPr>
          <a:xfrm>
            <a:off x="62100" y="-37200"/>
            <a:ext cx="6978300" cy="70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Programar como transformar estados</a:t>
            </a:r>
            <a:endParaRPr/>
          </a:p>
        </p:txBody>
      </p:sp>
      <p:sp>
        <p:nvSpPr>
          <p:cNvPr id="312" name="Google Shape;312;p35"/>
          <p:cNvSpPr txBox="1"/>
          <p:nvPr/>
        </p:nvSpPr>
        <p:spPr>
          <a:xfrm>
            <a:off x="517500" y="1060950"/>
            <a:ext cx="8109000" cy="22506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es" sz="2400"/>
              <a:t>En distintas ejecuciones el tablero inicial puede </a:t>
            </a:r>
            <a:endParaRPr sz="2400"/>
          </a:p>
          <a:p>
            <a:pPr marL="914400" marR="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s" sz="2400"/>
              <a:t>ser uno de varios posibles (quizás solo uno)</a:t>
            </a:r>
            <a:endParaRPr sz="2400"/>
          </a:p>
          <a:p>
            <a:pPr marL="914400" marR="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s" sz="2400"/>
              <a:t>ser cualquiera</a:t>
            </a:r>
            <a:endParaRPr sz="2400"/>
          </a:p>
          <a:p>
            <a: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" sz="2400"/>
              <a:t>El </a:t>
            </a:r>
            <a:r>
              <a:rPr lang="es" sz="2400" b="1"/>
              <a:t>mismo programa </a:t>
            </a:r>
            <a:r>
              <a:rPr lang="es" sz="2400"/>
              <a:t>debe funcionar en </a:t>
            </a:r>
            <a:r>
              <a:rPr lang="es" sz="2400" b="1"/>
              <a:t>todos </a:t>
            </a:r>
            <a:r>
              <a:rPr lang="es" sz="2400"/>
              <a:t>los tableros iniciales dados como posibles</a:t>
            </a:r>
            <a:endParaRPr sz="2400"/>
          </a:p>
        </p:txBody>
      </p:sp>
      <p:pic>
        <p:nvPicPr>
          <p:cNvPr id="313" name="Google Shape;313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27288" y="3452400"/>
            <a:ext cx="1943100" cy="222885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314" name="Google Shape;314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26850" y="3716488"/>
            <a:ext cx="1866900" cy="234315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315" name="Google Shape;315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69100" y="3414300"/>
            <a:ext cx="1905000" cy="221932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316" name="Google Shape;316;p3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81088" y="3806975"/>
            <a:ext cx="2047875" cy="2247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317" name="Google Shape;317;p3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702775" y="4180088"/>
            <a:ext cx="1809750" cy="229552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18" name="Google Shape;318;p35"/>
          <p:cNvSpPr txBox="1"/>
          <p:nvPr/>
        </p:nvSpPr>
        <p:spPr>
          <a:xfrm>
            <a:off x="655325" y="3398550"/>
            <a:ext cx="1272900" cy="7515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/>
              <a:t>Siempre el mismo</a:t>
            </a:r>
            <a:endParaRPr sz="1800"/>
          </a:p>
        </p:txBody>
      </p:sp>
      <p:pic>
        <p:nvPicPr>
          <p:cNvPr id="319" name="Google Shape;319;p3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22288" y="4490975"/>
            <a:ext cx="2105025" cy="22098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20" name="Google Shape;320;p35"/>
          <p:cNvSpPr txBox="1"/>
          <p:nvPr/>
        </p:nvSpPr>
        <p:spPr>
          <a:xfrm>
            <a:off x="6569100" y="5633625"/>
            <a:ext cx="1370400" cy="7515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/>
              <a:t>Diferentes posibles</a:t>
            </a:r>
            <a:endParaRPr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6"/>
          <p:cNvSpPr txBox="1">
            <a:spLocks noGrp="1"/>
          </p:cNvSpPr>
          <p:nvPr>
            <p:ph type="title"/>
          </p:nvPr>
        </p:nvSpPr>
        <p:spPr>
          <a:xfrm>
            <a:off x="62100" y="-37200"/>
            <a:ext cx="6978300" cy="70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Programar como transformar estados</a:t>
            </a:r>
            <a:endParaRPr/>
          </a:p>
        </p:txBody>
      </p:sp>
      <p:sp>
        <p:nvSpPr>
          <p:cNvPr id="326" name="Google Shape;326;p36"/>
          <p:cNvSpPr txBox="1"/>
          <p:nvPr/>
        </p:nvSpPr>
        <p:spPr>
          <a:xfrm>
            <a:off x="517500" y="1137150"/>
            <a:ext cx="8109000" cy="27900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" sz="2400"/>
              <a:t>¿Cómo indicar cuáles tableros son los posibles?</a:t>
            </a:r>
            <a:endParaRPr sz="2400"/>
          </a:p>
          <a:p>
            <a:pPr marL="91440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s" sz="2400"/>
              <a:t>informar el </a:t>
            </a:r>
            <a:r>
              <a:rPr lang="es" sz="2400" b="1" i="1"/>
              <a:t>estado </a:t>
            </a:r>
            <a:r>
              <a:rPr lang="es" sz="2400"/>
              <a:t>de cada tablero posible</a:t>
            </a:r>
            <a:endParaRPr sz="2400" b="1" i="1"/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" sz="2400"/>
              <a:t>Estado del tablero inicial</a:t>
            </a:r>
            <a:endParaRPr sz="2400"/>
          </a:p>
          <a:p>
            <a:pPr marL="91440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s" sz="2400"/>
              <a:t>tamaño del tablero</a:t>
            </a:r>
            <a:endParaRPr sz="2400"/>
          </a:p>
          <a:p>
            <a:pPr marL="91440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s" sz="2400"/>
              <a:t>cantidad y posición de las bolitas</a:t>
            </a:r>
            <a:endParaRPr sz="2400"/>
          </a:p>
          <a:p>
            <a:pPr marL="91440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s" sz="2400"/>
              <a:t>posición del cabezal (</a:t>
            </a:r>
            <a:r>
              <a:rPr lang="es" sz="2400" b="1" i="1"/>
              <a:t>celda actual</a:t>
            </a:r>
            <a:r>
              <a:rPr lang="es" sz="2400"/>
              <a:t>)</a:t>
            </a:r>
            <a:endParaRPr sz="24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27" name="Google Shape;327;p36"/>
          <p:cNvSpPr txBox="1"/>
          <p:nvPr/>
        </p:nvSpPr>
        <p:spPr>
          <a:xfrm>
            <a:off x="3999300" y="4612875"/>
            <a:ext cx="4580700" cy="1524900"/>
          </a:xfrm>
          <a:prstGeom prst="rect">
            <a:avLst/>
          </a:prstGeom>
          <a:solidFill>
            <a:srgbClr val="D0E0E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s" sz="2500"/>
              <a:t>Ejemplo</a:t>
            </a:r>
            <a:endParaRPr sz="25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s" sz="1800"/>
              <a:t>Tablero de 6x6</a:t>
            </a:r>
            <a:endParaRPr sz="18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s" sz="1800"/>
              <a:t>Hay 1 bolita roja en 3 celdas fijas</a:t>
            </a:r>
            <a:endParaRPr sz="18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s" sz="1800"/>
              <a:t>Cabezal en la esquina SurOeste</a:t>
            </a:r>
            <a:endParaRPr sz="1800"/>
          </a:p>
        </p:txBody>
      </p:sp>
      <p:pic>
        <p:nvPicPr>
          <p:cNvPr id="328" name="Google Shape;328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1575" y="4093975"/>
            <a:ext cx="2543843" cy="2626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7"/>
          <p:cNvSpPr txBox="1">
            <a:spLocks noGrp="1"/>
          </p:cNvSpPr>
          <p:nvPr>
            <p:ph type="title"/>
          </p:nvPr>
        </p:nvSpPr>
        <p:spPr>
          <a:xfrm>
            <a:off x="62100" y="-37200"/>
            <a:ext cx="6978300" cy="70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Programar como transformar estados</a:t>
            </a:r>
            <a:endParaRPr/>
          </a:p>
        </p:txBody>
      </p:sp>
      <p:sp>
        <p:nvSpPr>
          <p:cNvPr id="334" name="Google Shape;334;p37"/>
          <p:cNvSpPr txBox="1"/>
          <p:nvPr/>
        </p:nvSpPr>
        <p:spPr>
          <a:xfrm>
            <a:off x="517500" y="1137150"/>
            <a:ext cx="8109000" cy="20367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s" sz="1800"/>
              <a:t>En los proyectos predefinidos, los tableros iniciales vienen dados, y usualmente no podemos cambiarlos</a:t>
            </a:r>
            <a:endParaRPr sz="1800"/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 sz="1800"/>
              <a:t>Pero para ejercicios sueltos o para probar nuestras ideas, debemos</a:t>
            </a:r>
            <a:r>
              <a:rPr lang="es" sz="1800" b="1"/>
              <a:t> construir nuestros propios tableros</a:t>
            </a:r>
            <a:endParaRPr sz="1800" b="1"/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 sz="1800"/>
              <a:t>En un </a:t>
            </a:r>
            <a:r>
              <a:rPr lang="es" sz="1800" b="1"/>
              <a:t>proyecto nuevo</a:t>
            </a:r>
            <a:r>
              <a:rPr lang="es" sz="1800"/>
              <a:t>, se puede editar el tablero y guardarlo para usos futuros</a:t>
            </a:r>
            <a:endParaRPr sz="18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335" name="Google Shape;335;p37"/>
          <p:cNvGrpSpPr/>
          <p:nvPr/>
        </p:nvGrpSpPr>
        <p:grpSpPr>
          <a:xfrm>
            <a:off x="517498" y="3609449"/>
            <a:ext cx="4324431" cy="2177229"/>
            <a:chOff x="517500" y="3447675"/>
            <a:chExt cx="5739125" cy="2799575"/>
          </a:xfrm>
        </p:grpSpPr>
        <p:pic>
          <p:nvPicPr>
            <p:cNvPr id="336" name="Google Shape;336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17500" y="3447675"/>
              <a:ext cx="5739125" cy="2799575"/>
            </a:xfrm>
            <a:prstGeom prst="rect">
              <a:avLst/>
            </a:prstGeom>
            <a:noFill/>
            <a:ln w="9525" cap="flat" cmpd="sng">
              <a:solidFill>
                <a:srgbClr val="434343"/>
              </a:solidFill>
              <a:prstDash val="solid"/>
              <a:round/>
              <a:headEnd type="none" w="sm" len="sm"/>
              <a:tailEnd type="none" w="sm" len="sm"/>
            </a:ln>
          </p:spPr>
        </p:pic>
        <p:sp>
          <p:nvSpPr>
            <p:cNvPr id="337" name="Google Shape;337;p37"/>
            <p:cNvSpPr/>
            <p:nvPr/>
          </p:nvSpPr>
          <p:spPr>
            <a:xfrm>
              <a:off x="517500" y="4418000"/>
              <a:ext cx="2096400" cy="707400"/>
            </a:xfrm>
            <a:prstGeom prst="ellipse">
              <a:avLst/>
            </a:prstGeom>
            <a:noFill/>
            <a:ln w="952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8" name="Google Shape;338;p37"/>
          <p:cNvGrpSpPr/>
          <p:nvPr/>
        </p:nvGrpSpPr>
        <p:grpSpPr>
          <a:xfrm>
            <a:off x="3668386" y="3260985"/>
            <a:ext cx="4958119" cy="3389180"/>
            <a:chOff x="4455725" y="4036250"/>
            <a:chExt cx="4245329" cy="2626050"/>
          </a:xfrm>
        </p:grpSpPr>
        <p:pic>
          <p:nvPicPr>
            <p:cNvPr id="339" name="Google Shape;339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455725" y="4036250"/>
              <a:ext cx="4170785" cy="2626050"/>
            </a:xfrm>
            <a:prstGeom prst="rect">
              <a:avLst/>
            </a:prstGeom>
            <a:noFill/>
            <a:ln w="9525" cap="flat" cmpd="sng">
              <a:solidFill>
                <a:srgbClr val="434343"/>
              </a:solidFill>
              <a:prstDash val="solid"/>
              <a:round/>
              <a:headEnd type="none" w="sm" len="sm"/>
              <a:tailEnd type="none" w="sm" len="sm"/>
            </a:ln>
          </p:spPr>
        </p:pic>
        <p:pic>
          <p:nvPicPr>
            <p:cNvPr id="340" name="Google Shape;340;p3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676144" y="5120775"/>
              <a:ext cx="2916500" cy="457000"/>
            </a:xfrm>
            <a:prstGeom prst="rect">
              <a:avLst/>
            </a:prstGeom>
            <a:noFill/>
            <a:ln w="9525" cap="flat" cmpd="sng">
              <a:solidFill>
                <a:srgbClr val="434343"/>
              </a:solidFill>
              <a:prstDash val="solid"/>
              <a:round/>
              <a:headEnd type="none" w="sm" len="sm"/>
              <a:tailEnd type="none" w="sm" len="sm"/>
            </a:ln>
          </p:spPr>
        </p:pic>
        <p:cxnSp>
          <p:nvCxnSpPr>
            <p:cNvPr id="341" name="Google Shape;341;p37"/>
            <p:cNvCxnSpPr/>
            <p:nvPr/>
          </p:nvCxnSpPr>
          <p:spPr>
            <a:xfrm>
              <a:off x="8525575" y="4667050"/>
              <a:ext cx="89400" cy="478200"/>
            </a:xfrm>
            <a:prstGeom prst="straightConnector1">
              <a:avLst/>
            </a:prstGeom>
            <a:noFill/>
            <a:ln w="9525" cap="flat" cmpd="sng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342" name="Google Shape;342;p37"/>
            <p:cNvCxnSpPr/>
            <p:nvPr/>
          </p:nvCxnSpPr>
          <p:spPr>
            <a:xfrm rot="10800000" flipH="1">
              <a:off x="5694799" y="4641507"/>
              <a:ext cx="2704200" cy="484500"/>
            </a:xfrm>
            <a:prstGeom prst="straightConnector1">
              <a:avLst/>
            </a:prstGeom>
            <a:noFill/>
            <a:ln w="9525" cap="flat" cmpd="sng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sp>
          <p:nvSpPr>
            <p:cNvPr id="343" name="Google Shape;343;p37"/>
            <p:cNvSpPr/>
            <p:nvPr/>
          </p:nvSpPr>
          <p:spPr>
            <a:xfrm>
              <a:off x="4501054" y="4306253"/>
              <a:ext cx="4200000" cy="617100"/>
            </a:xfrm>
            <a:prstGeom prst="ellipse">
              <a:avLst/>
            </a:prstGeom>
            <a:noFill/>
            <a:ln w="952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8"/>
          <p:cNvSpPr txBox="1">
            <a:spLocks noGrp="1"/>
          </p:cNvSpPr>
          <p:nvPr>
            <p:ph type="title"/>
          </p:nvPr>
        </p:nvSpPr>
        <p:spPr>
          <a:xfrm>
            <a:off x="62100" y="-37200"/>
            <a:ext cx="6978300" cy="70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600"/>
              <a:t>Aprender a programar es un viaje personal</a:t>
            </a:r>
            <a:endParaRPr sz="2600"/>
          </a:p>
        </p:txBody>
      </p:sp>
      <p:sp>
        <p:nvSpPr>
          <p:cNvPr id="349" name="Google Shape;349;p38"/>
          <p:cNvSpPr txBox="1"/>
          <p:nvPr/>
        </p:nvSpPr>
        <p:spPr>
          <a:xfrm>
            <a:off x="517500" y="1137150"/>
            <a:ext cx="8109000" cy="36576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" sz="2400"/>
              <a:t>Usualmente existen </a:t>
            </a:r>
            <a:r>
              <a:rPr lang="es" sz="2400" b="1"/>
              <a:t>INFINITOS programas equivalentes </a:t>
            </a:r>
            <a:r>
              <a:rPr lang="es" sz="2400"/>
              <a:t>para resolver un mismo problema.</a:t>
            </a:r>
            <a:endParaRPr sz="2400"/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" sz="2400"/>
              <a:t>A medida que los programas se vuelven complejos, las soluciones de diferentes personas son muy distintas.</a:t>
            </a:r>
            <a:endParaRPr sz="2400"/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" sz="2400"/>
              <a:t>Por eso es importante </a:t>
            </a:r>
            <a:r>
              <a:rPr lang="es" sz="2400" b="1"/>
              <a:t>NO COMPARTIR</a:t>
            </a:r>
            <a:r>
              <a:rPr lang="es" sz="2400"/>
              <a:t> código al </a:t>
            </a:r>
            <a:r>
              <a:rPr lang="es" sz="2400" i="1"/>
              <a:t>empezar a</a:t>
            </a:r>
            <a:r>
              <a:rPr lang="es" sz="2400"/>
              <a:t> aprender a programar</a:t>
            </a:r>
            <a:endParaRPr sz="2400"/>
          </a:p>
          <a:p>
            <a:pPr marL="91440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s" sz="2400"/>
              <a:t>Cada une debe buscar expresar </a:t>
            </a:r>
            <a:r>
              <a:rPr lang="es" sz="2400" b="1"/>
              <a:t>SUS</a:t>
            </a:r>
            <a:r>
              <a:rPr lang="es" sz="2400"/>
              <a:t> ideas</a:t>
            </a:r>
            <a:endParaRPr sz="2400"/>
          </a:p>
          <a:p>
            <a:pPr marL="91440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s" sz="2400"/>
              <a:t>(Cuando ya sabés programar, podés compartir)</a:t>
            </a:r>
            <a:endParaRPr sz="24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pic>
        <p:nvPicPr>
          <p:cNvPr id="350" name="Google Shape;350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55413" y="4867150"/>
            <a:ext cx="1836575" cy="191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9"/>
          <p:cNvSpPr txBox="1">
            <a:spLocks noGrp="1"/>
          </p:cNvSpPr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Programar en texto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41"/>
          <p:cNvSpPr/>
          <p:nvPr/>
        </p:nvSpPr>
        <p:spPr>
          <a:xfrm>
            <a:off x="5779425" y="4369050"/>
            <a:ext cx="2529900" cy="22578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A64D79"/>
                </a:solidFill>
                <a:latin typeface="Consolas"/>
                <a:ea typeface="Consolas"/>
                <a:cs typeface="Consolas"/>
                <a:sym typeface="Consolas"/>
              </a:rPr>
              <a:t>program </a:t>
            </a:r>
            <a:r>
              <a:rPr lang="es" sz="2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20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Poner</a:t>
            </a:r>
            <a:r>
              <a:rPr lang="es" sz="2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" sz="2000">
                <a:solidFill>
                  <a:srgbClr val="76A5AF"/>
                </a:solidFill>
                <a:latin typeface="Consolas"/>
                <a:ea typeface="Consolas"/>
                <a:cs typeface="Consolas"/>
                <a:sym typeface="Consolas"/>
              </a:rPr>
              <a:t>Rojo</a:t>
            </a:r>
            <a:r>
              <a:rPr lang="es" sz="2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20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Poner</a:t>
            </a:r>
            <a:r>
              <a:rPr lang="es" sz="2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" sz="2000">
                <a:solidFill>
                  <a:srgbClr val="76A5AF"/>
                </a:solidFill>
                <a:latin typeface="Consolas"/>
                <a:ea typeface="Consolas"/>
                <a:cs typeface="Consolas"/>
                <a:sym typeface="Consolas"/>
              </a:rPr>
              <a:t>Negro</a:t>
            </a:r>
            <a:r>
              <a:rPr lang="es" sz="2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20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Poner</a:t>
            </a:r>
            <a:r>
              <a:rPr lang="es" sz="2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" sz="2000">
                <a:solidFill>
                  <a:srgbClr val="76A5AF"/>
                </a:solidFill>
                <a:latin typeface="Consolas"/>
                <a:ea typeface="Consolas"/>
                <a:cs typeface="Consolas"/>
                <a:sym typeface="Consolas"/>
              </a:rPr>
              <a:t>Azul</a:t>
            </a:r>
            <a:r>
              <a:rPr lang="es" sz="2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20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0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Poner</a:t>
            </a:r>
            <a:r>
              <a:rPr lang="es" sz="2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" sz="2000">
                <a:solidFill>
                  <a:srgbClr val="76A5AF"/>
                </a:solidFill>
                <a:latin typeface="Consolas"/>
                <a:ea typeface="Consolas"/>
                <a:cs typeface="Consolas"/>
                <a:sym typeface="Consolas"/>
              </a:rPr>
              <a:t>Verde</a:t>
            </a:r>
            <a:r>
              <a:rPr lang="es" sz="2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20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000">
              <a:solidFill>
                <a:srgbClr val="A64D79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9" name="Google Shape;369;p41"/>
          <p:cNvSpPr txBox="1">
            <a:spLocks noGrp="1"/>
          </p:cNvSpPr>
          <p:nvPr>
            <p:ph type="title"/>
          </p:nvPr>
        </p:nvSpPr>
        <p:spPr>
          <a:xfrm>
            <a:off x="62100" y="-37200"/>
            <a:ext cx="6978300" cy="70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Bloques vs. Texto</a:t>
            </a:r>
            <a:endParaRPr/>
          </a:p>
        </p:txBody>
      </p:sp>
      <p:sp>
        <p:nvSpPr>
          <p:cNvPr id="370" name="Google Shape;370;p41"/>
          <p:cNvSpPr txBox="1"/>
          <p:nvPr/>
        </p:nvSpPr>
        <p:spPr>
          <a:xfrm>
            <a:off x="517500" y="1213350"/>
            <a:ext cx="8109000" cy="22158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" sz="2400"/>
              <a:t>Los bloques son una facilidad para comenzar</a:t>
            </a:r>
            <a:endParaRPr sz="2400"/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" sz="2400"/>
              <a:t>Pero para programar profesionalmente debe usarse </a:t>
            </a:r>
            <a:r>
              <a:rPr lang="es" sz="2400" b="1" i="1"/>
              <a:t>texto</a:t>
            </a:r>
            <a:endParaRPr sz="2400" b="1" i="1"/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" sz="2400"/>
              <a:t>El texto debe seguir </a:t>
            </a:r>
            <a:r>
              <a:rPr lang="es" sz="2400" b="1" i="1"/>
              <a:t>reglas precisas (sintaxis)</a:t>
            </a:r>
            <a:endParaRPr sz="2400" b="1" i="1"/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" sz="2400" i="1"/>
              <a:t>Por atrás, los bloques en realidad producen texto</a:t>
            </a:r>
            <a:endParaRPr sz="2400" i="1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1" name="Google Shape;371;p41"/>
          <p:cNvSpPr txBox="1"/>
          <p:nvPr/>
        </p:nvSpPr>
        <p:spPr>
          <a:xfrm>
            <a:off x="868925" y="3637488"/>
            <a:ext cx="2529900" cy="5232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500"/>
              <a:t>Con bloques</a:t>
            </a:r>
            <a:endParaRPr sz="2500"/>
          </a:p>
        </p:txBody>
      </p:sp>
      <p:sp>
        <p:nvSpPr>
          <p:cNvPr id="372" name="Google Shape;372;p41"/>
          <p:cNvSpPr txBox="1"/>
          <p:nvPr/>
        </p:nvSpPr>
        <p:spPr>
          <a:xfrm>
            <a:off x="5779425" y="3637500"/>
            <a:ext cx="2529900" cy="5232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500"/>
              <a:t>Con texto</a:t>
            </a:r>
            <a:endParaRPr sz="2500"/>
          </a:p>
        </p:txBody>
      </p:sp>
      <p:sp>
        <p:nvSpPr>
          <p:cNvPr id="373" name="Google Shape;373;p41"/>
          <p:cNvSpPr txBox="1"/>
          <p:nvPr/>
        </p:nvSpPr>
        <p:spPr>
          <a:xfrm>
            <a:off x="3800988" y="5177300"/>
            <a:ext cx="1664100" cy="396900"/>
          </a:xfrm>
          <a:prstGeom prst="rect">
            <a:avLst/>
          </a:prstGeom>
          <a:solidFill>
            <a:srgbClr val="FFE599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/>
              <a:t>comparar</a:t>
            </a:r>
            <a:endParaRPr sz="1800"/>
          </a:p>
        </p:txBody>
      </p:sp>
      <p:pic>
        <p:nvPicPr>
          <p:cNvPr id="374" name="Google Shape;374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1024" y="4234538"/>
            <a:ext cx="2677800" cy="25267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3"/>
          <p:cNvSpPr txBox="1">
            <a:spLocks noGrp="1"/>
          </p:cNvSpPr>
          <p:nvPr>
            <p:ph type="title"/>
          </p:nvPr>
        </p:nvSpPr>
        <p:spPr>
          <a:xfrm>
            <a:off x="62100" y="-37200"/>
            <a:ext cx="6978300" cy="70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Reglas de sintaxis</a:t>
            </a:r>
            <a:endParaRPr/>
          </a:p>
        </p:txBody>
      </p:sp>
      <p:sp>
        <p:nvSpPr>
          <p:cNvPr id="389" name="Google Shape;389;p43"/>
          <p:cNvSpPr txBox="1"/>
          <p:nvPr/>
        </p:nvSpPr>
        <p:spPr>
          <a:xfrm>
            <a:off x="517500" y="1213350"/>
            <a:ext cx="8174100" cy="26703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" sz="2400"/>
              <a:t>El programa comienza con la </a:t>
            </a:r>
            <a:r>
              <a:rPr lang="es" sz="2400" b="1" i="1"/>
              <a:t>palabra clave </a:t>
            </a:r>
            <a:r>
              <a:rPr lang="es" sz="2400" b="1">
                <a:solidFill>
                  <a:srgbClr val="A64D79"/>
                </a:solidFill>
                <a:latin typeface="Courier New"/>
                <a:ea typeface="Courier New"/>
                <a:cs typeface="Courier New"/>
                <a:sym typeface="Courier New"/>
              </a:rPr>
              <a:t>program</a:t>
            </a:r>
            <a:endParaRPr sz="2400">
              <a:solidFill>
                <a:srgbClr val="A64D79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/>
              <a:t>y sus comandos van entre llaves </a:t>
            </a:r>
            <a:r>
              <a:rPr lang="es" sz="2400" b="1">
                <a:latin typeface="Courier New"/>
                <a:ea typeface="Courier New"/>
                <a:cs typeface="Courier New"/>
                <a:sym typeface="Courier New"/>
              </a:rPr>
              <a:t>{ … }</a:t>
            </a:r>
            <a:endParaRPr sz="2400"/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" sz="2400"/>
              <a:t>Los comandos comienzan con </a:t>
            </a:r>
            <a:r>
              <a:rPr lang="es" sz="2400" b="1"/>
              <a:t>mayúscula</a:t>
            </a:r>
            <a:endParaRPr sz="2400" b="1"/>
          </a:p>
          <a:p>
            <a:pPr marL="914400" marR="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s" sz="2400"/>
              <a:t>Ej. </a:t>
            </a:r>
            <a:r>
              <a:rPr lang="es" sz="2400" b="1">
                <a:solidFill>
                  <a:srgbClr val="45818E"/>
                </a:solidFill>
                <a:latin typeface="Courier New"/>
                <a:ea typeface="Courier New"/>
                <a:cs typeface="Courier New"/>
                <a:sym typeface="Courier New"/>
              </a:rPr>
              <a:t>Poner</a:t>
            </a:r>
            <a:r>
              <a:rPr lang="es" sz="2400"/>
              <a:t>, </a:t>
            </a:r>
            <a:r>
              <a:rPr lang="es" sz="2400" b="1">
                <a:solidFill>
                  <a:srgbClr val="45818E"/>
                </a:solidFill>
                <a:latin typeface="Courier New"/>
                <a:ea typeface="Courier New"/>
                <a:cs typeface="Courier New"/>
                <a:sym typeface="Courier New"/>
              </a:rPr>
              <a:t>Mover</a:t>
            </a:r>
            <a:r>
              <a:rPr lang="es" sz="2400"/>
              <a:t>, </a:t>
            </a:r>
            <a:r>
              <a:rPr lang="es" sz="2400" b="1">
                <a:solidFill>
                  <a:srgbClr val="45818E"/>
                </a:solidFill>
                <a:latin typeface="Courier New"/>
                <a:ea typeface="Courier New"/>
                <a:cs typeface="Courier New"/>
                <a:sym typeface="Courier New"/>
              </a:rPr>
              <a:t>Sacar</a:t>
            </a:r>
            <a:r>
              <a:rPr lang="es" sz="2400"/>
              <a:t>, </a:t>
            </a:r>
            <a:r>
              <a:rPr lang="es" sz="2400" b="1">
                <a:solidFill>
                  <a:srgbClr val="45818E"/>
                </a:solidFill>
                <a:latin typeface="Courier New"/>
                <a:ea typeface="Courier New"/>
                <a:cs typeface="Courier New"/>
                <a:sym typeface="Courier New"/>
              </a:rPr>
              <a:t>IrAlBorde</a:t>
            </a:r>
            <a:endParaRPr sz="2400">
              <a:solidFill>
                <a:srgbClr val="45818E"/>
              </a:solidFill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" sz="2400"/>
              <a:t>Los valores literales también empiezan con </a:t>
            </a:r>
            <a:r>
              <a:rPr lang="es" sz="2400" b="1"/>
              <a:t>mayúscula</a:t>
            </a:r>
            <a:endParaRPr sz="2400" b="1"/>
          </a:p>
          <a:p>
            <a:pPr marL="914400" marR="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s" sz="2400"/>
              <a:t>Ej. </a:t>
            </a:r>
            <a:r>
              <a:rPr lang="es" sz="2400" b="1">
                <a:solidFill>
                  <a:srgbClr val="3C78D8"/>
                </a:solidFill>
                <a:latin typeface="Courier New"/>
                <a:ea typeface="Courier New"/>
                <a:cs typeface="Courier New"/>
                <a:sym typeface="Courier New"/>
              </a:rPr>
              <a:t>Rojo</a:t>
            </a:r>
            <a:r>
              <a:rPr lang="es" sz="2400"/>
              <a:t>, </a:t>
            </a:r>
            <a:r>
              <a:rPr lang="es" sz="2400" b="1">
                <a:solidFill>
                  <a:srgbClr val="3C78D8"/>
                </a:solidFill>
                <a:latin typeface="Courier New"/>
                <a:ea typeface="Courier New"/>
                <a:cs typeface="Courier New"/>
                <a:sym typeface="Courier New"/>
              </a:rPr>
              <a:t>Verde</a:t>
            </a:r>
            <a:r>
              <a:rPr lang="es" sz="2400"/>
              <a:t>, </a:t>
            </a:r>
            <a:r>
              <a:rPr lang="es" sz="2400" b="1">
                <a:solidFill>
                  <a:srgbClr val="3C78D8"/>
                </a:solidFill>
                <a:latin typeface="Courier New"/>
                <a:ea typeface="Courier New"/>
                <a:cs typeface="Courier New"/>
                <a:sym typeface="Courier New"/>
              </a:rPr>
              <a:t>Norte</a:t>
            </a:r>
            <a:r>
              <a:rPr lang="es" sz="2400"/>
              <a:t>, </a:t>
            </a:r>
            <a:r>
              <a:rPr lang="es" sz="2400" b="1">
                <a:solidFill>
                  <a:srgbClr val="3C78D8"/>
                </a:solidFill>
                <a:latin typeface="Courier New"/>
                <a:ea typeface="Courier New"/>
                <a:cs typeface="Courier New"/>
                <a:sym typeface="Courier New"/>
              </a:rPr>
              <a:t>Este</a:t>
            </a:r>
            <a:endParaRPr sz="2400">
              <a:solidFill>
                <a:srgbClr val="3C78D8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pic>
        <p:nvPicPr>
          <p:cNvPr id="390" name="Google Shape;390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33800" y="4013825"/>
            <a:ext cx="2972325" cy="249755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91" name="Google Shape;391;p43"/>
          <p:cNvSpPr txBox="1"/>
          <p:nvPr/>
        </p:nvSpPr>
        <p:spPr>
          <a:xfrm>
            <a:off x="411600" y="5584525"/>
            <a:ext cx="2504700" cy="10521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/>
              <a:t>Número de línea.</a:t>
            </a:r>
            <a:endParaRPr sz="18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/>
              <a:t>Va a ser útil al intentar entender errores.</a:t>
            </a:r>
            <a:endParaRPr sz="1800"/>
          </a:p>
        </p:txBody>
      </p:sp>
      <p:cxnSp>
        <p:nvCxnSpPr>
          <p:cNvPr id="392" name="Google Shape;392;p43"/>
          <p:cNvCxnSpPr>
            <a:stCxn id="391" idx="3"/>
          </p:cNvCxnSpPr>
          <p:nvPr/>
        </p:nvCxnSpPr>
        <p:spPr>
          <a:xfrm rot="10800000" flipH="1">
            <a:off x="2916300" y="6102475"/>
            <a:ext cx="1108500" cy="81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93" name="Google Shape;393;p43"/>
          <p:cNvSpPr txBox="1"/>
          <p:nvPr/>
        </p:nvSpPr>
        <p:spPr>
          <a:xfrm>
            <a:off x="305700" y="4065538"/>
            <a:ext cx="2716500" cy="13371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/>
              <a:t>Esta flecha permite ocultar texto, para facilitar la lectura cuando hay muchas </a:t>
            </a:r>
            <a:endParaRPr sz="1800"/>
          </a:p>
        </p:txBody>
      </p:sp>
      <p:cxnSp>
        <p:nvCxnSpPr>
          <p:cNvPr id="394" name="Google Shape;394;p43"/>
          <p:cNvCxnSpPr>
            <a:stCxn id="393" idx="3"/>
          </p:cNvCxnSpPr>
          <p:nvPr/>
        </p:nvCxnSpPr>
        <p:spPr>
          <a:xfrm rot="10800000" flipH="1">
            <a:off x="3022200" y="4475188"/>
            <a:ext cx="1351200" cy="2589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95" name="Google Shape;395;p43"/>
          <p:cNvSpPr/>
          <p:nvPr/>
        </p:nvSpPr>
        <p:spPr>
          <a:xfrm>
            <a:off x="3952075" y="4140950"/>
            <a:ext cx="494100" cy="2266500"/>
          </a:xfrm>
          <a:prstGeom prst="ellipse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44"/>
          <p:cNvSpPr txBox="1">
            <a:spLocks noGrp="1"/>
          </p:cNvSpPr>
          <p:nvPr>
            <p:ph type="title"/>
          </p:nvPr>
        </p:nvSpPr>
        <p:spPr>
          <a:xfrm>
            <a:off x="62100" y="-37200"/>
            <a:ext cx="6978300" cy="70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Reglas de sintaxis</a:t>
            </a:r>
            <a:endParaRPr/>
          </a:p>
        </p:txBody>
      </p:sp>
      <p:sp>
        <p:nvSpPr>
          <p:cNvPr id="401" name="Google Shape;401;p44"/>
          <p:cNvSpPr txBox="1"/>
          <p:nvPr/>
        </p:nvSpPr>
        <p:spPr>
          <a:xfrm>
            <a:off x="517500" y="1213350"/>
            <a:ext cx="8174100" cy="26703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" sz="2400"/>
              <a:t>Gobstones requiere que se use la palabra exacta</a:t>
            </a:r>
            <a:endParaRPr sz="2400"/>
          </a:p>
          <a:p>
            <a:pPr marL="914400" marR="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s" sz="2400"/>
              <a:t>No sirve </a:t>
            </a:r>
            <a:r>
              <a:rPr lang="es" sz="2400" b="1">
                <a:latin typeface="Courier New"/>
                <a:ea typeface="Courier New"/>
                <a:cs typeface="Courier New"/>
                <a:sym typeface="Courier New"/>
              </a:rPr>
              <a:t>Program</a:t>
            </a:r>
            <a:r>
              <a:rPr lang="es" sz="2400"/>
              <a:t>, ni </a:t>
            </a:r>
            <a:r>
              <a:rPr lang="es" sz="2400" b="1">
                <a:latin typeface="Courier New"/>
                <a:ea typeface="Courier New"/>
                <a:cs typeface="Courier New"/>
                <a:sym typeface="Courier New"/>
              </a:rPr>
              <a:t>programa</a:t>
            </a:r>
            <a:r>
              <a:rPr lang="es" sz="2400"/>
              <a:t>, ni </a:t>
            </a:r>
            <a:r>
              <a:rPr lang="es" sz="2400" b="1">
                <a:latin typeface="Courier New"/>
                <a:ea typeface="Courier New"/>
                <a:cs typeface="Courier New"/>
                <a:sym typeface="Courier New"/>
              </a:rPr>
              <a:t>PROGRAMA</a:t>
            </a:r>
            <a:endParaRPr sz="2400"/>
          </a:p>
          <a:p>
            <a:pPr marL="914400" marR="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s" sz="2400"/>
              <a:t>Tampoco sirve </a:t>
            </a:r>
            <a:r>
              <a:rPr lang="es" sz="2400" b="1">
                <a:latin typeface="Courier New"/>
                <a:ea typeface="Courier New"/>
                <a:cs typeface="Courier New"/>
                <a:sym typeface="Courier New"/>
              </a:rPr>
              <a:t>azul</a:t>
            </a:r>
            <a:r>
              <a:rPr lang="es" sz="2400"/>
              <a:t> ni </a:t>
            </a:r>
            <a:r>
              <a:rPr lang="es" sz="2400" b="1">
                <a:latin typeface="Courier New"/>
                <a:ea typeface="Courier New"/>
                <a:cs typeface="Courier New"/>
                <a:sym typeface="Courier New"/>
              </a:rPr>
              <a:t>AZUL</a:t>
            </a:r>
            <a:r>
              <a:rPr lang="es" sz="2400"/>
              <a:t>, ni otras variantes</a:t>
            </a:r>
            <a:endParaRPr sz="2400"/>
          </a:p>
          <a:p>
            <a: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es" sz="2400"/>
              <a:t>Si no se respetan las reglas, se produce un error</a:t>
            </a:r>
            <a:endParaRPr sz="2400"/>
          </a:p>
          <a:p>
            <a:pPr marL="914400" marR="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s" sz="2400"/>
              <a:t>Los mensajes de error usualmente son raros y poco claros, especialmente al comienzo</a:t>
            </a:r>
            <a:endParaRPr sz="2400"/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pic>
        <p:nvPicPr>
          <p:cNvPr id="402" name="Google Shape;402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0650" y="4019950"/>
            <a:ext cx="5987776" cy="2669550"/>
          </a:xfrm>
          <a:prstGeom prst="rect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45"/>
          <p:cNvSpPr txBox="1">
            <a:spLocks noGrp="1"/>
          </p:cNvSpPr>
          <p:nvPr>
            <p:ph type="title"/>
          </p:nvPr>
        </p:nvSpPr>
        <p:spPr>
          <a:xfrm>
            <a:off x="62100" y="-37200"/>
            <a:ext cx="6978300" cy="70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Reglas de sintaxis</a:t>
            </a:r>
            <a:endParaRPr/>
          </a:p>
        </p:txBody>
      </p:sp>
      <p:sp>
        <p:nvSpPr>
          <p:cNvPr id="408" name="Google Shape;408;p45"/>
          <p:cNvSpPr txBox="1"/>
          <p:nvPr/>
        </p:nvSpPr>
        <p:spPr>
          <a:xfrm>
            <a:off x="517500" y="1213350"/>
            <a:ext cx="8174100" cy="23283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es" sz="2400"/>
              <a:t>Cuando da un error, observar el punto donde se produjo el error, o un poco antes</a:t>
            </a:r>
            <a:endParaRPr sz="2400"/>
          </a:p>
          <a:p>
            <a:pPr marL="914400" marR="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s" sz="2400"/>
              <a:t>Buscar qué palabra no sigue las reglas de sintaxis</a:t>
            </a:r>
            <a:endParaRPr sz="2400"/>
          </a:p>
          <a:p>
            <a:pPr marL="914400" marR="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s" sz="2400"/>
              <a:t>o qué símbolo falta (por ejemplo, una llave })</a:t>
            </a:r>
            <a:endParaRPr sz="2400"/>
          </a:p>
          <a:p>
            <a: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" sz="2400"/>
              <a:t>Arreglarlo y volver a probar</a:t>
            </a:r>
            <a:endParaRPr sz="2400"/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pic>
        <p:nvPicPr>
          <p:cNvPr id="409" name="Google Shape;409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8762" y="3756750"/>
            <a:ext cx="5231574" cy="297247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46"/>
          <p:cNvSpPr txBox="1">
            <a:spLocks noGrp="1"/>
          </p:cNvSpPr>
          <p:nvPr>
            <p:ph type="title"/>
          </p:nvPr>
        </p:nvSpPr>
        <p:spPr>
          <a:xfrm>
            <a:off x="62100" y="-37200"/>
            <a:ext cx="6978300" cy="70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Reglas de sintaxis</a:t>
            </a:r>
            <a:endParaRPr/>
          </a:p>
        </p:txBody>
      </p:sp>
      <p:sp>
        <p:nvSpPr>
          <p:cNvPr id="415" name="Google Shape;415;p46"/>
          <p:cNvSpPr txBox="1"/>
          <p:nvPr/>
        </p:nvSpPr>
        <p:spPr>
          <a:xfrm>
            <a:off x="517500" y="1213350"/>
            <a:ext cx="8174100" cy="23094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" sz="2400"/>
              <a:t>Los comandos primitivos llevan un </a:t>
            </a:r>
            <a:r>
              <a:rPr lang="es" sz="2400" b="1" i="1"/>
              <a:t>argumento</a:t>
            </a:r>
            <a:endParaRPr sz="2400" b="1" i="1"/>
          </a:p>
          <a:p>
            <a:pPr marL="914400" marR="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s" sz="2400"/>
              <a:t>Ej. </a:t>
            </a:r>
            <a:r>
              <a:rPr lang="es" sz="2400" b="1">
                <a:solidFill>
                  <a:srgbClr val="45818E"/>
                </a:solidFill>
                <a:latin typeface="Courier New"/>
                <a:ea typeface="Courier New"/>
                <a:cs typeface="Courier New"/>
                <a:sym typeface="Courier New"/>
              </a:rPr>
              <a:t>Poner</a:t>
            </a:r>
            <a:r>
              <a:rPr lang="es" sz="2400" b="1"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" sz="2400" b="1">
                <a:solidFill>
                  <a:srgbClr val="3C78D8"/>
                </a:solidFill>
                <a:latin typeface="Courier New"/>
                <a:ea typeface="Courier New"/>
                <a:cs typeface="Courier New"/>
                <a:sym typeface="Courier New"/>
              </a:rPr>
              <a:t>Rojo</a:t>
            </a:r>
            <a:r>
              <a:rPr lang="es" sz="2400" b="1"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s" sz="2400"/>
              <a:t>, </a:t>
            </a:r>
            <a:r>
              <a:rPr lang="es" sz="2400" b="1">
                <a:solidFill>
                  <a:srgbClr val="45818E"/>
                </a:solidFill>
                <a:latin typeface="Courier New"/>
                <a:ea typeface="Courier New"/>
                <a:cs typeface="Courier New"/>
                <a:sym typeface="Courier New"/>
              </a:rPr>
              <a:t>Mover</a:t>
            </a:r>
            <a:r>
              <a:rPr lang="es" sz="2400" b="1"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" sz="2400" b="1">
                <a:solidFill>
                  <a:srgbClr val="3C78D8"/>
                </a:solidFill>
                <a:latin typeface="Courier New"/>
                <a:ea typeface="Courier New"/>
                <a:cs typeface="Courier New"/>
                <a:sym typeface="Courier New"/>
              </a:rPr>
              <a:t>Norte</a:t>
            </a:r>
            <a:r>
              <a:rPr lang="es" sz="2400" b="1"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2400"/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" sz="2400"/>
              <a:t>El argumento </a:t>
            </a:r>
            <a:endParaRPr sz="2400"/>
          </a:p>
          <a:p>
            <a:pPr marL="91440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s" sz="2400"/>
              <a:t>es un valor que le da información al comando</a:t>
            </a:r>
            <a:endParaRPr sz="2400"/>
          </a:p>
          <a:p>
            <a:pPr marL="91440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s" sz="2400"/>
              <a:t>se pone entre paréntesis después del comando</a:t>
            </a:r>
            <a:endParaRPr sz="2400"/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pic>
        <p:nvPicPr>
          <p:cNvPr id="416" name="Google Shape;416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6800" y="3955975"/>
            <a:ext cx="2972325" cy="249755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417" name="Google Shape;417;p46"/>
          <p:cNvSpPr/>
          <p:nvPr/>
        </p:nvSpPr>
        <p:spPr>
          <a:xfrm>
            <a:off x="3060825" y="4331350"/>
            <a:ext cx="1155000" cy="1545000"/>
          </a:xfrm>
          <a:prstGeom prst="ellipse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46"/>
          <p:cNvSpPr txBox="1"/>
          <p:nvPr/>
        </p:nvSpPr>
        <p:spPr>
          <a:xfrm>
            <a:off x="5919550" y="5096525"/>
            <a:ext cx="1949100" cy="606300"/>
          </a:xfrm>
          <a:prstGeom prst="rect">
            <a:avLst/>
          </a:prstGeom>
          <a:solidFill>
            <a:srgbClr val="FFE599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/>
              <a:t>Argumentos</a:t>
            </a:r>
            <a:endParaRPr sz="2400"/>
          </a:p>
        </p:txBody>
      </p:sp>
      <p:cxnSp>
        <p:nvCxnSpPr>
          <p:cNvPr id="419" name="Google Shape;419;p46"/>
          <p:cNvCxnSpPr>
            <a:stCxn id="418" idx="1"/>
            <a:endCxn id="417" idx="6"/>
          </p:cNvCxnSpPr>
          <p:nvPr/>
        </p:nvCxnSpPr>
        <p:spPr>
          <a:xfrm rot="10800000">
            <a:off x="4215850" y="5103875"/>
            <a:ext cx="1703700" cy="2958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47"/>
          <p:cNvSpPr txBox="1">
            <a:spLocks noGrp="1"/>
          </p:cNvSpPr>
          <p:nvPr>
            <p:ph type="title"/>
          </p:nvPr>
        </p:nvSpPr>
        <p:spPr>
          <a:xfrm>
            <a:off x="62100" y="-37200"/>
            <a:ext cx="6978300" cy="70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Reglas de sintaxis</a:t>
            </a:r>
            <a:endParaRPr/>
          </a:p>
        </p:txBody>
      </p:sp>
      <p:sp>
        <p:nvSpPr>
          <p:cNvPr id="425" name="Google Shape;425;p47"/>
          <p:cNvSpPr txBox="1"/>
          <p:nvPr/>
        </p:nvSpPr>
        <p:spPr>
          <a:xfrm>
            <a:off x="517500" y="1213350"/>
            <a:ext cx="8174100" cy="27024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es" sz="2400"/>
              <a:t>Las llaves delimitan los </a:t>
            </a:r>
            <a:r>
              <a:rPr lang="es" sz="2400" b="1"/>
              <a:t>cuerpos</a:t>
            </a:r>
            <a:r>
              <a:rPr lang="es" sz="2400"/>
              <a:t>.</a:t>
            </a:r>
            <a:endParaRPr sz="2400"/>
          </a:p>
          <a:p>
            <a: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" sz="2400"/>
              <a:t>Los paréntesis delimitan </a:t>
            </a:r>
            <a:r>
              <a:rPr lang="es" sz="2400" b="1"/>
              <a:t>argumentos</a:t>
            </a:r>
            <a:r>
              <a:rPr lang="es" sz="2400"/>
              <a:t>.</a:t>
            </a:r>
            <a:endParaRPr sz="2400"/>
          </a:p>
          <a:p>
            <a: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" sz="2400"/>
              <a:t>En bloques estos están dados por la forma de los bloques, y las cosas que se pueden enganchar dentro.</a:t>
            </a:r>
            <a:endParaRPr sz="2400"/>
          </a:p>
          <a:p>
            <a: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" sz="2400"/>
              <a:t>En texto, se pueden escribir “cualquier cosa” dentro de otra, pero el código resultante no es válido.</a:t>
            </a:r>
            <a:endParaRPr sz="24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26" name="Google Shape;426;p47"/>
          <p:cNvSpPr txBox="1"/>
          <p:nvPr/>
        </p:nvSpPr>
        <p:spPr>
          <a:xfrm>
            <a:off x="517500" y="4373425"/>
            <a:ext cx="3318300" cy="15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>
                <a:solidFill>
                  <a:srgbClr val="A64D79"/>
                </a:solidFill>
                <a:latin typeface="Consolas"/>
                <a:ea typeface="Consolas"/>
                <a:cs typeface="Consolas"/>
                <a:sym typeface="Consolas"/>
              </a:rPr>
              <a:t>program</a:t>
            </a:r>
            <a:r>
              <a:rPr lang="es" sz="24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{      </a:t>
            </a:r>
            <a:endParaRPr sz="24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    Poner</a:t>
            </a:r>
            <a:r>
              <a:rPr lang="es" sz="24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" sz="24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Poner</a:t>
            </a:r>
            <a:r>
              <a:rPr lang="es" sz="24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24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  <p:sp>
        <p:nvSpPr>
          <p:cNvPr id="427" name="Google Shape;427;p47"/>
          <p:cNvSpPr/>
          <p:nvPr/>
        </p:nvSpPr>
        <p:spPr>
          <a:xfrm>
            <a:off x="2116500" y="4852900"/>
            <a:ext cx="1155000" cy="494100"/>
          </a:xfrm>
          <a:prstGeom prst="ellipse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" name="Google Shape;428;p47"/>
          <p:cNvSpPr txBox="1"/>
          <p:nvPr/>
        </p:nvSpPr>
        <p:spPr>
          <a:xfrm>
            <a:off x="4068300" y="4111900"/>
            <a:ext cx="4623300" cy="1329300"/>
          </a:xfrm>
          <a:prstGeom prst="rect">
            <a:avLst/>
          </a:prstGeom>
          <a:solidFill>
            <a:srgbClr val="EA9999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/>
              <a:t>Poner es un bloque azul en Jr. y estos no pueden meterse dentro de otros bloques azules.</a:t>
            </a:r>
            <a:endParaRPr sz="2400"/>
          </a:p>
        </p:txBody>
      </p:sp>
      <p:cxnSp>
        <p:nvCxnSpPr>
          <p:cNvPr id="429" name="Google Shape;429;p47"/>
          <p:cNvCxnSpPr>
            <a:stCxn id="428" idx="1"/>
            <a:endCxn id="427" idx="6"/>
          </p:cNvCxnSpPr>
          <p:nvPr/>
        </p:nvCxnSpPr>
        <p:spPr>
          <a:xfrm flipH="1">
            <a:off x="3271500" y="4776550"/>
            <a:ext cx="796800" cy="3234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30" name="Google Shape;430;p47"/>
          <p:cNvSpPr txBox="1"/>
          <p:nvPr/>
        </p:nvSpPr>
        <p:spPr>
          <a:xfrm>
            <a:off x="517500" y="5815425"/>
            <a:ext cx="8174100" cy="893700"/>
          </a:xfrm>
          <a:prstGeom prst="rect">
            <a:avLst/>
          </a:prstGeom>
          <a:solidFill>
            <a:srgbClr val="FFE599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/>
              <a:t>En texto, decimos que un comando no es un valor y por tanto no puede ser un argumento.</a:t>
            </a:r>
            <a:endParaRPr sz="24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51"/>
          <p:cNvSpPr txBox="1">
            <a:spLocks noGrp="1"/>
          </p:cNvSpPr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Reglas de Estilo: Indentación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52"/>
          <p:cNvSpPr txBox="1">
            <a:spLocks noGrp="1"/>
          </p:cNvSpPr>
          <p:nvPr>
            <p:ph type="title"/>
          </p:nvPr>
        </p:nvSpPr>
        <p:spPr>
          <a:xfrm>
            <a:off x="62100" y="-37200"/>
            <a:ext cx="6978300" cy="70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Reglas de estilo: </a:t>
            </a:r>
            <a:r>
              <a:rPr lang="es" b="1"/>
              <a:t>Indentación</a:t>
            </a:r>
            <a:endParaRPr b="1"/>
          </a:p>
        </p:txBody>
      </p:sp>
      <p:sp>
        <p:nvSpPr>
          <p:cNvPr id="463" name="Google Shape;463;p52"/>
          <p:cNvSpPr txBox="1"/>
          <p:nvPr/>
        </p:nvSpPr>
        <p:spPr>
          <a:xfrm>
            <a:off x="517500" y="1213350"/>
            <a:ext cx="8174100" cy="23121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es" sz="2400"/>
              <a:t>Los programas en texto pueden contener cualquier cantidad de espacios y líneas en blanco</a:t>
            </a:r>
            <a:endParaRPr sz="2400"/>
          </a:p>
          <a:p>
            <a: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" sz="2400"/>
              <a:t>Sin embargo, deben seguirse ciertas reglas de estilo</a:t>
            </a:r>
            <a:endParaRPr sz="2400"/>
          </a:p>
          <a:p>
            <a:pPr marL="914400" marR="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s" sz="2400"/>
              <a:t>El programa no falla si no se siguen</a:t>
            </a:r>
            <a:endParaRPr sz="2400"/>
          </a:p>
          <a:p>
            <a:pPr marL="914400" marR="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s" sz="2400"/>
              <a:t>¡pero puede ser muy difícil de leer!</a:t>
            </a:r>
            <a:endParaRPr sz="2400"/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pic>
        <p:nvPicPr>
          <p:cNvPr id="464" name="Google Shape;464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7500" y="3702700"/>
            <a:ext cx="8174101" cy="2692329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52"/>
          <p:cNvSpPr txBox="1"/>
          <p:nvPr/>
        </p:nvSpPr>
        <p:spPr>
          <a:xfrm>
            <a:off x="4714475" y="5642300"/>
            <a:ext cx="2529900" cy="909900"/>
          </a:xfrm>
          <a:prstGeom prst="rect">
            <a:avLst/>
          </a:prstGeom>
          <a:solidFill>
            <a:srgbClr val="EA9999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500"/>
              <a:t>Programa difícil de leer</a:t>
            </a:r>
            <a:endParaRPr sz="25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53"/>
          <p:cNvSpPr txBox="1">
            <a:spLocks noGrp="1"/>
          </p:cNvSpPr>
          <p:nvPr>
            <p:ph type="title"/>
          </p:nvPr>
        </p:nvSpPr>
        <p:spPr>
          <a:xfrm>
            <a:off x="62100" y="-37200"/>
            <a:ext cx="6978300" cy="70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Reglas de estilo: </a:t>
            </a:r>
            <a:r>
              <a:rPr lang="es" b="1"/>
              <a:t>Indentación</a:t>
            </a:r>
            <a:endParaRPr/>
          </a:p>
        </p:txBody>
      </p:sp>
      <p:sp>
        <p:nvSpPr>
          <p:cNvPr id="471" name="Google Shape;471;p53"/>
          <p:cNvSpPr txBox="1"/>
          <p:nvPr/>
        </p:nvSpPr>
        <p:spPr>
          <a:xfrm>
            <a:off x="517500" y="1213350"/>
            <a:ext cx="8174100" cy="18021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es" sz="2400"/>
              <a:t>Un error típico es poner todo en la misma columna</a:t>
            </a:r>
            <a:endParaRPr sz="2400"/>
          </a:p>
          <a:p>
            <a:pPr marL="914400" marR="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s" sz="2400"/>
              <a:t>No aceptamos programas así</a:t>
            </a:r>
            <a:endParaRPr sz="2400"/>
          </a:p>
          <a:p>
            <a: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" sz="2400"/>
              <a:t>Debe verse claro qué cosa es parte de qué otra</a:t>
            </a:r>
            <a:endParaRPr sz="2400"/>
          </a:p>
          <a:p>
            <a:pPr marL="914400" marR="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s" sz="2400"/>
              <a:t>Ej: Los comandos son parte del programa</a:t>
            </a:r>
            <a:endParaRPr sz="24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pic>
        <p:nvPicPr>
          <p:cNvPr id="472" name="Google Shape;472;p53"/>
          <p:cNvPicPr preferRelativeResize="0"/>
          <p:nvPr/>
        </p:nvPicPr>
        <p:blipFill rotWithShape="1">
          <a:blip r:embed="rId3">
            <a:alphaModFix/>
          </a:blip>
          <a:srcRect b="19093"/>
          <a:stretch/>
        </p:blipFill>
        <p:spPr>
          <a:xfrm>
            <a:off x="4894675" y="3461525"/>
            <a:ext cx="3796925" cy="2849125"/>
          </a:xfrm>
          <a:prstGeom prst="rect">
            <a:avLst/>
          </a:prstGeom>
          <a:noFill/>
          <a:ln>
            <a:noFill/>
          </a:ln>
        </p:spPr>
      </p:pic>
      <p:sp>
        <p:nvSpPr>
          <p:cNvPr id="473" name="Google Shape;473;p53"/>
          <p:cNvSpPr txBox="1"/>
          <p:nvPr/>
        </p:nvSpPr>
        <p:spPr>
          <a:xfrm>
            <a:off x="517500" y="5146043"/>
            <a:ext cx="4023000" cy="1164600"/>
          </a:xfrm>
          <a:prstGeom prst="rect">
            <a:avLst/>
          </a:prstGeom>
          <a:solidFill>
            <a:srgbClr val="EA9999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 sz="1800"/>
              <a:t>No queda totalmente claro que los comandos son parte del programa</a:t>
            </a:r>
            <a:endParaRPr sz="18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500"/>
          </a:p>
        </p:txBody>
      </p:sp>
      <p:cxnSp>
        <p:nvCxnSpPr>
          <p:cNvPr id="474" name="Google Shape;474;p53"/>
          <p:cNvCxnSpPr>
            <a:stCxn id="473" idx="0"/>
          </p:cNvCxnSpPr>
          <p:nvPr/>
        </p:nvCxnSpPr>
        <p:spPr>
          <a:xfrm rot="10800000" flipH="1">
            <a:off x="2529000" y="4314443"/>
            <a:ext cx="2992800" cy="8316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54"/>
          <p:cNvSpPr txBox="1">
            <a:spLocks noGrp="1"/>
          </p:cNvSpPr>
          <p:nvPr>
            <p:ph type="title"/>
          </p:nvPr>
        </p:nvSpPr>
        <p:spPr>
          <a:xfrm>
            <a:off x="62100" y="-37200"/>
            <a:ext cx="6978300" cy="70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Reglas de estilo: </a:t>
            </a:r>
            <a:r>
              <a:rPr lang="es" b="1"/>
              <a:t>Indentación</a:t>
            </a:r>
            <a:endParaRPr/>
          </a:p>
        </p:txBody>
      </p:sp>
      <p:sp>
        <p:nvSpPr>
          <p:cNvPr id="480" name="Google Shape;480;p54"/>
          <p:cNvSpPr txBox="1"/>
          <p:nvPr/>
        </p:nvSpPr>
        <p:spPr>
          <a:xfrm>
            <a:off x="517500" y="1213350"/>
            <a:ext cx="8174100" cy="18021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es" sz="2400"/>
              <a:t>Usar los espacios con un buen estilo se conoce con el nombre de </a:t>
            </a:r>
            <a:r>
              <a:rPr lang="es" sz="2400" b="1" i="1"/>
              <a:t>indentación </a:t>
            </a:r>
            <a:r>
              <a:rPr lang="es" sz="2400"/>
              <a:t>adecuada</a:t>
            </a:r>
            <a:endParaRPr sz="2400"/>
          </a:p>
          <a:p>
            <a: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es" sz="2400"/>
              <a:t>Las reglas de indentación no son fijas, pero conviene seguir algunas reglas preestablecidas</a:t>
            </a:r>
            <a:endParaRPr sz="24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pic>
        <p:nvPicPr>
          <p:cNvPr id="481" name="Google Shape;481;p54"/>
          <p:cNvPicPr preferRelativeResize="0"/>
          <p:nvPr/>
        </p:nvPicPr>
        <p:blipFill rotWithShape="1">
          <a:blip r:embed="rId3">
            <a:alphaModFix/>
          </a:blip>
          <a:srcRect t="21330" r="23318" b="7112"/>
          <a:stretch/>
        </p:blipFill>
        <p:spPr>
          <a:xfrm>
            <a:off x="554000" y="3167850"/>
            <a:ext cx="2957828" cy="234275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482" name="Google Shape;482;p54"/>
          <p:cNvSpPr txBox="1"/>
          <p:nvPr/>
        </p:nvSpPr>
        <p:spPr>
          <a:xfrm>
            <a:off x="3750900" y="3153075"/>
            <a:ext cx="4940700" cy="24186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 sz="1800"/>
              <a:t>Los comandos empiezan todos en la misma columna</a:t>
            </a:r>
            <a:endParaRPr sz="180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 sz="1800"/>
              <a:t>Van más adentro que la palabra </a:t>
            </a:r>
            <a:r>
              <a:rPr lang="es" sz="1800" b="1">
                <a:latin typeface="Courier New"/>
                <a:ea typeface="Courier New"/>
                <a:cs typeface="Courier New"/>
                <a:sym typeface="Courier New"/>
              </a:rPr>
              <a:t>program</a:t>
            </a:r>
            <a:endParaRPr sz="18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 sz="1800"/>
              <a:t>La llave que abre, justo después que </a:t>
            </a:r>
            <a:r>
              <a:rPr lang="es" sz="1800" b="1">
                <a:latin typeface="Courier New"/>
                <a:ea typeface="Courier New"/>
                <a:cs typeface="Courier New"/>
                <a:sym typeface="Courier New"/>
              </a:rPr>
              <a:t>program</a:t>
            </a:r>
            <a:endParaRPr sz="180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 sz="1800"/>
              <a:t>La llave de cierre en la misma columna que </a:t>
            </a:r>
            <a:r>
              <a:rPr lang="es" sz="1800" b="1">
                <a:latin typeface="Courier New"/>
                <a:ea typeface="Courier New"/>
                <a:cs typeface="Courier New"/>
                <a:sym typeface="Courier New"/>
              </a:rPr>
              <a:t>program</a:t>
            </a:r>
            <a:endParaRPr sz="18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500"/>
          </a:p>
        </p:txBody>
      </p:sp>
      <p:sp>
        <p:nvSpPr>
          <p:cNvPr id="483" name="Google Shape;483;p54"/>
          <p:cNvSpPr txBox="1"/>
          <p:nvPr/>
        </p:nvSpPr>
        <p:spPr>
          <a:xfrm>
            <a:off x="852450" y="5709300"/>
            <a:ext cx="7504200" cy="1024200"/>
          </a:xfrm>
          <a:prstGeom prst="rect">
            <a:avLst/>
          </a:prstGeom>
          <a:solidFill>
            <a:srgbClr val="FFE599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/>
              <a:t>A medida que aprendamos nuevas herramientas, iremos agregando algunas reglas de indentación</a:t>
            </a:r>
            <a:endParaRPr sz="2400"/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55"/>
          <p:cNvSpPr txBox="1">
            <a:spLocks noGrp="1"/>
          </p:cNvSpPr>
          <p:nvPr>
            <p:ph type="title"/>
          </p:nvPr>
        </p:nvSpPr>
        <p:spPr>
          <a:xfrm>
            <a:off x="62100" y="-37200"/>
            <a:ext cx="6978300" cy="70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Reglas de estilo: </a:t>
            </a:r>
            <a:r>
              <a:rPr lang="es" b="1"/>
              <a:t>Indentación</a:t>
            </a:r>
            <a:endParaRPr/>
          </a:p>
        </p:txBody>
      </p:sp>
      <p:sp>
        <p:nvSpPr>
          <p:cNvPr id="489" name="Google Shape;489;p55"/>
          <p:cNvSpPr txBox="1"/>
          <p:nvPr/>
        </p:nvSpPr>
        <p:spPr>
          <a:xfrm>
            <a:off x="517500" y="1213350"/>
            <a:ext cx="8174100" cy="18021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/>
              <a:t>Si alguien usa otro tipo de indentación, no está mal, siempre y cuando quede clara la estructura del código.</a:t>
            </a:r>
            <a:endParaRPr sz="24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/>
              <a:t>A veces pueden agruparse algunos comandos para facilitar la lectura.</a:t>
            </a:r>
            <a:endParaRPr sz="2400"/>
          </a:p>
        </p:txBody>
      </p:sp>
      <p:sp>
        <p:nvSpPr>
          <p:cNvPr id="490" name="Google Shape;490;p55"/>
          <p:cNvSpPr txBox="1"/>
          <p:nvPr/>
        </p:nvSpPr>
        <p:spPr>
          <a:xfrm>
            <a:off x="668375" y="5710150"/>
            <a:ext cx="7889700" cy="1023300"/>
          </a:xfrm>
          <a:prstGeom prst="rect">
            <a:avLst/>
          </a:prstGeom>
          <a:solidFill>
            <a:srgbClr val="EA9999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/>
              <a:t>En las diapos puede haber indentación fea, porque sino no entra todo el texto en la pantalla, no porque no indentemos o porque dicha indentación sea correcta.</a:t>
            </a:r>
            <a:endParaRPr sz="1800"/>
          </a:p>
        </p:txBody>
      </p:sp>
      <p:sp>
        <p:nvSpPr>
          <p:cNvPr id="491" name="Google Shape;491;p55"/>
          <p:cNvSpPr txBox="1">
            <a:spLocks noGrp="1"/>
          </p:cNvSpPr>
          <p:nvPr>
            <p:ph type="body" idx="4294967295"/>
          </p:nvPr>
        </p:nvSpPr>
        <p:spPr>
          <a:xfrm>
            <a:off x="517500" y="3098738"/>
            <a:ext cx="2652300" cy="201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A64D79"/>
                </a:solidFill>
              </a:rPr>
              <a:t>program</a:t>
            </a:r>
            <a:r>
              <a:rPr lang="es"/>
              <a:t> {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    </a:t>
            </a:r>
            <a:r>
              <a:rPr lang="es">
                <a:solidFill>
                  <a:srgbClr val="3C78D8"/>
                </a:solidFill>
              </a:rPr>
              <a:t>Poner</a:t>
            </a:r>
            <a:r>
              <a:rPr lang="es"/>
              <a:t>(</a:t>
            </a:r>
            <a:r>
              <a:rPr lang="es">
                <a:solidFill>
                  <a:srgbClr val="76A5AF"/>
                </a:solidFill>
              </a:rPr>
              <a:t>Rojo</a:t>
            </a:r>
            <a:r>
              <a:rPr lang="es"/>
              <a:t>)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3C78D8"/>
                </a:solidFill>
              </a:rPr>
              <a:t>    Poner</a:t>
            </a:r>
            <a:r>
              <a:rPr lang="es"/>
              <a:t>(</a:t>
            </a:r>
            <a:r>
              <a:rPr lang="es">
                <a:solidFill>
                  <a:srgbClr val="76A5AF"/>
                </a:solidFill>
              </a:rPr>
              <a:t>Verde</a:t>
            </a:r>
            <a:r>
              <a:rPr lang="es"/>
              <a:t>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    </a:t>
            </a:r>
            <a:r>
              <a:rPr lang="es">
                <a:solidFill>
                  <a:srgbClr val="3C78D8"/>
                </a:solidFill>
              </a:rPr>
              <a:t>Poner</a:t>
            </a:r>
            <a:r>
              <a:rPr lang="es"/>
              <a:t>(</a:t>
            </a:r>
            <a:r>
              <a:rPr lang="es">
                <a:solidFill>
                  <a:srgbClr val="76A5AF"/>
                </a:solidFill>
              </a:rPr>
              <a:t>Negro</a:t>
            </a:r>
            <a:r>
              <a:rPr lang="es"/>
              <a:t>)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rgbClr val="3C78D8"/>
                </a:solidFill>
              </a:rPr>
              <a:t>    Poner</a:t>
            </a:r>
            <a:r>
              <a:rPr lang="es"/>
              <a:t>(</a:t>
            </a:r>
            <a:r>
              <a:rPr lang="es">
                <a:solidFill>
                  <a:srgbClr val="76A5AF"/>
                </a:solidFill>
              </a:rPr>
              <a:t>Azul</a:t>
            </a:r>
            <a:r>
              <a:rPr lang="es"/>
              <a:t>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}</a:t>
            </a:r>
            <a:endParaRPr/>
          </a:p>
        </p:txBody>
      </p:sp>
      <p:sp>
        <p:nvSpPr>
          <p:cNvPr id="492" name="Google Shape;492;p55"/>
          <p:cNvSpPr txBox="1">
            <a:spLocks noGrp="1"/>
          </p:cNvSpPr>
          <p:nvPr>
            <p:ph type="body" idx="4294967295"/>
          </p:nvPr>
        </p:nvSpPr>
        <p:spPr>
          <a:xfrm>
            <a:off x="6039300" y="3105813"/>
            <a:ext cx="2652300" cy="201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A64D79"/>
                </a:solidFill>
              </a:rPr>
              <a:t>program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{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    </a:t>
            </a:r>
            <a:r>
              <a:rPr lang="es">
                <a:solidFill>
                  <a:srgbClr val="3C78D8"/>
                </a:solidFill>
              </a:rPr>
              <a:t>Poner</a:t>
            </a:r>
            <a:r>
              <a:rPr lang="es"/>
              <a:t>(</a:t>
            </a:r>
            <a:r>
              <a:rPr lang="es">
                <a:solidFill>
                  <a:srgbClr val="76A5AF"/>
                </a:solidFill>
              </a:rPr>
              <a:t>Rojo</a:t>
            </a:r>
            <a:r>
              <a:rPr lang="es"/>
              <a:t>)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3C78D8"/>
                </a:solidFill>
              </a:rPr>
              <a:t>    Poner</a:t>
            </a:r>
            <a:r>
              <a:rPr lang="es"/>
              <a:t>(</a:t>
            </a:r>
            <a:r>
              <a:rPr lang="es">
                <a:solidFill>
                  <a:srgbClr val="76A5AF"/>
                </a:solidFill>
              </a:rPr>
              <a:t>Verde</a:t>
            </a:r>
            <a:r>
              <a:rPr lang="es"/>
              <a:t>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    </a:t>
            </a:r>
            <a:r>
              <a:rPr lang="es">
                <a:solidFill>
                  <a:srgbClr val="3C78D8"/>
                </a:solidFill>
              </a:rPr>
              <a:t>Poner</a:t>
            </a:r>
            <a:r>
              <a:rPr lang="es"/>
              <a:t>(</a:t>
            </a:r>
            <a:r>
              <a:rPr lang="es">
                <a:solidFill>
                  <a:srgbClr val="76A5AF"/>
                </a:solidFill>
              </a:rPr>
              <a:t>Negro</a:t>
            </a:r>
            <a:r>
              <a:rPr lang="es"/>
              <a:t>)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3C78D8"/>
                </a:solidFill>
              </a:rPr>
              <a:t>    Poner</a:t>
            </a:r>
            <a:r>
              <a:rPr lang="es"/>
              <a:t>(</a:t>
            </a:r>
            <a:r>
              <a:rPr lang="es">
                <a:solidFill>
                  <a:srgbClr val="76A5AF"/>
                </a:solidFill>
              </a:rPr>
              <a:t>Azul</a:t>
            </a:r>
            <a:r>
              <a:rPr lang="es"/>
              <a:t>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}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56"/>
          <p:cNvSpPr txBox="1">
            <a:spLocks noGrp="1"/>
          </p:cNvSpPr>
          <p:nvPr>
            <p:ph type="body" idx="1"/>
          </p:nvPr>
        </p:nvSpPr>
        <p:spPr>
          <a:xfrm>
            <a:off x="311700" y="1210126"/>
            <a:ext cx="8520600" cy="44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A64D79"/>
                </a:solidFill>
                <a:latin typeface="Consolas"/>
                <a:ea typeface="Consolas"/>
                <a:cs typeface="Consolas"/>
                <a:sym typeface="Consolas"/>
              </a:rPr>
              <a:t>program</a:t>
            </a:r>
            <a:r>
              <a:rPr lang="es">
                <a:latin typeface="Consolas"/>
                <a:ea typeface="Consolas"/>
                <a:cs typeface="Consolas"/>
                <a:sym typeface="Consolas"/>
              </a:rPr>
              <a:t>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Poner</a:t>
            </a:r>
            <a:r>
              <a:rPr lang="es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">
                <a:solidFill>
                  <a:srgbClr val="76A5AF"/>
                </a:solidFill>
                <a:latin typeface="Consolas"/>
                <a:ea typeface="Consolas"/>
                <a:cs typeface="Consolas"/>
                <a:sym typeface="Consolas"/>
              </a:rPr>
              <a:t>Rojo</a:t>
            </a:r>
            <a:r>
              <a:rPr lang="es">
                <a:latin typeface="Consolas"/>
                <a:ea typeface="Consolas"/>
                <a:cs typeface="Consolas"/>
                <a:sym typeface="Consolas"/>
              </a:rPr>
              <a:t>)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    Mover</a:t>
            </a:r>
            <a:r>
              <a:rPr lang="es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">
                <a:solidFill>
                  <a:srgbClr val="76A5AF"/>
                </a:solidFill>
                <a:latin typeface="Consolas"/>
                <a:ea typeface="Consolas"/>
                <a:cs typeface="Consolas"/>
                <a:sym typeface="Consolas"/>
              </a:rPr>
              <a:t>Este</a:t>
            </a:r>
            <a:r>
              <a:rPr lang="es">
                <a:latin typeface="Consolas"/>
                <a:ea typeface="Consolas"/>
                <a:cs typeface="Consolas"/>
                <a:sym typeface="Consolas"/>
              </a:rPr>
              <a:t>)   </a:t>
            </a:r>
            <a:r>
              <a:rPr lang="es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Poner</a:t>
            </a:r>
            <a:r>
              <a:rPr lang="es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">
                <a:solidFill>
                  <a:srgbClr val="76A5AF"/>
                </a:solidFill>
                <a:latin typeface="Consolas"/>
                <a:ea typeface="Consolas"/>
                <a:cs typeface="Consolas"/>
                <a:sym typeface="Consolas"/>
              </a:rPr>
              <a:t>Rojo</a:t>
            </a:r>
            <a:r>
              <a:rPr lang="es">
                <a:latin typeface="Consolas"/>
                <a:ea typeface="Consolas"/>
                <a:cs typeface="Consolas"/>
                <a:sym typeface="Consolas"/>
              </a:rPr>
              <a:t>)   </a:t>
            </a:r>
            <a:r>
              <a:rPr lang="es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Mover</a:t>
            </a:r>
            <a:r>
              <a:rPr lang="es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">
                <a:solidFill>
                  <a:srgbClr val="76A5AF"/>
                </a:solidFill>
                <a:latin typeface="Consolas"/>
                <a:ea typeface="Consolas"/>
                <a:cs typeface="Consolas"/>
                <a:sym typeface="Consolas"/>
              </a:rPr>
              <a:t>Oeste</a:t>
            </a:r>
            <a:r>
              <a:rPr lang="es">
                <a:latin typeface="Consolas"/>
                <a:ea typeface="Consolas"/>
                <a:cs typeface="Consolas"/>
                <a:sym typeface="Consolas"/>
              </a:rPr>
              <a:t>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Mover</a:t>
            </a:r>
            <a:r>
              <a:rPr lang="es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">
                <a:solidFill>
                  <a:srgbClr val="76A5AF"/>
                </a:solidFill>
                <a:latin typeface="Consolas"/>
                <a:ea typeface="Consolas"/>
                <a:cs typeface="Consolas"/>
                <a:sym typeface="Consolas"/>
              </a:rPr>
              <a:t>Norte</a:t>
            </a:r>
            <a:r>
              <a:rPr lang="es">
                <a:latin typeface="Consolas"/>
                <a:ea typeface="Consolas"/>
                <a:cs typeface="Consolas"/>
                <a:sym typeface="Consolas"/>
              </a:rPr>
              <a:t>)  </a:t>
            </a:r>
            <a:r>
              <a:rPr lang="es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Poner</a:t>
            </a:r>
            <a:r>
              <a:rPr lang="es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">
                <a:solidFill>
                  <a:srgbClr val="76A5AF"/>
                </a:solidFill>
                <a:latin typeface="Consolas"/>
                <a:ea typeface="Consolas"/>
                <a:cs typeface="Consolas"/>
                <a:sym typeface="Consolas"/>
              </a:rPr>
              <a:t>Rojo</a:t>
            </a:r>
            <a:r>
              <a:rPr lang="es">
                <a:latin typeface="Consolas"/>
                <a:ea typeface="Consolas"/>
                <a:cs typeface="Consolas"/>
                <a:sym typeface="Consolas"/>
              </a:rPr>
              <a:t>)   </a:t>
            </a:r>
            <a:r>
              <a:rPr lang="es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Mover</a:t>
            </a:r>
            <a:r>
              <a:rPr lang="es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">
                <a:solidFill>
                  <a:srgbClr val="76A5AF"/>
                </a:solidFill>
                <a:latin typeface="Consolas"/>
                <a:ea typeface="Consolas"/>
                <a:cs typeface="Consolas"/>
                <a:sym typeface="Consolas"/>
              </a:rPr>
              <a:t>Sur</a:t>
            </a:r>
            <a:r>
              <a:rPr lang="es">
                <a:latin typeface="Consolas"/>
                <a:ea typeface="Consolas"/>
                <a:cs typeface="Consolas"/>
                <a:sym typeface="Consolas"/>
              </a:rPr>
              <a:t>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Mover</a:t>
            </a:r>
            <a:r>
              <a:rPr lang="es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">
                <a:solidFill>
                  <a:srgbClr val="76A5AF"/>
                </a:solidFill>
                <a:latin typeface="Consolas"/>
                <a:ea typeface="Consolas"/>
                <a:cs typeface="Consolas"/>
                <a:sym typeface="Consolas"/>
              </a:rPr>
              <a:t>Sur</a:t>
            </a:r>
            <a:r>
              <a:rPr lang="es">
                <a:latin typeface="Consolas"/>
                <a:ea typeface="Consolas"/>
                <a:cs typeface="Consolas"/>
                <a:sym typeface="Consolas"/>
              </a:rPr>
              <a:t>)    </a:t>
            </a:r>
            <a:r>
              <a:rPr lang="es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Poner</a:t>
            </a:r>
            <a:r>
              <a:rPr lang="es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">
                <a:solidFill>
                  <a:srgbClr val="76A5AF"/>
                </a:solidFill>
                <a:latin typeface="Consolas"/>
                <a:ea typeface="Consolas"/>
                <a:cs typeface="Consolas"/>
                <a:sym typeface="Consolas"/>
              </a:rPr>
              <a:t>Rojo</a:t>
            </a:r>
            <a:r>
              <a:rPr lang="es">
                <a:latin typeface="Consolas"/>
                <a:ea typeface="Consolas"/>
                <a:cs typeface="Consolas"/>
                <a:sym typeface="Consolas"/>
              </a:rPr>
              <a:t>)   </a:t>
            </a:r>
            <a:r>
              <a:rPr lang="es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Mover</a:t>
            </a:r>
            <a:r>
              <a:rPr lang="es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">
                <a:solidFill>
                  <a:srgbClr val="76A5AF"/>
                </a:solidFill>
                <a:latin typeface="Consolas"/>
                <a:ea typeface="Consolas"/>
                <a:cs typeface="Consolas"/>
                <a:sym typeface="Consolas"/>
              </a:rPr>
              <a:t>Norte</a:t>
            </a:r>
            <a:r>
              <a:rPr lang="es">
                <a:latin typeface="Consolas"/>
                <a:ea typeface="Consolas"/>
                <a:cs typeface="Consolas"/>
                <a:sym typeface="Consolas"/>
              </a:rPr>
              <a:t>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Mover</a:t>
            </a:r>
            <a:r>
              <a:rPr lang="es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">
                <a:solidFill>
                  <a:srgbClr val="76A5AF"/>
                </a:solidFill>
                <a:latin typeface="Consolas"/>
                <a:ea typeface="Consolas"/>
                <a:cs typeface="Consolas"/>
                <a:sym typeface="Consolas"/>
              </a:rPr>
              <a:t>Oeste</a:t>
            </a:r>
            <a:r>
              <a:rPr lang="es">
                <a:latin typeface="Consolas"/>
                <a:ea typeface="Consolas"/>
                <a:cs typeface="Consolas"/>
                <a:sym typeface="Consolas"/>
              </a:rPr>
              <a:t>)  </a:t>
            </a:r>
            <a:r>
              <a:rPr lang="es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Poner</a:t>
            </a:r>
            <a:r>
              <a:rPr lang="es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">
                <a:solidFill>
                  <a:srgbClr val="76A5AF"/>
                </a:solidFill>
                <a:latin typeface="Consolas"/>
                <a:ea typeface="Consolas"/>
                <a:cs typeface="Consolas"/>
                <a:sym typeface="Consolas"/>
              </a:rPr>
              <a:t>Rojo</a:t>
            </a:r>
            <a:r>
              <a:rPr lang="es">
                <a:latin typeface="Consolas"/>
                <a:ea typeface="Consolas"/>
                <a:cs typeface="Consolas"/>
                <a:sym typeface="Consolas"/>
              </a:rPr>
              <a:t>)   </a:t>
            </a:r>
            <a:r>
              <a:rPr lang="es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Mover</a:t>
            </a:r>
            <a:r>
              <a:rPr lang="es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">
                <a:solidFill>
                  <a:srgbClr val="76A5AF"/>
                </a:solidFill>
                <a:latin typeface="Consolas"/>
                <a:ea typeface="Consolas"/>
                <a:cs typeface="Consolas"/>
                <a:sym typeface="Consolas"/>
              </a:rPr>
              <a:t>Este</a:t>
            </a:r>
            <a:r>
              <a:rPr lang="es">
                <a:latin typeface="Consolas"/>
                <a:ea typeface="Consolas"/>
                <a:cs typeface="Consolas"/>
                <a:sym typeface="Consolas"/>
              </a:rPr>
              <a:t>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98" name="Google Shape;498;p56"/>
          <p:cNvSpPr txBox="1">
            <a:spLocks noGrp="1"/>
          </p:cNvSpPr>
          <p:nvPr>
            <p:ph type="title"/>
          </p:nvPr>
        </p:nvSpPr>
        <p:spPr>
          <a:xfrm>
            <a:off x="62100" y="-37200"/>
            <a:ext cx="6978300" cy="70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El mismo código, pero indentado</a:t>
            </a:r>
            <a:endParaRPr/>
          </a:p>
        </p:txBody>
      </p:sp>
      <p:sp>
        <p:nvSpPr>
          <p:cNvPr id="499" name="Google Shape;499;p56"/>
          <p:cNvSpPr txBox="1"/>
          <p:nvPr/>
        </p:nvSpPr>
        <p:spPr>
          <a:xfrm>
            <a:off x="4155600" y="5492225"/>
            <a:ext cx="4676700" cy="1007400"/>
          </a:xfrm>
          <a:prstGeom prst="rect">
            <a:avLst/>
          </a:prstGeom>
          <a:solidFill>
            <a:srgbClr val="FFE599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/>
              <a:t>Notar como la indentación ayuda a leer el código anterior.</a:t>
            </a:r>
            <a:endParaRPr sz="24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57"/>
          <p:cNvSpPr txBox="1">
            <a:spLocks noGrp="1"/>
          </p:cNvSpPr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Reglas de Estilo: Comentarios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58"/>
          <p:cNvSpPr txBox="1">
            <a:spLocks noGrp="1"/>
          </p:cNvSpPr>
          <p:nvPr>
            <p:ph type="title"/>
          </p:nvPr>
        </p:nvSpPr>
        <p:spPr>
          <a:xfrm>
            <a:off x="62100" y="-37200"/>
            <a:ext cx="6978300" cy="70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Reglas de estilo: </a:t>
            </a:r>
            <a:r>
              <a:rPr lang="es" b="1"/>
              <a:t>Comentarios</a:t>
            </a:r>
            <a:endParaRPr/>
          </a:p>
        </p:txBody>
      </p:sp>
      <p:sp>
        <p:nvSpPr>
          <p:cNvPr id="510" name="Google Shape;510;p58"/>
          <p:cNvSpPr txBox="1"/>
          <p:nvPr/>
        </p:nvSpPr>
        <p:spPr>
          <a:xfrm>
            <a:off x="517500" y="1213350"/>
            <a:ext cx="8174100" cy="14106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es" sz="2400"/>
              <a:t>Los programas en texto pueden contener texto que sea </a:t>
            </a:r>
            <a:r>
              <a:rPr lang="es" sz="2400" i="1"/>
              <a:t>ignorado </a:t>
            </a:r>
            <a:r>
              <a:rPr lang="es" sz="2400"/>
              <a:t>por la computadora</a:t>
            </a:r>
            <a:endParaRPr sz="2400"/>
          </a:p>
          <a:p>
            <a: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es" sz="2400"/>
              <a:t>Este texto a ignorar se utiliza para varios propósitos</a:t>
            </a:r>
            <a:endParaRPr sz="2400"/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pic>
        <p:nvPicPr>
          <p:cNvPr id="511" name="Google Shape;511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0363" y="2828225"/>
            <a:ext cx="7243274" cy="296995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512" name="Google Shape;512;p58"/>
          <p:cNvSpPr txBox="1"/>
          <p:nvPr/>
        </p:nvSpPr>
        <p:spPr>
          <a:xfrm>
            <a:off x="4844100" y="4507575"/>
            <a:ext cx="3847500" cy="18675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" sz="2400"/>
              <a:t>Usos típicos</a:t>
            </a:r>
            <a:endParaRPr sz="2400"/>
          </a:p>
          <a:p>
            <a:pPr marL="91440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s" sz="2400"/>
              <a:t>dejar comentarios</a:t>
            </a:r>
            <a:endParaRPr sz="2400"/>
          </a:p>
          <a:p>
            <a:pPr marL="91440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s" sz="2400"/>
              <a:t>documentar</a:t>
            </a:r>
            <a:endParaRPr sz="2400"/>
          </a:p>
          <a:p>
            <a:pPr marL="91440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s" sz="2400"/>
              <a:t>anular un comando</a:t>
            </a:r>
            <a:endParaRPr sz="24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59"/>
          <p:cNvSpPr txBox="1">
            <a:spLocks noGrp="1"/>
          </p:cNvSpPr>
          <p:nvPr>
            <p:ph type="title"/>
          </p:nvPr>
        </p:nvSpPr>
        <p:spPr>
          <a:xfrm>
            <a:off x="62100" y="-37200"/>
            <a:ext cx="6978300" cy="70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Reglas de estilo: </a:t>
            </a:r>
            <a:r>
              <a:rPr lang="es" b="1"/>
              <a:t>Comentarios</a:t>
            </a:r>
            <a:endParaRPr/>
          </a:p>
        </p:txBody>
      </p:sp>
      <p:sp>
        <p:nvSpPr>
          <p:cNvPr id="518" name="Google Shape;518;p59"/>
          <p:cNvSpPr txBox="1"/>
          <p:nvPr/>
        </p:nvSpPr>
        <p:spPr>
          <a:xfrm>
            <a:off x="517500" y="1213350"/>
            <a:ext cx="8174100" cy="14106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es" sz="2400"/>
              <a:t>Al texto ignorado se lo llama </a:t>
            </a:r>
            <a:r>
              <a:rPr lang="es" sz="2400" b="1" i="1"/>
              <a:t>comentario </a:t>
            </a:r>
            <a:endParaRPr sz="2400"/>
          </a:p>
          <a:p>
            <a: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es" sz="2400"/>
              <a:t>Se indica con símbolos especiales</a:t>
            </a:r>
            <a:endParaRPr sz="2400"/>
          </a:p>
          <a:p>
            <a: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" sz="2400"/>
              <a:t>Hay de dos tipos: de línea y de párrafo</a:t>
            </a:r>
            <a:endParaRPr sz="2400"/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pic>
        <p:nvPicPr>
          <p:cNvPr id="519" name="Google Shape;519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53775" y="2987213"/>
            <a:ext cx="4937813" cy="2914125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520" name="Google Shape;520;p59"/>
          <p:cNvSpPr txBox="1"/>
          <p:nvPr/>
        </p:nvSpPr>
        <p:spPr>
          <a:xfrm>
            <a:off x="517500" y="2802225"/>
            <a:ext cx="3346800" cy="32841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" sz="2400"/>
              <a:t>De párrafo</a:t>
            </a:r>
            <a:endParaRPr sz="2400"/>
          </a:p>
          <a:p>
            <a:pPr marL="91440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s" sz="2400"/>
              <a:t>Comienza con /*</a:t>
            </a:r>
            <a:endParaRPr sz="2400"/>
          </a:p>
          <a:p>
            <a:pPr marL="91440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s" sz="2400"/>
              <a:t>Termina con */</a:t>
            </a:r>
            <a:endParaRPr sz="24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" sz="2400"/>
              <a:t>De línea</a:t>
            </a:r>
            <a:endParaRPr sz="2400"/>
          </a:p>
          <a:p>
            <a:pPr marL="91440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s" sz="2400"/>
              <a:t>Comienza con //</a:t>
            </a:r>
            <a:endParaRPr sz="2400"/>
          </a:p>
          <a:p>
            <a:pPr marL="91440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s" sz="2400"/>
              <a:t>Va hasta el fin de línea</a:t>
            </a:r>
            <a:endParaRPr sz="24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61"/>
          <p:cNvSpPr txBox="1">
            <a:spLocks noGrp="1"/>
          </p:cNvSpPr>
          <p:nvPr>
            <p:ph type="body" idx="1"/>
          </p:nvPr>
        </p:nvSpPr>
        <p:spPr>
          <a:xfrm>
            <a:off x="311700" y="1210125"/>
            <a:ext cx="8520600" cy="553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A64D79"/>
                </a:solidFill>
                <a:latin typeface="Consolas"/>
                <a:ea typeface="Consolas"/>
                <a:cs typeface="Consolas"/>
                <a:sym typeface="Consolas"/>
              </a:rPr>
              <a:t>program</a:t>
            </a:r>
            <a:r>
              <a:rPr lang="es">
                <a:latin typeface="Consolas"/>
                <a:ea typeface="Consolas"/>
                <a:cs typeface="Consolas"/>
                <a:sym typeface="Consolas"/>
              </a:rPr>
              <a:t>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   /*</a:t>
            </a:r>
            <a:endParaRPr>
              <a:solidFill>
                <a:srgbClr val="38761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   Este programa realiza una cruz de color rojo,</a:t>
            </a:r>
            <a:endParaRPr>
              <a:solidFill>
                <a:srgbClr val="38761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   con centro en la celda actual. De haber al</a:t>
            </a:r>
            <a:endParaRPr>
              <a:solidFill>
                <a:srgbClr val="38761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   menos una celda en cada dirección para que el</a:t>
            </a:r>
            <a:endParaRPr>
              <a:solidFill>
                <a:srgbClr val="38761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   programa funcione correctamente.</a:t>
            </a:r>
            <a:endParaRPr>
              <a:solidFill>
                <a:srgbClr val="38761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   */</a:t>
            </a:r>
            <a:endParaRPr>
              <a:solidFill>
                <a:srgbClr val="38761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Poner</a:t>
            </a:r>
            <a:r>
              <a:rPr lang="es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">
                <a:solidFill>
                  <a:srgbClr val="76A5AF"/>
                </a:solidFill>
                <a:latin typeface="Consolas"/>
                <a:ea typeface="Consolas"/>
                <a:cs typeface="Consolas"/>
                <a:sym typeface="Consolas"/>
              </a:rPr>
              <a:t>Rojo</a:t>
            </a:r>
            <a:r>
              <a:rPr lang="es">
                <a:latin typeface="Consolas"/>
                <a:ea typeface="Consolas"/>
                <a:cs typeface="Consolas"/>
                <a:sym typeface="Consolas"/>
              </a:rPr>
              <a:t>)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    Mover</a:t>
            </a:r>
            <a:r>
              <a:rPr lang="es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">
                <a:solidFill>
                  <a:srgbClr val="76A5AF"/>
                </a:solidFill>
                <a:latin typeface="Consolas"/>
                <a:ea typeface="Consolas"/>
                <a:cs typeface="Consolas"/>
                <a:sym typeface="Consolas"/>
              </a:rPr>
              <a:t>Este</a:t>
            </a:r>
            <a:r>
              <a:rPr lang="es">
                <a:latin typeface="Consolas"/>
                <a:ea typeface="Consolas"/>
                <a:cs typeface="Consolas"/>
                <a:sym typeface="Consolas"/>
              </a:rPr>
              <a:t>)   </a:t>
            </a:r>
            <a:r>
              <a:rPr lang="es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Poner</a:t>
            </a:r>
            <a:r>
              <a:rPr lang="es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">
                <a:solidFill>
                  <a:srgbClr val="76A5AF"/>
                </a:solidFill>
                <a:latin typeface="Consolas"/>
                <a:ea typeface="Consolas"/>
                <a:cs typeface="Consolas"/>
                <a:sym typeface="Consolas"/>
              </a:rPr>
              <a:t>Rojo</a:t>
            </a:r>
            <a:r>
              <a:rPr lang="es">
                <a:latin typeface="Consolas"/>
                <a:ea typeface="Consolas"/>
                <a:cs typeface="Consolas"/>
                <a:sym typeface="Consolas"/>
              </a:rPr>
              <a:t>)   </a:t>
            </a:r>
            <a:r>
              <a:rPr lang="es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Mover</a:t>
            </a:r>
            <a:r>
              <a:rPr lang="es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">
                <a:solidFill>
                  <a:srgbClr val="76A5AF"/>
                </a:solidFill>
                <a:latin typeface="Consolas"/>
                <a:ea typeface="Consolas"/>
                <a:cs typeface="Consolas"/>
                <a:sym typeface="Consolas"/>
              </a:rPr>
              <a:t>Oeste</a:t>
            </a:r>
            <a:r>
              <a:rPr lang="es">
                <a:latin typeface="Consolas"/>
                <a:ea typeface="Consolas"/>
                <a:cs typeface="Consolas"/>
                <a:sym typeface="Consolas"/>
              </a:rPr>
              <a:t>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Mover</a:t>
            </a:r>
            <a:r>
              <a:rPr lang="es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">
                <a:solidFill>
                  <a:srgbClr val="76A5AF"/>
                </a:solidFill>
                <a:latin typeface="Consolas"/>
                <a:ea typeface="Consolas"/>
                <a:cs typeface="Consolas"/>
                <a:sym typeface="Consolas"/>
              </a:rPr>
              <a:t>Norte</a:t>
            </a:r>
            <a:r>
              <a:rPr lang="es">
                <a:latin typeface="Consolas"/>
                <a:ea typeface="Consolas"/>
                <a:cs typeface="Consolas"/>
                <a:sym typeface="Consolas"/>
              </a:rPr>
              <a:t>)  </a:t>
            </a:r>
            <a:r>
              <a:rPr lang="es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Poner</a:t>
            </a:r>
            <a:r>
              <a:rPr lang="es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">
                <a:solidFill>
                  <a:srgbClr val="76A5AF"/>
                </a:solidFill>
                <a:latin typeface="Consolas"/>
                <a:ea typeface="Consolas"/>
                <a:cs typeface="Consolas"/>
                <a:sym typeface="Consolas"/>
              </a:rPr>
              <a:t>Rojo</a:t>
            </a:r>
            <a:r>
              <a:rPr lang="es">
                <a:latin typeface="Consolas"/>
                <a:ea typeface="Consolas"/>
                <a:cs typeface="Consolas"/>
                <a:sym typeface="Consolas"/>
              </a:rPr>
              <a:t>)   </a:t>
            </a:r>
            <a:r>
              <a:rPr lang="es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Mover</a:t>
            </a:r>
            <a:r>
              <a:rPr lang="es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">
                <a:solidFill>
                  <a:srgbClr val="76A5AF"/>
                </a:solidFill>
                <a:latin typeface="Consolas"/>
                <a:ea typeface="Consolas"/>
                <a:cs typeface="Consolas"/>
                <a:sym typeface="Consolas"/>
              </a:rPr>
              <a:t>Sur</a:t>
            </a:r>
            <a:r>
              <a:rPr lang="es">
                <a:latin typeface="Consolas"/>
                <a:ea typeface="Consolas"/>
                <a:cs typeface="Consolas"/>
                <a:sym typeface="Consolas"/>
              </a:rPr>
              <a:t>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Mover</a:t>
            </a:r>
            <a:r>
              <a:rPr lang="es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">
                <a:solidFill>
                  <a:srgbClr val="76A5AF"/>
                </a:solidFill>
                <a:latin typeface="Consolas"/>
                <a:ea typeface="Consolas"/>
                <a:cs typeface="Consolas"/>
                <a:sym typeface="Consolas"/>
              </a:rPr>
              <a:t>Sur</a:t>
            </a:r>
            <a:r>
              <a:rPr lang="es">
                <a:latin typeface="Consolas"/>
                <a:ea typeface="Consolas"/>
                <a:cs typeface="Consolas"/>
                <a:sym typeface="Consolas"/>
              </a:rPr>
              <a:t>)    </a:t>
            </a:r>
            <a:r>
              <a:rPr lang="es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Poner</a:t>
            </a:r>
            <a:r>
              <a:rPr lang="es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">
                <a:solidFill>
                  <a:srgbClr val="76A5AF"/>
                </a:solidFill>
                <a:latin typeface="Consolas"/>
                <a:ea typeface="Consolas"/>
                <a:cs typeface="Consolas"/>
                <a:sym typeface="Consolas"/>
              </a:rPr>
              <a:t>Rojo</a:t>
            </a:r>
            <a:r>
              <a:rPr lang="es">
                <a:latin typeface="Consolas"/>
                <a:ea typeface="Consolas"/>
                <a:cs typeface="Consolas"/>
                <a:sym typeface="Consolas"/>
              </a:rPr>
              <a:t>)   </a:t>
            </a:r>
            <a:r>
              <a:rPr lang="es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Mover</a:t>
            </a:r>
            <a:r>
              <a:rPr lang="es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">
                <a:solidFill>
                  <a:srgbClr val="76A5AF"/>
                </a:solidFill>
                <a:latin typeface="Consolas"/>
                <a:ea typeface="Consolas"/>
                <a:cs typeface="Consolas"/>
                <a:sym typeface="Consolas"/>
              </a:rPr>
              <a:t>Norte</a:t>
            </a:r>
            <a:r>
              <a:rPr lang="es">
                <a:latin typeface="Consolas"/>
                <a:ea typeface="Consolas"/>
                <a:cs typeface="Consolas"/>
                <a:sym typeface="Consolas"/>
              </a:rPr>
              <a:t>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Mover</a:t>
            </a:r>
            <a:r>
              <a:rPr lang="es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">
                <a:solidFill>
                  <a:srgbClr val="76A5AF"/>
                </a:solidFill>
                <a:latin typeface="Consolas"/>
                <a:ea typeface="Consolas"/>
                <a:cs typeface="Consolas"/>
                <a:sym typeface="Consolas"/>
              </a:rPr>
              <a:t>Oeste</a:t>
            </a:r>
            <a:r>
              <a:rPr lang="es">
                <a:latin typeface="Consolas"/>
                <a:ea typeface="Consolas"/>
                <a:cs typeface="Consolas"/>
                <a:sym typeface="Consolas"/>
              </a:rPr>
              <a:t>)  </a:t>
            </a:r>
            <a:r>
              <a:rPr lang="es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Poner</a:t>
            </a:r>
            <a:r>
              <a:rPr lang="es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">
                <a:solidFill>
                  <a:srgbClr val="76A5AF"/>
                </a:solidFill>
                <a:latin typeface="Consolas"/>
                <a:ea typeface="Consolas"/>
                <a:cs typeface="Consolas"/>
                <a:sym typeface="Consolas"/>
              </a:rPr>
              <a:t>Rojo</a:t>
            </a:r>
            <a:r>
              <a:rPr lang="es">
                <a:latin typeface="Consolas"/>
                <a:ea typeface="Consolas"/>
                <a:cs typeface="Consolas"/>
                <a:sym typeface="Consolas"/>
              </a:rPr>
              <a:t>)   </a:t>
            </a:r>
            <a:r>
              <a:rPr lang="es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Mover</a:t>
            </a:r>
            <a:r>
              <a:rPr lang="es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">
                <a:solidFill>
                  <a:srgbClr val="76A5AF"/>
                </a:solidFill>
                <a:latin typeface="Consolas"/>
                <a:ea typeface="Consolas"/>
                <a:cs typeface="Consolas"/>
                <a:sym typeface="Consolas"/>
              </a:rPr>
              <a:t>Este</a:t>
            </a:r>
            <a:r>
              <a:rPr lang="es">
                <a:latin typeface="Consolas"/>
                <a:ea typeface="Consolas"/>
                <a:cs typeface="Consolas"/>
                <a:sym typeface="Consolas"/>
              </a:rPr>
              <a:t>)</a:t>
            </a:r>
            <a:endParaRPr>
              <a:solidFill>
                <a:srgbClr val="38761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39" name="Google Shape;539;p61"/>
          <p:cNvSpPr txBox="1">
            <a:spLocks noGrp="1"/>
          </p:cNvSpPr>
          <p:nvPr>
            <p:ph type="title"/>
          </p:nvPr>
        </p:nvSpPr>
        <p:spPr>
          <a:xfrm>
            <a:off x="62100" y="-37200"/>
            <a:ext cx="6978300" cy="70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El mismo código, pero con comentarios</a:t>
            </a:r>
            <a:endParaRPr/>
          </a:p>
        </p:txBody>
      </p:sp>
      <p:sp>
        <p:nvSpPr>
          <p:cNvPr id="540" name="Google Shape;540;p61"/>
          <p:cNvSpPr txBox="1"/>
          <p:nvPr/>
        </p:nvSpPr>
        <p:spPr>
          <a:xfrm>
            <a:off x="3093300" y="857300"/>
            <a:ext cx="5739000" cy="1235100"/>
          </a:xfrm>
          <a:prstGeom prst="rect">
            <a:avLst/>
          </a:prstGeom>
          <a:solidFill>
            <a:srgbClr val="FFE599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/>
              <a:t>El comentario me dice todo lo que necesito saber del programa. Ya no se necesita ejecutarlo para determinar qué hace.</a:t>
            </a:r>
            <a:endParaRPr sz="22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62"/>
          <p:cNvSpPr txBox="1">
            <a:spLocks noGrp="1"/>
          </p:cNvSpPr>
          <p:nvPr>
            <p:ph type="body" idx="1"/>
          </p:nvPr>
        </p:nvSpPr>
        <p:spPr>
          <a:xfrm>
            <a:off x="311700" y="1210133"/>
            <a:ext cx="8520600" cy="541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/>
              <a:t>Para la computadora no son necesarias.</a:t>
            </a:r>
            <a:endParaRPr sz="24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s" sz="2400"/>
              <a:t>Para las personas son absolutamente necesarias.</a:t>
            </a:r>
            <a:endParaRPr sz="24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s" sz="2400"/>
              <a:t>Las reglas de estilo permiten comunicar mejor, y </a:t>
            </a:r>
            <a:r>
              <a:rPr lang="es" sz="2400" b="1"/>
              <a:t>programar es comunicar</a:t>
            </a:r>
            <a:r>
              <a:rPr lang="es" sz="2400"/>
              <a:t>.</a:t>
            </a:r>
            <a:endParaRPr sz="24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s" sz="2400"/>
              <a:t>Es esencial aprender a respetar y aplicar las reglas de estilo para aprobar esta materia. No leemos código mal indentado ni código sin comentarios.</a:t>
            </a:r>
            <a:endParaRPr sz="240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400"/>
              <a:t>Penaliza</a:t>
            </a:r>
            <a:r>
              <a:rPr lang="es"/>
              <a:t>remos</a:t>
            </a:r>
            <a:r>
              <a:rPr lang="es" sz="2400"/>
              <a:t> en los exámenes.</a:t>
            </a:r>
            <a:endParaRPr sz="2400"/>
          </a:p>
        </p:txBody>
      </p:sp>
      <p:sp>
        <p:nvSpPr>
          <p:cNvPr id="546" name="Google Shape;546;p62"/>
          <p:cNvSpPr txBox="1">
            <a:spLocks noGrp="1"/>
          </p:cNvSpPr>
          <p:nvPr>
            <p:ph type="title"/>
          </p:nvPr>
        </p:nvSpPr>
        <p:spPr>
          <a:xfrm>
            <a:off x="62100" y="-37200"/>
            <a:ext cx="6978300" cy="70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Reglas de estilo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63"/>
          <p:cNvSpPr txBox="1">
            <a:spLocks noGrp="1"/>
          </p:cNvSpPr>
          <p:nvPr>
            <p:ph type="body" idx="1"/>
          </p:nvPr>
        </p:nvSpPr>
        <p:spPr>
          <a:xfrm>
            <a:off x="311700" y="1210125"/>
            <a:ext cx="8520600" cy="553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rgbClr val="A64D79"/>
                </a:solidFill>
                <a:latin typeface="Consolas"/>
                <a:ea typeface="Consolas"/>
                <a:cs typeface="Consolas"/>
                <a:sym typeface="Consolas"/>
              </a:rPr>
              <a:t>program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   /*</a:t>
            </a:r>
            <a:endParaRPr>
              <a:solidFill>
                <a:srgbClr val="38761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   Este programa realiza una cruz de color rojo,</a:t>
            </a:r>
            <a:endParaRPr>
              <a:solidFill>
                <a:srgbClr val="38761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   con centro en la celda actual. De haber al</a:t>
            </a:r>
            <a:endParaRPr>
              <a:solidFill>
                <a:srgbClr val="38761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   menos una celda en cada dirección para que el</a:t>
            </a:r>
            <a:endParaRPr>
              <a:solidFill>
                <a:srgbClr val="38761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   programa funcione correctamente.</a:t>
            </a:r>
            <a:endParaRPr>
              <a:solidFill>
                <a:srgbClr val="38761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   */</a:t>
            </a:r>
            <a:endParaRPr>
              <a:solidFill>
                <a:srgbClr val="38761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Poner</a:t>
            </a:r>
            <a:r>
              <a:rPr lang="es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">
                <a:solidFill>
                  <a:srgbClr val="76A5AF"/>
                </a:solidFill>
                <a:latin typeface="Consolas"/>
                <a:ea typeface="Consolas"/>
                <a:cs typeface="Consolas"/>
                <a:sym typeface="Consolas"/>
              </a:rPr>
              <a:t>Rojo</a:t>
            </a:r>
            <a:r>
              <a:rPr lang="es">
                <a:latin typeface="Consolas"/>
                <a:ea typeface="Consolas"/>
                <a:cs typeface="Consolas"/>
                <a:sym typeface="Consolas"/>
              </a:rPr>
              <a:t>)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    Mover</a:t>
            </a:r>
            <a:r>
              <a:rPr lang="es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">
                <a:solidFill>
                  <a:srgbClr val="76A5AF"/>
                </a:solidFill>
                <a:latin typeface="Consolas"/>
                <a:ea typeface="Consolas"/>
                <a:cs typeface="Consolas"/>
                <a:sym typeface="Consolas"/>
              </a:rPr>
              <a:t>Este</a:t>
            </a:r>
            <a:r>
              <a:rPr lang="es">
                <a:latin typeface="Consolas"/>
                <a:ea typeface="Consolas"/>
                <a:cs typeface="Consolas"/>
                <a:sym typeface="Consolas"/>
              </a:rPr>
              <a:t>)   </a:t>
            </a:r>
            <a:r>
              <a:rPr lang="es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Poner</a:t>
            </a:r>
            <a:r>
              <a:rPr lang="es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">
                <a:solidFill>
                  <a:srgbClr val="76A5AF"/>
                </a:solidFill>
                <a:latin typeface="Consolas"/>
                <a:ea typeface="Consolas"/>
                <a:cs typeface="Consolas"/>
                <a:sym typeface="Consolas"/>
              </a:rPr>
              <a:t>Rojo</a:t>
            </a:r>
            <a:r>
              <a:rPr lang="es">
                <a:latin typeface="Consolas"/>
                <a:ea typeface="Consolas"/>
                <a:cs typeface="Consolas"/>
                <a:sym typeface="Consolas"/>
              </a:rPr>
              <a:t>)   </a:t>
            </a:r>
            <a:r>
              <a:rPr lang="es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Mover</a:t>
            </a:r>
            <a:r>
              <a:rPr lang="es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">
                <a:solidFill>
                  <a:srgbClr val="76A5AF"/>
                </a:solidFill>
                <a:latin typeface="Consolas"/>
                <a:ea typeface="Consolas"/>
                <a:cs typeface="Consolas"/>
                <a:sym typeface="Consolas"/>
              </a:rPr>
              <a:t>Oeste</a:t>
            </a:r>
            <a:r>
              <a:rPr lang="es">
                <a:latin typeface="Consolas"/>
                <a:ea typeface="Consolas"/>
                <a:cs typeface="Consolas"/>
                <a:sym typeface="Consolas"/>
              </a:rPr>
              <a:t>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Mover</a:t>
            </a:r>
            <a:r>
              <a:rPr lang="es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">
                <a:solidFill>
                  <a:srgbClr val="76A5AF"/>
                </a:solidFill>
                <a:latin typeface="Consolas"/>
                <a:ea typeface="Consolas"/>
                <a:cs typeface="Consolas"/>
                <a:sym typeface="Consolas"/>
              </a:rPr>
              <a:t>Norte</a:t>
            </a:r>
            <a:r>
              <a:rPr lang="es">
                <a:latin typeface="Consolas"/>
                <a:ea typeface="Consolas"/>
                <a:cs typeface="Consolas"/>
                <a:sym typeface="Consolas"/>
              </a:rPr>
              <a:t>)  </a:t>
            </a:r>
            <a:r>
              <a:rPr lang="es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Poner</a:t>
            </a:r>
            <a:r>
              <a:rPr lang="es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">
                <a:solidFill>
                  <a:srgbClr val="76A5AF"/>
                </a:solidFill>
                <a:latin typeface="Consolas"/>
                <a:ea typeface="Consolas"/>
                <a:cs typeface="Consolas"/>
                <a:sym typeface="Consolas"/>
              </a:rPr>
              <a:t>Rojo</a:t>
            </a:r>
            <a:r>
              <a:rPr lang="es">
                <a:latin typeface="Consolas"/>
                <a:ea typeface="Consolas"/>
                <a:cs typeface="Consolas"/>
                <a:sym typeface="Consolas"/>
              </a:rPr>
              <a:t>)   </a:t>
            </a:r>
            <a:r>
              <a:rPr lang="es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Mover</a:t>
            </a:r>
            <a:r>
              <a:rPr lang="es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">
                <a:solidFill>
                  <a:srgbClr val="76A5AF"/>
                </a:solidFill>
                <a:latin typeface="Consolas"/>
                <a:ea typeface="Consolas"/>
                <a:cs typeface="Consolas"/>
                <a:sym typeface="Consolas"/>
              </a:rPr>
              <a:t>Sur</a:t>
            </a:r>
            <a:r>
              <a:rPr lang="es">
                <a:latin typeface="Consolas"/>
                <a:ea typeface="Consolas"/>
                <a:cs typeface="Consolas"/>
                <a:sym typeface="Consolas"/>
              </a:rPr>
              <a:t>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Mover</a:t>
            </a:r>
            <a:r>
              <a:rPr lang="es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">
                <a:solidFill>
                  <a:srgbClr val="76A5AF"/>
                </a:solidFill>
                <a:latin typeface="Consolas"/>
                <a:ea typeface="Consolas"/>
                <a:cs typeface="Consolas"/>
                <a:sym typeface="Consolas"/>
              </a:rPr>
              <a:t>Sur</a:t>
            </a:r>
            <a:r>
              <a:rPr lang="es">
                <a:latin typeface="Consolas"/>
                <a:ea typeface="Consolas"/>
                <a:cs typeface="Consolas"/>
                <a:sym typeface="Consolas"/>
              </a:rPr>
              <a:t>)    </a:t>
            </a:r>
            <a:r>
              <a:rPr lang="es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Poner</a:t>
            </a:r>
            <a:r>
              <a:rPr lang="es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">
                <a:solidFill>
                  <a:srgbClr val="76A5AF"/>
                </a:solidFill>
                <a:latin typeface="Consolas"/>
                <a:ea typeface="Consolas"/>
                <a:cs typeface="Consolas"/>
                <a:sym typeface="Consolas"/>
              </a:rPr>
              <a:t>Rojo</a:t>
            </a:r>
            <a:r>
              <a:rPr lang="es">
                <a:latin typeface="Consolas"/>
                <a:ea typeface="Consolas"/>
                <a:cs typeface="Consolas"/>
                <a:sym typeface="Consolas"/>
              </a:rPr>
              <a:t>)   </a:t>
            </a:r>
            <a:r>
              <a:rPr lang="es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Mover</a:t>
            </a:r>
            <a:r>
              <a:rPr lang="es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">
                <a:solidFill>
                  <a:srgbClr val="76A5AF"/>
                </a:solidFill>
                <a:latin typeface="Consolas"/>
                <a:ea typeface="Consolas"/>
                <a:cs typeface="Consolas"/>
                <a:sym typeface="Consolas"/>
              </a:rPr>
              <a:t>Norte</a:t>
            </a:r>
            <a:r>
              <a:rPr lang="es">
                <a:latin typeface="Consolas"/>
                <a:ea typeface="Consolas"/>
                <a:cs typeface="Consolas"/>
                <a:sym typeface="Consolas"/>
              </a:rPr>
              <a:t>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Mover</a:t>
            </a:r>
            <a:r>
              <a:rPr lang="es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">
                <a:solidFill>
                  <a:srgbClr val="76A5AF"/>
                </a:solidFill>
                <a:latin typeface="Consolas"/>
                <a:ea typeface="Consolas"/>
                <a:cs typeface="Consolas"/>
                <a:sym typeface="Consolas"/>
              </a:rPr>
              <a:t>Oeste</a:t>
            </a:r>
            <a:r>
              <a:rPr lang="es">
                <a:latin typeface="Consolas"/>
                <a:ea typeface="Consolas"/>
                <a:cs typeface="Consolas"/>
                <a:sym typeface="Consolas"/>
              </a:rPr>
              <a:t>)  </a:t>
            </a:r>
            <a:r>
              <a:rPr lang="es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Poner</a:t>
            </a:r>
            <a:r>
              <a:rPr lang="es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">
                <a:solidFill>
                  <a:srgbClr val="76A5AF"/>
                </a:solidFill>
                <a:latin typeface="Consolas"/>
                <a:ea typeface="Consolas"/>
                <a:cs typeface="Consolas"/>
                <a:sym typeface="Consolas"/>
              </a:rPr>
              <a:t>Rojo</a:t>
            </a:r>
            <a:r>
              <a:rPr lang="es">
                <a:latin typeface="Consolas"/>
                <a:ea typeface="Consolas"/>
                <a:cs typeface="Consolas"/>
                <a:sym typeface="Consolas"/>
              </a:rPr>
              <a:t>)   </a:t>
            </a:r>
            <a:r>
              <a:rPr lang="es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Mover</a:t>
            </a:r>
            <a:r>
              <a:rPr lang="es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">
                <a:solidFill>
                  <a:srgbClr val="76A5AF"/>
                </a:solidFill>
                <a:latin typeface="Consolas"/>
                <a:ea typeface="Consolas"/>
                <a:cs typeface="Consolas"/>
                <a:sym typeface="Consolas"/>
              </a:rPr>
              <a:t>Este</a:t>
            </a:r>
            <a:r>
              <a:rPr lang="es">
                <a:latin typeface="Consolas"/>
                <a:ea typeface="Consolas"/>
                <a:cs typeface="Consolas"/>
                <a:sym typeface="Consolas"/>
              </a:rPr>
              <a:t>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solidFill>
                <a:srgbClr val="A64D79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52" name="Google Shape;552;p63"/>
          <p:cNvSpPr txBox="1">
            <a:spLocks noGrp="1"/>
          </p:cNvSpPr>
          <p:nvPr>
            <p:ph type="title"/>
          </p:nvPr>
        </p:nvSpPr>
        <p:spPr>
          <a:xfrm>
            <a:off x="62100" y="-37200"/>
            <a:ext cx="6978300" cy="70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¿Es correcto este código?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64"/>
          <p:cNvSpPr txBox="1">
            <a:spLocks noGrp="1"/>
          </p:cNvSpPr>
          <p:nvPr>
            <p:ph type="body" idx="1"/>
          </p:nvPr>
        </p:nvSpPr>
        <p:spPr>
          <a:xfrm>
            <a:off x="311700" y="1210125"/>
            <a:ext cx="8520600" cy="558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rgbClr val="A64D79"/>
                </a:solidFill>
                <a:latin typeface="Consolas"/>
                <a:ea typeface="Consolas"/>
                <a:cs typeface="Consolas"/>
                <a:sym typeface="Consolas"/>
              </a:rPr>
              <a:t>program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   /*</a:t>
            </a:r>
            <a:endParaRPr>
              <a:solidFill>
                <a:srgbClr val="38761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   Este programa realiza una cruz de color rojo,</a:t>
            </a:r>
            <a:endParaRPr>
              <a:solidFill>
                <a:srgbClr val="38761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   con centro en la celda actual. De haber al</a:t>
            </a:r>
            <a:endParaRPr>
              <a:solidFill>
                <a:srgbClr val="38761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   menos una celda en cada dirección para que el</a:t>
            </a:r>
            <a:endParaRPr>
              <a:solidFill>
                <a:srgbClr val="38761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   programa funcione correctamente.</a:t>
            </a:r>
            <a:endParaRPr>
              <a:solidFill>
                <a:srgbClr val="38761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   */</a:t>
            </a:r>
            <a:endParaRPr>
              <a:solidFill>
                <a:srgbClr val="38761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Poner</a:t>
            </a:r>
            <a:r>
              <a:rPr lang="es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">
                <a:solidFill>
                  <a:srgbClr val="76A5AF"/>
                </a:solidFill>
                <a:latin typeface="Consolas"/>
                <a:ea typeface="Consolas"/>
                <a:cs typeface="Consolas"/>
                <a:sym typeface="Consolas"/>
              </a:rPr>
              <a:t>Rojo</a:t>
            </a:r>
            <a:r>
              <a:rPr lang="es">
                <a:latin typeface="Consolas"/>
                <a:ea typeface="Consolas"/>
                <a:cs typeface="Consolas"/>
                <a:sym typeface="Consolas"/>
              </a:rPr>
              <a:t>)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    Mover</a:t>
            </a:r>
            <a:r>
              <a:rPr lang="es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">
                <a:solidFill>
                  <a:srgbClr val="76A5AF"/>
                </a:solidFill>
                <a:latin typeface="Consolas"/>
                <a:ea typeface="Consolas"/>
                <a:cs typeface="Consolas"/>
                <a:sym typeface="Consolas"/>
              </a:rPr>
              <a:t>Este</a:t>
            </a:r>
            <a:r>
              <a:rPr lang="es">
                <a:latin typeface="Consolas"/>
                <a:ea typeface="Consolas"/>
                <a:cs typeface="Consolas"/>
                <a:sym typeface="Consolas"/>
              </a:rPr>
              <a:t>)   </a:t>
            </a:r>
            <a:r>
              <a:rPr lang="es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Poner</a:t>
            </a:r>
            <a:r>
              <a:rPr lang="es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">
                <a:solidFill>
                  <a:srgbClr val="76A5AF"/>
                </a:solidFill>
                <a:latin typeface="Consolas"/>
                <a:ea typeface="Consolas"/>
                <a:cs typeface="Consolas"/>
                <a:sym typeface="Consolas"/>
              </a:rPr>
              <a:t>Rojo</a:t>
            </a:r>
            <a:r>
              <a:rPr lang="es">
                <a:latin typeface="Consolas"/>
                <a:ea typeface="Consolas"/>
                <a:cs typeface="Consolas"/>
                <a:sym typeface="Consolas"/>
              </a:rPr>
              <a:t>)   </a:t>
            </a:r>
            <a:r>
              <a:rPr lang="es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Mover</a:t>
            </a:r>
            <a:r>
              <a:rPr lang="es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">
                <a:solidFill>
                  <a:srgbClr val="76A5AF"/>
                </a:solidFill>
                <a:latin typeface="Consolas"/>
                <a:ea typeface="Consolas"/>
                <a:cs typeface="Consolas"/>
                <a:sym typeface="Consolas"/>
              </a:rPr>
              <a:t>Oeste</a:t>
            </a:r>
            <a:r>
              <a:rPr lang="es">
                <a:latin typeface="Consolas"/>
                <a:ea typeface="Consolas"/>
                <a:cs typeface="Consolas"/>
                <a:sym typeface="Consolas"/>
              </a:rPr>
              <a:t>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Mover</a:t>
            </a:r>
            <a:r>
              <a:rPr lang="es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">
                <a:solidFill>
                  <a:srgbClr val="76A5AF"/>
                </a:solidFill>
                <a:latin typeface="Consolas"/>
                <a:ea typeface="Consolas"/>
                <a:cs typeface="Consolas"/>
                <a:sym typeface="Consolas"/>
              </a:rPr>
              <a:t>Norte</a:t>
            </a:r>
            <a:r>
              <a:rPr lang="es">
                <a:latin typeface="Consolas"/>
                <a:ea typeface="Consolas"/>
                <a:cs typeface="Consolas"/>
                <a:sym typeface="Consolas"/>
              </a:rPr>
              <a:t>)  </a:t>
            </a:r>
            <a:r>
              <a:rPr lang="es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Poner</a:t>
            </a:r>
            <a:r>
              <a:rPr lang="es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">
                <a:solidFill>
                  <a:srgbClr val="76A5AF"/>
                </a:solidFill>
                <a:latin typeface="Consolas"/>
                <a:ea typeface="Consolas"/>
                <a:cs typeface="Consolas"/>
                <a:sym typeface="Consolas"/>
              </a:rPr>
              <a:t>Rojo</a:t>
            </a:r>
            <a:r>
              <a:rPr lang="es">
                <a:latin typeface="Consolas"/>
                <a:ea typeface="Consolas"/>
                <a:cs typeface="Consolas"/>
                <a:sym typeface="Consolas"/>
              </a:rPr>
              <a:t>)   </a:t>
            </a:r>
            <a:r>
              <a:rPr lang="es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Mover</a:t>
            </a:r>
            <a:r>
              <a:rPr lang="es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">
                <a:solidFill>
                  <a:srgbClr val="76A5AF"/>
                </a:solidFill>
                <a:latin typeface="Consolas"/>
                <a:ea typeface="Consolas"/>
                <a:cs typeface="Consolas"/>
                <a:sym typeface="Consolas"/>
              </a:rPr>
              <a:t>Sur</a:t>
            </a:r>
            <a:r>
              <a:rPr lang="es">
                <a:latin typeface="Consolas"/>
                <a:ea typeface="Consolas"/>
                <a:cs typeface="Consolas"/>
                <a:sym typeface="Consolas"/>
              </a:rPr>
              <a:t>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Mover</a:t>
            </a:r>
            <a:r>
              <a:rPr lang="es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">
                <a:solidFill>
                  <a:srgbClr val="76A5AF"/>
                </a:solidFill>
                <a:latin typeface="Consolas"/>
                <a:ea typeface="Consolas"/>
                <a:cs typeface="Consolas"/>
                <a:sym typeface="Consolas"/>
              </a:rPr>
              <a:t>Sur</a:t>
            </a:r>
            <a:r>
              <a:rPr lang="es">
                <a:latin typeface="Consolas"/>
                <a:ea typeface="Consolas"/>
                <a:cs typeface="Consolas"/>
                <a:sym typeface="Consolas"/>
              </a:rPr>
              <a:t>)    </a:t>
            </a:r>
            <a:r>
              <a:rPr lang="es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Poner</a:t>
            </a:r>
            <a:r>
              <a:rPr lang="es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">
                <a:solidFill>
                  <a:srgbClr val="76A5AF"/>
                </a:solidFill>
                <a:latin typeface="Consolas"/>
                <a:ea typeface="Consolas"/>
                <a:cs typeface="Consolas"/>
                <a:sym typeface="Consolas"/>
              </a:rPr>
              <a:t>Rojo</a:t>
            </a:r>
            <a:r>
              <a:rPr lang="es">
                <a:latin typeface="Consolas"/>
                <a:ea typeface="Consolas"/>
                <a:cs typeface="Consolas"/>
                <a:sym typeface="Consolas"/>
              </a:rPr>
              <a:t>)   </a:t>
            </a:r>
            <a:r>
              <a:rPr lang="es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Mover</a:t>
            </a:r>
            <a:r>
              <a:rPr lang="es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">
                <a:solidFill>
                  <a:srgbClr val="76A5AF"/>
                </a:solidFill>
                <a:latin typeface="Consolas"/>
                <a:ea typeface="Consolas"/>
                <a:cs typeface="Consolas"/>
                <a:sym typeface="Consolas"/>
              </a:rPr>
              <a:t>Norte</a:t>
            </a:r>
            <a:r>
              <a:rPr lang="es">
                <a:latin typeface="Consolas"/>
                <a:ea typeface="Consolas"/>
                <a:cs typeface="Consolas"/>
                <a:sym typeface="Consolas"/>
              </a:rPr>
              <a:t>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Mover</a:t>
            </a:r>
            <a:r>
              <a:rPr lang="es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">
                <a:solidFill>
                  <a:srgbClr val="76A5AF"/>
                </a:solidFill>
                <a:latin typeface="Consolas"/>
                <a:ea typeface="Consolas"/>
                <a:cs typeface="Consolas"/>
                <a:sym typeface="Consolas"/>
              </a:rPr>
              <a:t>Oeste</a:t>
            </a:r>
            <a:r>
              <a:rPr lang="es">
                <a:latin typeface="Consolas"/>
                <a:ea typeface="Consolas"/>
                <a:cs typeface="Consolas"/>
                <a:sym typeface="Consolas"/>
              </a:rPr>
              <a:t>)  </a:t>
            </a:r>
            <a:r>
              <a:rPr lang="es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Poner</a:t>
            </a:r>
            <a:r>
              <a:rPr lang="es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">
                <a:solidFill>
                  <a:srgbClr val="76A5AF"/>
                </a:solidFill>
                <a:latin typeface="Consolas"/>
                <a:ea typeface="Consolas"/>
                <a:cs typeface="Consolas"/>
                <a:sym typeface="Consolas"/>
              </a:rPr>
              <a:t>Rojo</a:t>
            </a:r>
            <a:r>
              <a:rPr lang="es">
                <a:latin typeface="Consolas"/>
                <a:ea typeface="Consolas"/>
                <a:cs typeface="Consolas"/>
                <a:sym typeface="Consolas"/>
              </a:rPr>
              <a:t>)   </a:t>
            </a:r>
            <a:r>
              <a:rPr lang="es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Mover</a:t>
            </a:r>
            <a:r>
              <a:rPr lang="es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">
                <a:solidFill>
                  <a:srgbClr val="76A5AF"/>
                </a:solidFill>
                <a:latin typeface="Consolas"/>
                <a:ea typeface="Consolas"/>
                <a:cs typeface="Consolas"/>
                <a:sym typeface="Consolas"/>
              </a:rPr>
              <a:t>Este</a:t>
            </a:r>
            <a:r>
              <a:rPr lang="es">
                <a:latin typeface="Consolas"/>
                <a:ea typeface="Consolas"/>
                <a:cs typeface="Consolas"/>
                <a:sym typeface="Consolas"/>
              </a:rPr>
              <a:t>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solidFill>
                <a:srgbClr val="A64D79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58" name="Google Shape;558;p64"/>
          <p:cNvSpPr txBox="1">
            <a:spLocks noGrp="1"/>
          </p:cNvSpPr>
          <p:nvPr>
            <p:ph type="title"/>
          </p:nvPr>
        </p:nvSpPr>
        <p:spPr>
          <a:xfrm>
            <a:off x="62100" y="-37200"/>
            <a:ext cx="6978300" cy="70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¿Es correcto este código?</a:t>
            </a:r>
            <a:endParaRPr/>
          </a:p>
        </p:txBody>
      </p:sp>
      <p:sp>
        <p:nvSpPr>
          <p:cNvPr id="559" name="Google Shape;559;p64"/>
          <p:cNvSpPr/>
          <p:nvPr/>
        </p:nvSpPr>
        <p:spPr>
          <a:xfrm>
            <a:off x="1612775" y="1146375"/>
            <a:ext cx="711900" cy="702300"/>
          </a:xfrm>
          <a:prstGeom prst="ellipse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64"/>
          <p:cNvSpPr txBox="1"/>
          <p:nvPr/>
        </p:nvSpPr>
        <p:spPr>
          <a:xfrm>
            <a:off x="3211050" y="954975"/>
            <a:ext cx="4736700" cy="957600"/>
          </a:xfrm>
          <a:prstGeom prst="rect">
            <a:avLst/>
          </a:prstGeom>
          <a:solidFill>
            <a:srgbClr val="EA9999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/>
              <a:t>Como el código está indentado, es más fácil darse cuenta que olvidamos una llave. Siempre hay que indentar.</a:t>
            </a:r>
            <a:endParaRPr sz="1800"/>
          </a:p>
        </p:txBody>
      </p:sp>
      <p:cxnSp>
        <p:nvCxnSpPr>
          <p:cNvPr id="561" name="Google Shape;561;p64"/>
          <p:cNvCxnSpPr>
            <a:stCxn id="560" idx="1"/>
            <a:endCxn id="559" idx="6"/>
          </p:cNvCxnSpPr>
          <p:nvPr/>
        </p:nvCxnSpPr>
        <p:spPr>
          <a:xfrm flipH="1">
            <a:off x="2324550" y="1433775"/>
            <a:ext cx="886500" cy="639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65"/>
          <p:cNvSpPr txBox="1">
            <a:spLocks noGrp="1"/>
          </p:cNvSpPr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Contratos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66"/>
          <p:cNvSpPr txBox="1">
            <a:spLocks noGrp="1"/>
          </p:cNvSpPr>
          <p:nvPr>
            <p:ph type="title"/>
          </p:nvPr>
        </p:nvSpPr>
        <p:spPr>
          <a:xfrm>
            <a:off x="62100" y="-37200"/>
            <a:ext cx="6978300" cy="70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900"/>
              <a:t>Contratos: </a:t>
            </a:r>
            <a:r>
              <a:rPr lang="es" sz="2900" b="1"/>
              <a:t>Propósitos</a:t>
            </a:r>
            <a:r>
              <a:rPr lang="es" sz="2900"/>
              <a:t> y Precondiciones</a:t>
            </a:r>
            <a:endParaRPr sz="2900"/>
          </a:p>
        </p:txBody>
      </p:sp>
      <p:sp>
        <p:nvSpPr>
          <p:cNvPr id="572" name="Google Shape;572;p66"/>
          <p:cNvSpPr txBox="1"/>
          <p:nvPr/>
        </p:nvSpPr>
        <p:spPr>
          <a:xfrm>
            <a:off x="517500" y="1137150"/>
            <a:ext cx="8109000" cy="22719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es" sz="2400"/>
              <a:t>Un programa describe la solución a un problema</a:t>
            </a:r>
            <a:endParaRPr sz="2400"/>
          </a:p>
          <a:p>
            <a:pPr marL="914400" marR="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s" sz="2400"/>
              <a:t>En términos de transformar un tablero en otro</a:t>
            </a:r>
            <a:endParaRPr sz="2400"/>
          </a:p>
          <a:p>
            <a: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" sz="2400"/>
              <a:t>¿Cómo saber qué problema soluciona?</a:t>
            </a:r>
            <a:endParaRPr sz="2400"/>
          </a:p>
          <a:p>
            <a:pPr marL="914400" marR="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s" sz="2400" b="1" i="1"/>
              <a:t>PROPÓSITO </a:t>
            </a:r>
            <a:r>
              <a:rPr lang="es" sz="2400"/>
              <a:t>es lo que debería hacer el programa</a:t>
            </a:r>
            <a:endParaRPr sz="2400"/>
          </a:p>
          <a:p>
            <a:pPr marL="914400" marR="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s" sz="2400"/>
              <a:t>Es importante escribirlo como comentario</a:t>
            </a:r>
            <a:endParaRPr sz="24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73" name="Google Shape;573;p66"/>
          <p:cNvSpPr txBox="1"/>
          <p:nvPr/>
        </p:nvSpPr>
        <p:spPr>
          <a:xfrm>
            <a:off x="1845275" y="3532400"/>
            <a:ext cx="5913600" cy="32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A64D79"/>
                </a:solidFill>
                <a:latin typeface="Consolas"/>
                <a:ea typeface="Consolas"/>
                <a:cs typeface="Consolas"/>
                <a:sym typeface="Consolas"/>
              </a:rPr>
              <a:t>program</a:t>
            </a:r>
            <a:r>
              <a:rPr lang="es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8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   /*</a:t>
            </a:r>
            <a:endParaRPr sz="1800">
              <a:solidFill>
                <a:srgbClr val="38761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       PROPÓSITO: Poner una bolita de cada</a:t>
            </a:r>
            <a:endParaRPr sz="1800">
              <a:solidFill>
                <a:srgbClr val="38761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         color en la celda actual.</a:t>
            </a:r>
            <a:endParaRPr sz="1800">
              <a:solidFill>
                <a:srgbClr val="38761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   */</a:t>
            </a:r>
            <a:endParaRPr sz="1800">
              <a:solidFill>
                <a:srgbClr val="38761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" sz="18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Poner</a:t>
            </a:r>
            <a:r>
              <a:rPr lang="es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" sz="1800">
                <a:solidFill>
                  <a:srgbClr val="76A5AF"/>
                </a:solidFill>
                <a:latin typeface="Consolas"/>
                <a:ea typeface="Consolas"/>
                <a:cs typeface="Consolas"/>
                <a:sym typeface="Consolas"/>
              </a:rPr>
              <a:t>Rojo</a:t>
            </a:r>
            <a:r>
              <a:rPr lang="es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endParaRPr sz="18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    Poner</a:t>
            </a:r>
            <a:r>
              <a:rPr lang="es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" sz="1800">
                <a:solidFill>
                  <a:srgbClr val="76A5AF"/>
                </a:solidFill>
                <a:latin typeface="Consolas"/>
                <a:ea typeface="Consolas"/>
                <a:cs typeface="Consolas"/>
                <a:sym typeface="Consolas"/>
              </a:rPr>
              <a:t>Verde</a:t>
            </a:r>
            <a:r>
              <a:rPr lang="es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8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    Poner</a:t>
            </a:r>
            <a:r>
              <a:rPr lang="es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" sz="1800">
                <a:solidFill>
                  <a:srgbClr val="76A5AF"/>
                </a:solidFill>
                <a:latin typeface="Consolas"/>
                <a:ea typeface="Consolas"/>
                <a:cs typeface="Consolas"/>
                <a:sym typeface="Consolas"/>
              </a:rPr>
              <a:t>Negro</a:t>
            </a:r>
            <a:r>
              <a:rPr lang="es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8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    Poner</a:t>
            </a:r>
            <a:r>
              <a:rPr lang="es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" sz="1800">
                <a:solidFill>
                  <a:srgbClr val="76A5AF"/>
                </a:solidFill>
                <a:latin typeface="Consolas"/>
                <a:ea typeface="Consolas"/>
                <a:cs typeface="Consolas"/>
                <a:sym typeface="Consolas"/>
              </a:rPr>
              <a:t>Azul</a:t>
            </a:r>
            <a:r>
              <a:rPr lang="es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800">
              <a:solidFill>
                <a:srgbClr val="38761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67"/>
          <p:cNvSpPr txBox="1">
            <a:spLocks noGrp="1"/>
          </p:cNvSpPr>
          <p:nvPr>
            <p:ph type="title"/>
          </p:nvPr>
        </p:nvSpPr>
        <p:spPr>
          <a:xfrm>
            <a:off x="62100" y="-37200"/>
            <a:ext cx="6978300" cy="70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900"/>
              <a:t>Contratos: </a:t>
            </a:r>
            <a:r>
              <a:rPr lang="es" sz="2900" b="1"/>
              <a:t>Propósitos</a:t>
            </a:r>
            <a:r>
              <a:rPr lang="es" sz="2900"/>
              <a:t> y Precondiciones</a:t>
            </a:r>
            <a:endParaRPr/>
          </a:p>
        </p:txBody>
      </p:sp>
      <p:sp>
        <p:nvSpPr>
          <p:cNvPr id="579" name="Google Shape;579;p67"/>
          <p:cNvSpPr txBox="1"/>
          <p:nvPr/>
        </p:nvSpPr>
        <p:spPr>
          <a:xfrm>
            <a:off x="517500" y="1137150"/>
            <a:ext cx="8109000" cy="22719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es" sz="2400"/>
              <a:t>Cuando el efecto de un programa coincide con su propósito, decimos que es un programa </a:t>
            </a:r>
            <a:r>
              <a:rPr lang="es" sz="2400" b="1" i="1"/>
              <a:t>CORRECTO</a:t>
            </a:r>
            <a:endParaRPr sz="2400" b="1" i="1"/>
          </a:p>
          <a:p>
            <a: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es" sz="2400"/>
              <a:t>Si en cambio hace cosas diferentes, es incorrecto</a:t>
            </a:r>
            <a:endParaRPr sz="2400"/>
          </a:p>
          <a:p>
            <a: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es" sz="2400"/>
              <a:t>Hablamos, entonces de </a:t>
            </a:r>
            <a:r>
              <a:rPr lang="es" sz="2400" b="1" i="1"/>
              <a:t>corrección </a:t>
            </a:r>
            <a:r>
              <a:rPr lang="es" sz="2400"/>
              <a:t>de programas</a:t>
            </a:r>
            <a:endParaRPr sz="2400"/>
          </a:p>
          <a:p>
            <a:pPr marL="914400" marR="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s" sz="2400"/>
              <a:t>Por eso es importante documentar el propósito</a:t>
            </a:r>
            <a:endParaRPr sz="24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80" name="Google Shape;580;p67"/>
          <p:cNvSpPr txBox="1"/>
          <p:nvPr/>
        </p:nvSpPr>
        <p:spPr>
          <a:xfrm>
            <a:off x="1845275" y="3532400"/>
            <a:ext cx="5913600" cy="32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A64D79"/>
                </a:solidFill>
                <a:latin typeface="Consolas"/>
                <a:ea typeface="Consolas"/>
                <a:cs typeface="Consolas"/>
                <a:sym typeface="Consolas"/>
              </a:rPr>
              <a:t>program</a:t>
            </a:r>
            <a:r>
              <a:rPr lang="es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8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   /*</a:t>
            </a:r>
            <a:endParaRPr sz="1800">
              <a:solidFill>
                <a:srgbClr val="38761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       PROPÓSITO: Poner una bolita de cada</a:t>
            </a:r>
            <a:endParaRPr sz="1800">
              <a:solidFill>
                <a:srgbClr val="38761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         color en la celda actual.</a:t>
            </a:r>
            <a:endParaRPr sz="1800">
              <a:solidFill>
                <a:srgbClr val="38761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   */</a:t>
            </a:r>
            <a:endParaRPr sz="1800">
              <a:solidFill>
                <a:srgbClr val="38761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" sz="18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Poner</a:t>
            </a:r>
            <a:r>
              <a:rPr lang="es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" sz="1800">
                <a:solidFill>
                  <a:srgbClr val="76A5AF"/>
                </a:solidFill>
                <a:latin typeface="Consolas"/>
                <a:ea typeface="Consolas"/>
                <a:cs typeface="Consolas"/>
                <a:sym typeface="Consolas"/>
              </a:rPr>
              <a:t>Rojo</a:t>
            </a:r>
            <a:r>
              <a:rPr lang="es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endParaRPr sz="18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    Poner</a:t>
            </a:r>
            <a:r>
              <a:rPr lang="es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" sz="1800">
                <a:solidFill>
                  <a:srgbClr val="76A5AF"/>
                </a:solidFill>
                <a:latin typeface="Consolas"/>
                <a:ea typeface="Consolas"/>
                <a:cs typeface="Consolas"/>
                <a:sym typeface="Consolas"/>
              </a:rPr>
              <a:t>Verde</a:t>
            </a:r>
            <a:r>
              <a:rPr lang="es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8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    Poner</a:t>
            </a:r>
            <a:r>
              <a:rPr lang="es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" sz="1800">
                <a:solidFill>
                  <a:srgbClr val="76A5AF"/>
                </a:solidFill>
                <a:latin typeface="Consolas"/>
                <a:ea typeface="Consolas"/>
                <a:cs typeface="Consolas"/>
                <a:sym typeface="Consolas"/>
              </a:rPr>
              <a:t>Azul</a:t>
            </a:r>
            <a:r>
              <a:rPr lang="es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8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    Poner</a:t>
            </a:r>
            <a:r>
              <a:rPr lang="es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" sz="1800">
                <a:solidFill>
                  <a:srgbClr val="76A5AF"/>
                </a:solidFill>
                <a:latin typeface="Consolas"/>
                <a:ea typeface="Consolas"/>
                <a:cs typeface="Consolas"/>
                <a:sym typeface="Consolas"/>
              </a:rPr>
              <a:t>Azul</a:t>
            </a:r>
            <a:r>
              <a:rPr lang="es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800">
              <a:solidFill>
                <a:srgbClr val="38761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81" name="Google Shape;581;p67"/>
          <p:cNvSpPr txBox="1"/>
          <p:nvPr/>
        </p:nvSpPr>
        <p:spPr>
          <a:xfrm>
            <a:off x="5550350" y="5488225"/>
            <a:ext cx="2862300" cy="5562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/>
              <a:t>¿Hace lo que debe?</a:t>
            </a:r>
            <a:endParaRPr sz="18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68"/>
          <p:cNvSpPr txBox="1">
            <a:spLocks noGrp="1"/>
          </p:cNvSpPr>
          <p:nvPr>
            <p:ph type="title"/>
          </p:nvPr>
        </p:nvSpPr>
        <p:spPr>
          <a:xfrm>
            <a:off x="62100" y="-37200"/>
            <a:ext cx="6978300" cy="70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900"/>
              <a:t>Contratos: </a:t>
            </a:r>
            <a:r>
              <a:rPr lang="es" sz="2900" b="1"/>
              <a:t>Propósitos</a:t>
            </a:r>
            <a:r>
              <a:rPr lang="es" sz="2900"/>
              <a:t> y Precondiciones</a:t>
            </a:r>
            <a:endParaRPr/>
          </a:p>
        </p:txBody>
      </p:sp>
      <p:sp>
        <p:nvSpPr>
          <p:cNvPr id="587" name="Google Shape;587;p68"/>
          <p:cNvSpPr txBox="1"/>
          <p:nvPr/>
        </p:nvSpPr>
        <p:spPr>
          <a:xfrm>
            <a:off x="517500" y="1137150"/>
            <a:ext cx="8109000" cy="25680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es" sz="2400"/>
              <a:t>Hay que tener en cuenta que el propósito es la descripción del efecto, es decir, la descripción de la transformación entre el tablero inicial y el final.</a:t>
            </a:r>
            <a:endParaRPr sz="2400"/>
          </a:p>
          <a:p>
            <a: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" sz="2400" b="1"/>
              <a:t>No es una descripción del código ni de las operaciones que se realizan para llegar al resultado.</a:t>
            </a:r>
            <a:endParaRPr sz="2400" b="1"/>
          </a:p>
        </p:txBody>
      </p:sp>
      <p:sp>
        <p:nvSpPr>
          <p:cNvPr id="588" name="Google Shape;588;p68"/>
          <p:cNvSpPr txBox="1"/>
          <p:nvPr/>
        </p:nvSpPr>
        <p:spPr>
          <a:xfrm>
            <a:off x="1173350" y="3773825"/>
            <a:ext cx="7468200" cy="30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A64D79"/>
                </a:solidFill>
                <a:latin typeface="Consolas"/>
                <a:ea typeface="Consolas"/>
                <a:cs typeface="Consolas"/>
                <a:sym typeface="Consolas"/>
              </a:rPr>
              <a:t>program</a:t>
            </a:r>
            <a:r>
              <a:rPr lang="es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8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   /* PROPÓSITO: Primero pone una bolita de color Rojo,</a:t>
            </a:r>
            <a:endParaRPr sz="1800">
              <a:solidFill>
                <a:srgbClr val="38761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   luego una Verde, luego una Azul, y por último pone</a:t>
            </a:r>
            <a:endParaRPr sz="1800">
              <a:solidFill>
                <a:srgbClr val="38761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   una de color negro. */</a:t>
            </a:r>
            <a:endParaRPr sz="1800">
              <a:solidFill>
                <a:srgbClr val="38761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" sz="18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Poner</a:t>
            </a:r>
            <a:r>
              <a:rPr lang="es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" sz="1800">
                <a:solidFill>
                  <a:srgbClr val="76A5AF"/>
                </a:solidFill>
                <a:latin typeface="Consolas"/>
                <a:ea typeface="Consolas"/>
                <a:cs typeface="Consolas"/>
                <a:sym typeface="Consolas"/>
              </a:rPr>
              <a:t>Rojo</a:t>
            </a:r>
            <a:r>
              <a:rPr lang="es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endParaRPr sz="18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    Poner</a:t>
            </a:r>
            <a:r>
              <a:rPr lang="es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" sz="1800">
                <a:solidFill>
                  <a:srgbClr val="76A5AF"/>
                </a:solidFill>
                <a:latin typeface="Consolas"/>
                <a:ea typeface="Consolas"/>
                <a:cs typeface="Consolas"/>
                <a:sym typeface="Consolas"/>
              </a:rPr>
              <a:t>Verde</a:t>
            </a:r>
            <a:r>
              <a:rPr lang="es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8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    Poner</a:t>
            </a:r>
            <a:r>
              <a:rPr lang="es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" sz="1800">
                <a:solidFill>
                  <a:srgbClr val="76A5AF"/>
                </a:solidFill>
                <a:latin typeface="Consolas"/>
                <a:ea typeface="Consolas"/>
                <a:cs typeface="Consolas"/>
                <a:sym typeface="Consolas"/>
              </a:rPr>
              <a:t>Azul</a:t>
            </a:r>
            <a:r>
              <a:rPr lang="es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8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    Poner</a:t>
            </a:r>
            <a:r>
              <a:rPr lang="es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" sz="1800">
                <a:solidFill>
                  <a:srgbClr val="76A5AF"/>
                </a:solidFill>
                <a:latin typeface="Consolas"/>
                <a:ea typeface="Consolas"/>
                <a:cs typeface="Consolas"/>
                <a:sym typeface="Consolas"/>
              </a:rPr>
              <a:t>Negro</a:t>
            </a:r>
            <a:r>
              <a:rPr lang="es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800">
              <a:solidFill>
                <a:srgbClr val="38761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89" name="Google Shape;589;p68"/>
          <p:cNvSpPr txBox="1"/>
          <p:nvPr/>
        </p:nvSpPr>
        <p:spPr>
          <a:xfrm>
            <a:off x="5550350" y="5488225"/>
            <a:ext cx="2862300" cy="1021200"/>
          </a:xfrm>
          <a:prstGeom prst="rect">
            <a:avLst/>
          </a:prstGeom>
          <a:solidFill>
            <a:srgbClr val="EA9999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/>
              <a:t>No es un propósito, sino una descripción del funcionamiento.</a:t>
            </a:r>
            <a:endParaRPr sz="18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69"/>
          <p:cNvSpPr txBox="1">
            <a:spLocks noGrp="1"/>
          </p:cNvSpPr>
          <p:nvPr>
            <p:ph type="title"/>
          </p:nvPr>
        </p:nvSpPr>
        <p:spPr>
          <a:xfrm>
            <a:off x="62100" y="-37200"/>
            <a:ext cx="6978300" cy="70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900"/>
              <a:t>Contratos: </a:t>
            </a:r>
            <a:r>
              <a:rPr lang="es" sz="2900" b="1"/>
              <a:t>Propósitos</a:t>
            </a:r>
            <a:r>
              <a:rPr lang="es" sz="2900"/>
              <a:t> y Precondiciones</a:t>
            </a:r>
            <a:endParaRPr/>
          </a:p>
        </p:txBody>
      </p:sp>
      <p:sp>
        <p:nvSpPr>
          <p:cNvPr id="595" name="Google Shape;595;p69"/>
          <p:cNvSpPr txBox="1"/>
          <p:nvPr/>
        </p:nvSpPr>
        <p:spPr>
          <a:xfrm>
            <a:off x="170900" y="2418075"/>
            <a:ext cx="4255800" cy="30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A64D79"/>
                </a:solidFill>
                <a:latin typeface="Consolas"/>
                <a:ea typeface="Consolas"/>
                <a:cs typeface="Consolas"/>
                <a:sym typeface="Consolas"/>
              </a:rPr>
              <a:t>program</a:t>
            </a:r>
            <a:r>
              <a:rPr lang="es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8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   /* PROPÓSITO: Poner una</a:t>
            </a:r>
            <a:endParaRPr sz="1800">
              <a:solidFill>
                <a:srgbClr val="38761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   bolita de color Azul en la</a:t>
            </a:r>
            <a:endParaRPr sz="1800">
              <a:solidFill>
                <a:srgbClr val="38761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   celda lindante al Norte. */</a:t>
            </a:r>
            <a:endParaRPr sz="1800">
              <a:solidFill>
                <a:srgbClr val="38761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" sz="18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Mover</a:t>
            </a:r>
            <a:r>
              <a:rPr lang="es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" sz="1800">
                <a:solidFill>
                  <a:srgbClr val="76A5AF"/>
                </a:solidFill>
                <a:latin typeface="Consolas"/>
                <a:ea typeface="Consolas"/>
                <a:cs typeface="Consolas"/>
                <a:sym typeface="Consolas"/>
              </a:rPr>
              <a:t>Norte</a:t>
            </a:r>
            <a:r>
              <a:rPr lang="es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endParaRPr sz="18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    Poner</a:t>
            </a:r>
            <a:r>
              <a:rPr lang="es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" sz="1800">
                <a:solidFill>
                  <a:srgbClr val="76A5AF"/>
                </a:solidFill>
                <a:latin typeface="Consolas"/>
                <a:ea typeface="Consolas"/>
                <a:cs typeface="Consolas"/>
                <a:sym typeface="Consolas"/>
              </a:rPr>
              <a:t>Azul</a:t>
            </a:r>
            <a:r>
              <a:rPr lang="es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8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    Mover</a:t>
            </a:r>
            <a:r>
              <a:rPr lang="es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" sz="1800">
                <a:solidFill>
                  <a:srgbClr val="76A5AF"/>
                </a:solidFill>
                <a:latin typeface="Consolas"/>
                <a:ea typeface="Consolas"/>
                <a:cs typeface="Consolas"/>
                <a:sym typeface="Consolas"/>
              </a:rPr>
              <a:t>Sur</a:t>
            </a:r>
            <a:r>
              <a:rPr lang="es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800">
              <a:solidFill>
                <a:srgbClr val="38761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96" name="Google Shape;596;p69"/>
          <p:cNvSpPr txBox="1"/>
          <p:nvPr/>
        </p:nvSpPr>
        <p:spPr>
          <a:xfrm>
            <a:off x="3140850" y="5338400"/>
            <a:ext cx="2862300" cy="10212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/>
              <a:t>¿Son programas equivalentes?</a:t>
            </a:r>
            <a:endParaRPr sz="2400"/>
          </a:p>
        </p:txBody>
      </p:sp>
      <p:sp>
        <p:nvSpPr>
          <p:cNvPr id="597" name="Google Shape;597;p69"/>
          <p:cNvSpPr txBox="1"/>
          <p:nvPr/>
        </p:nvSpPr>
        <p:spPr>
          <a:xfrm>
            <a:off x="4696725" y="2409163"/>
            <a:ext cx="4255800" cy="30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A64D79"/>
                </a:solidFill>
                <a:latin typeface="Consolas"/>
                <a:ea typeface="Consolas"/>
                <a:cs typeface="Consolas"/>
                <a:sym typeface="Consolas"/>
              </a:rPr>
              <a:t>program</a:t>
            </a:r>
            <a:r>
              <a:rPr lang="es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8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   /* PROPÓSITO: Poner una</a:t>
            </a:r>
            <a:endParaRPr sz="1800">
              <a:solidFill>
                <a:srgbClr val="38761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   bolita de color Azul en la</a:t>
            </a:r>
            <a:endParaRPr sz="1800">
              <a:solidFill>
                <a:srgbClr val="38761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   celda lindante al Norte. */</a:t>
            </a:r>
            <a:endParaRPr sz="1800">
              <a:solidFill>
                <a:srgbClr val="38761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" sz="18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Mover</a:t>
            </a:r>
            <a:r>
              <a:rPr lang="es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" sz="1800">
                <a:solidFill>
                  <a:srgbClr val="76A5AF"/>
                </a:solidFill>
                <a:latin typeface="Consolas"/>
                <a:ea typeface="Consolas"/>
                <a:cs typeface="Consolas"/>
                <a:sym typeface="Consolas"/>
              </a:rPr>
              <a:t>Norte</a:t>
            </a:r>
            <a:r>
              <a:rPr lang="es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endParaRPr sz="18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    Poner</a:t>
            </a:r>
            <a:r>
              <a:rPr lang="es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" sz="1800">
                <a:solidFill>
                  <a:srgbClr val="76A5AF"/>
                </a:solidFill>
                <a:latin typeface="Consolas"/>
                <a:ea typeface="Consolas"/>
                <a:cs typeface="Consolas"/>
                <a:sym typeface="Consolas"/>
              </a:rPr>
              <a:t>Azul</a:t>
            </a:r>
            <a:r>
              <a:rPr lang="es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8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98" name="Google Shape;598;p69"/>
          <p:cNvSpPr txBox="1"/>
          <p:nvPr/>
        </p:nvSpPr>
        <p:spPr>
          <a:xfrm>
            <a:off x="4870850" y="1129675"/>
            <a:ext cx="3053400" cy="11223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/>
              <a:t>Lindante a una dirección La que está inmediatamente pegada hacia esa dirección.</a:t>
            </a:r>
            <a:endParaRPr sz="1800"/>
          </a:p>
        </p:txBody>
      </p:sp>
      <p:cxnSp>
        <p:nvCxnSpPr>
          <p:cNvPr id="599" name="Google Shape;599;p69"/>
          <p:cNvCxnSpPr>
            <a:stCxn id="598" idx="1"/>
            <a:endCxn id="600" idx="0"/>
          </p:cNvCxnSpPr>
          <p:nvPr/>
        </p:nvCxnSpPr>
        <p:spPr>
          <a:xfrm flipH="1">
            <a:off x="2616950" y="1690825"/>
            <a:ext cx="2253900" cy="16365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00" name="Google Shape;600;p69"/>
          <p:cNvSpPr/>
          <p:nvPr/>
        </p:nvSpPr>
        <p:spPr>
          <a:xfrm>
            <a:off x="1340150" y="3327300"/>
            <a:ext cx="2553900" cy="526500"/>
          </a:xfrm>
          <a:prstGeom prst="ellipse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70"/>
          <p:cNvSpPr txBox="1">
            <a:spLocks noGrp="1"/>
          </p:cNvSpPr>
          <p:nvPr>
            <p:ph type="title"/>
          </p:nvPr>
        </p:nvSpPr>
        <p:spPr>
          <a:xfrm>
            <a:off x="62100" y="-37200"/>
            <a:ext cx="6978300" cy="70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900"/>
              <a:t>Contratos: </a:t>
            </a:r>
            <a:r>
              <a:rPr lang="es" sz="2900" b="1"/>
              <a:t>Propósitos</a:t>
            </a:r>
            <a:r>
              <a:rPr lang="es" sz="2900"/>
              <a:t> y Precondiciones</a:t>
            </a:r>
            <a:endParaRPr/>
          </a:p>
        </p:txBody>
      </p:sp>
      <p:sp>
        <p:nvSpPr>
          <p:cNvPr id="606" name="Google Shape;606;p70"/>
          <p:cNvSpPr txBox="1"/>
          <p:nvPr/>
        </p:nvSpPr>
        <p:spPr>
          <a:xfrm>
            <a:off x="170900" y="2418075"/>
            <a:ext cx="4255800" cy="30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A64D79"/>
                </a:solidFill>
                <a:latin typeface="Consolas"/>
                <a:ea typeface="Consolas"/>
                <a:cs typeface="Consolas"/>
                <a:sym typeface="Consolas"/>
              </a:rPr>
              <a:t>program</a:t>
            </a:r>
            <a:r>
              <a:rPr lang="es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8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   /* PROPÓSITO: Poner una</a:t>
            </a:r>
            <a:endParaRPr sz="1800">
              <a:solidFill>
                <a:srgbClr val="38761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   bolita de color Azul en la</a:t>
            </a:r>
            <a:endParaRPr sz="1800">
              <a:solidFill>
                <a:srgbClr val="38761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   celda lindante al Norte. */</a:t>
            </a:r>
            <a:endParaRPr sz="1800">
              <a:solidFill>
                <a:srgbClr val="38761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" sz="18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Mover</a:t>
            </a:r>
            <a:r>
              <a:rPr lang="es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" sz="1800">
                <a:solidFill>
                  <a:srgbClr val="76A5AF"/>
                </a:solidFill>
                <a:latin typeface="Consolas"/>
                <a:ea typeface="Consolas"/>
                <a:cs typeface="Consolas"/>
                <a:sym typeface="Consolas"/>
              </a:rPr>
              <a:t>Norte</a:t>
            </a:r>
            <a:r>
              <a:rPr lang="es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endParaRPr sz="18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    Poner</a:t>
            </a:r>
            <a:r>
              <a:rPr lang="es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" sz="1800">
                <a:solidFill>
                  <a:srgbClr val="76A5AF"/>
                </a:solidFill>
                <a:latin typeface="Consolas"/>
                <a:ea typeface="Consolas"/>
                <a:cs typeface="Consolas"/>
                <a:sym typeface="Consolas"/>
              </a:rPr>
              <a:t>Azul</a:t>
            </a:r>
            <a:r>
              <a:rPr lang="es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8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    Mover</a:t>
            </a:r>
            <a:r>
              <a:rPr lang="es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" sz="1800">
                <a:solidFill>
                  <a:srgbClr val="76A5AF"/>
                </a:solidFill>
                <a:latin typeface="Consolas"/>
                <a:ea typeface="Consolas"/>
                <a:cs typeface="Consolas"/>
                <a:sym typeface="Consolas"/>
              </a:rPr>
              <a:t>Sur</a:t>
            </a:r>
            <a:r>
              <a:rPr lang="es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800">
              <a:solidFill>
                <a:srgbClr val="38761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07" name="Google Shape;607;p70"/>
          <p:cNvSpPr txBox="1"/>
          <p:nvPr/>
        </p:nvSpPr>
        <p:spPr>
          <a:xfrm>
            <a:off x="4696725" y="2409163"/>
            <a:ext cx="4255800" cy="30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A64D79"/>
                </a:solidFill>
                <a:latin typeface="Consolas"/>
                <a:ea typeface="Consolas"/>
                <a:cs typeface="Consolas"/>
                <a:sym typeface="Consolas"/>
              </a:rPr>
              <a:t>program</a:t>
            </a:r>
            <a:r>
              <a:rPr lang="es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8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   /* PROPÓSITO: Poner una</a:t>
            </a:r>
            <a:endParaRPr sz="1800">
              <a:solidFill>
                <a:srgbClr val="38761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   bolita de color Azul en la</a:t>
            </a:r>
            <a:endParaRPr sz="1800">
              <a:solidFill>
                <a:srgbClr val="38761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   celda lindante al Norte. */</a:t>
            </a:r>
            <a:endParaRPr sz="1800">
              <a:solidFill>
                <a:srgbClr val="38761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" sz="18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Mover</a:t>
            </a:r>
            <a:r>
              <a:rPr lang="es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" sz="1800">
                <a:solidFill>
                  <a:srgbClr val="76A5AF"/>
                </a:solidFill>
                <a:latin typeface="Consolas"/>
                <a:ea typeface="Consolas"/>
                <a:cs typeface="Consolas"/>
                <a:sym typeface="Consolas"/>
              </a:rPr>
              <a:t>Norte</a:t>
            </a:r>
            <a:r>
              <a:rPr lang="es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endParaRPr sz="18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    Poner</a:t>
            </a:r>
            <a:r>
              <a:rPr lang="es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" sz="1800">
                <a:solidFill>
                  <a:srgbClr val="76A5AF"/>
                </a:solidFill>
                <a:latin typeface="Consolas"/>
                <a:ea typeface="Consolas"/>
                <a:cs typeface="Consolas"/>
                <a:sym typeface="Consolas"/>
              </a:rPr>
              <a:t>Azul</a:t>
            </a:r>
            <a:r>
              <a:rPr lang="es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8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08" name="Google Shape;608;p70"/>
          <p:cNvSpPr txBox="1"/>
          <p:nvPr/>
        </p:nvSpPr>
        <p:spPr>
          <a:xfrm>
            <a:off x="517500" y="1060950"/>
            <a:ext cx="8109000" cy="10575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es" sz="2400"/>
              <a:t>¡No hay que olvidarse del cabezal!</a:t>
            </a:r>
            <a:endParaRPr sz="2400"/>
          </a:p>
          <a:p>
            <a: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" sz="2400"/>
              <a:t>No es lo mismo dejarlo en cualquier lado… </a:t>
            </a:r>
            <a:endParaRPr sz="24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09" name="Google Shape;609;p70"/>
          <p:cNvSpPr txBox="1"/>
          <p:nvPr/>
        </p:nvSpPr>
        <p:spPr>
          <a:xfrm>
            <a:off x="1099250" y="5072000"/>
            <a:ext cx="2862300" cy="1021200"/>
          </a:xfrm>
          <a:prstGeom prst="rect">
            <a:avLst/>
          </a:prstGeom>
          <a:solidFill>
            <a:srgbClr val="EA9999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/>
              <a:t>¡El segundo código no vuelve!</a:t>
            </a:r>
            <a:endParaRPr sz="2400"/>
          </a:p>
        </p:txBody>
      </p:sp>
      <p:sp>
        <p:nvSpPr>
          <p:cNvPr id="610" name="Google Shape;610;p70"/>
          <p:cNvSpPr txBox="1"/>
          <p:nvPr/>
        </p:nvSpPr>
        <p:spPr>
          <a:xfrm>
            <a:off x="4426700" y="5602200"/>
            <a:ext cx="4325700" cy="1057500"/>
          </a:xfrm>
          <a:prstGeom prst="rect">
            <a:avLst/>
          </a:prstGeom>
          <a:solidFill>
            <a:srgbClr val="EA9999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/>
              <a:t>Sí tuvieran el mismo propósito entonces deberían ser equivalentes, pero no general en el mismo efecto</a:t>
            </a:r>
            <a:endParaRPr sz="18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71"/>
          <p:cNvSpPr txBox="1">
            <a:spLocks noGrp="1"/>
          </p:cNvSpPr>
          <p:nvPr>
            <p:ph type="title"/>
          </p:nvPr>
        </p:nvSpPr>
        <p:spPr>
          <a:xfrm>
            <a:off x="62100" y="-37200"/>
            <a:ext cx="6978300" cy="70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900"/>
              <a:t>Contratos: </a:t>
            </a:r>
            <a:r>
              <a:rPr lang="es" sz="2900" b="1"/>
              <a:t>Propósitos</a:t>
            </a:r>
            <a:r>
              <a:rPr lang="es" sz="2900"/>
              <a:t> y Precondiciones</a:t>
            </a:r>
            <a:endParaRPr/>
          </a:p>
        </p:txBody>
      </p:sp>
      <p:sp>
        <p:nvSpPr>
          <p:cNvPr id="616" name="Google Shape;616;p71"/>
          <p:cNvSpPr txBox="1"/>
          <p:nvPr/>
        </p:nvSpPr>
        <p:spPr>
          <a:xfrm>
            <a:off x="170900" y="2418075"/>
            <a:ext cx="4255800" cy="30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A64D79"/>
                </a:solidFill>
                <a:latin typeface="Consolas"/>
                <a:ea typeface="Consolas"/>
                <a:cs typeface="Consolas"/>
                <a:sym typeface="Consolas"/>
              </a:rPr>
              <a:t>program</a:t>
            </a:r>
            <a:r>
              <a:rPr lang="es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8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   /* PROPÓSITO: Poner una</a:t>
            </a:r>
            <a:endParaRPr sz="1800">
              <a:solidFill>
                <a:srgbClr val="38761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   bolita de color Azul en la</a:t>
            </a:r>
            <a:endParaRPr sz="1800">
              <a:solidFill>
                <a:srgbClr val="38761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   celda lindante al Norte. */</a:t>
            </a:r>
            <a:endParaRPr sz="1800">
              <a:solidFill>
                <a:srgbClr val="38761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" sz="18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Mover</a:t>
            </a:r>
            <a:r>
              <a:rPr lang="es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" sz="1800">
                <a:solidFill>
                  <a:srgbClr val="76A5AF"/>
                </a:solidFill>
                <a:latin typeface="Consolas"/>
                <a:ea typeface="Consolas"/>
                <a:cs typeface="Consolas"/>
                <a:sym typeface="Consolas"/>
              </a:rPr>
              <a:t>Norte</a:t>
            </a:r>
            <a:r>
              <a:rPr lang="es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endParaRPr sz="18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    Poner</a:t>
            </a:r>
            <a:r>
              <a:rPr lang="es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" sz="1800">
                <a:solidFill>
                  <a:srgbClr val="76A5AF"/>
                </a:solidFill>
                <a:latin typeface="Consolas"/>
                <a:ea typeface="Consolas"/>
                <a:cs typeface="Consolas"/>
                <a:sym typeface="Consolas"/>
              </a:rPr>
              <a:t>Azul</a:t>
            </a:r>
            <a:r>
              <a:rPr lang="es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8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    Mover</a:t>
            </a:r>
            <a:r>
              <a:rPr lang="es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" sz="1800">
                <a:solidFill>
                  <a:srgbClr val="76A5AF"/>
                </a:solidFill>
                <a:latin typeface="Consolas"/>
                <a:ea typeface="Consolas"/>
                <a:cs typeface="Consolas"/>
                <a:sym typeface="Consolas"/>
              </a:rPr>
              <a:t>Sur</a:t>
            </a:r>
            <a:r>
              <a:rPr lang="es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800">
              <a:solidFill>
                <a:srgbClr val="38761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17" name="Google Shape;617;p71"/>
          <p:cNvSpPr txBox="1"/>
          <p:nvPr/>
        </p:nvSpPr>
        <p:spPr>
          <a:xfrm>
            <a:off x="4696725" y="2409163"/>
            <a:ext cx="4255800" cy="30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A64D79"/>
                </a:solidFill>
                <a:latin typeface="Consolas"/>
                <a:ea typeface="Consolas"/>
                <a:cs typeface="Consolas"/>
                <a:sym typeface="Consolas"/>
              </a:rPr>
              <a:t>program</a:t>
            </a:r>
            <a:r>
              <a:rPr lang="es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8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   /* PROPÓSITO: Poner una</a:t>
            </a:r>
            <a:endParaRPr sz="1800">
              <a:solidFill>
                <a:srgbClr val="38761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   bolita de color Azul en la</a:t>
            </a:r>
            <a:endParaRPr sz="1800">
              <a:solidFill>
                <a:srgbClr val="38761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   celda lindante al Norte.</a:t>
            </a:r>
            <a:endParaRPr sz="1800">
              <a:solidFill>
                <a:srgbClr val="38761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   El cabezal queda en dicha </a:t>
            </a:r>
            <a:endParaRPr sz="1800">
              <a:solidFill>
                <a:srgbClr val="38761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   celda.</a:t>
            </a:r>
            <a:endParaRPr sz="1800">
              <a:solidFill>
                <a:srgbClr val="38761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   */</a:t>
            </a:r>
            <a:endParaRPr sz="1800">
              <a:solidFill>
                <a:srgbClr val="38761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" sz="18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Mover</a:t>
            </a:r>
            <a:r>
              <a:rPr lang="es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" sz="1800">
                <a:solidFill>
                  <a:srgbClr val="76A5AF"/>
                </a:solidFill>
                <a:latin typeface="Consolas"/>
                <a:ea typeface="Consolas"/>
                <a:cs typeface="Consolas"/>
                <a:sym typeface="Consolas"/>
              </a:rPr>
              <a:t>Norte</a:t>
            </a:r>
            <a:r>
              <a:rPr lang="es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endParaRPr sz="18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    Poner</a:t>
            </a:r>
            <a:r>
              <a:rPr lang="es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" sz="1800">
                <a:solidFill>
                  <a:srgbClr val="76A5AF"/>
                </a:solidFill>
                <a:latin typeface="Consolas"/>
                <a:ea typeface="Consolas"/>
                <a:cs typeface="Consolas"/>
                <a:sym typeface="Consolas"/>
              </a:rPr>
              <a:t>Azul</a:t>
            </a:r>
            <a:r>
              <a:rPr lang="es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8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18" name="Google Shape;618;p71"/>
          <p:cNvSpPr txBox="1"/>
          <p:nvPr/>
        </p:nvSpPr>
        <p:spPr>
          <a:xfrm>
            <a:off x="517500" y="1060950"/>
            <a:ext cx="8109000" cy="10575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es" sz="2400"/>
              <a:t>¡No hay que olvidarse del cabezal!</a:t>
            </a:r>
            <a:endParaRPr sz="2400"/>
          </a:p>
          <a:p>
            <a: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" sz="2400"/>
              <a:t>No es lo mismo dejarlo en cualquier lado… </a:t>
            </a:r>
            <a:endParaRPr sz="24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19" name="Google Shape;619;p71"/>
          <p:cNvSpPr txBox="1"/>
          <p:nvPr/>
        </p:nvSpPr>
        <p:spPr>
          <a:xfrm>
            <a:off x="135950" y="5240600"/>
            <a:ext cx="4325700" cy="1057500"/>
          </a:xfrm>
          <a:prstGeom prst="rect">
            <a:avLst/>
          </a:prstGeom>
          <a:solidFill>
            <a:srgbClr val="FFE599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/>
              <a:t>Sí no decimos nada del cabezal, asumimos que termina en el mismo lugar que comenzó.</a:t>
            </a:r>
            <a:endParaRPr sz="1800"/>
          </a:p>
        </p:txBody>
      </p:sp>
      <p:sp>
        <p:nvSpPr>
          <p:cNvPr id="620" name="Google Shape;620;p71"/>
          <p:cNvSpPr/>
          <p:nvPr/>
        </p:nvSpPr>
        <p:spPr>
          <a:xfrm>
            <a:off x="5070850" y="3743775"/>
            <a:ext cx="3646800" cy="629700"/>
          </a:xfrm>
          <a:prstGeom prst="roundRect">
            <a:avLst>
              <a:gd name="adj" fmla="val 50000"/>
            </a:avLst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72"/>
          <p:cNvSpPr txBox="1">
            <a:spLocks noGrp="1"/>
          </p:cNvSpPr>
          <p:nvPr>
            <p:ph type="title"/>
          </p:nvPr>
        </p:nvSpPr>
        <p:spPr>
          <a:xfrm>
            <a:off x="62100" y="-37200"/>
            <a:ext cx="6978300" cy="70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900"/>
              <a:t>Contratos: Propósitos y </a:t>
            </a:r>
            <a:r>
              <a:rPr lang="es" sz="2900" b="1"/>
              <a:t>Precondiciones</a:t>
            </a:r>
            <a:endParaRPr b="1"/>
          </a:p>
        </p:txBody>
      </p:sp>
      <p:sp>
        <p:nvSpPr>
          <p:cNvPr id="626" name="Google Shape;626;p72"/>
          <p:cNvSpPr txBox="1"/>
          <p:nvPr/>
        </p:nvSpPr>
        <p:spPr>
          <a:xfrm>
            <a:off x="517500" y="1060950"/>
            <a:ext cx="8109000" cy="10575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es" sz="2400"/>
              <a:t>¿Cual es el propósito de cada programa?</a:t>
            </a:r>
            <a:endParaRPr sz="2400"/>
          </a:p>
          <a:p>
            <a: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" sz="2400"/>
              <a:t>¿Siempre consigue cumplirlo?</a:t>
            </a:r>
            <a:endParaRPr sz="24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27" name="Google Shape;627;p72"/>
          <p:cNvSpPr txBox="1"/>
          <p:nvPr/>
        </p:nvSpPr>
        <p:spPr>
          <a:xfrm>
            <a:off x="170900" y="2601550"/>
            <a:ext cx="8194500" cy="125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A64D79"/>
                </a:solidFill>
                <a:latin typeface="Consolas"/>
                <a:ea typeface="Consolas"/>
                <a:cs typeface="Consolas"/>
                <a:sym typeface="Consolas"/>
              </a:rPr>
              <a:t>program</a:t>
            </a:r>
            <a:r>
              <a:rPr lang="es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8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   /* Poner una bolita de color Azul en la celda actual. */</a:t>
            </a:r>
            <a:endParaRPr sz="1800">
              <a:solidFill>
                <a:srgbClr val="38761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    Poner</a:t>
            </a:r>
            <a:r>
              <a:rPr lang="es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" sz="1800">
                <a:solidFill>
                  <a:srgbClr val="76A5AF"/>
                </a:solidFill>
                <a:latin typeface="Consolas"/>
                <a:ea typeface="Consolas"/>
                <a:cs typeface="Consolas"/>
                <a:sym typeface="Consolas"/>
              </a:rPr>
              <a:t>Azul</a:t>
            </a:r>
            <a:r>
              <a:rPr lang="es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800">
              <a:solidFill>
                <a:srgbClr val="38761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28" name="Google Shape;628;p72"/>
          <p:cNvSpPr txBox="1"/>
          <p:nvPr/>
        </p:nvSpPr>
        <p:spPr>
          <a:xfrm>
            <a:off x="170900" y="3857650"/>
            <a:ext cx="8319300" cy="125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A64D79"/>
                </a:solidFill>
                <a:latin typeface="Consolas"/>
                <a:ea typeface="Consolas"/>
                <a:cs typeface="Consolas"/>
                <a:sym typeface="Consolas"/>
              </a:rPr>
              <a:t>program</a:t>
            </a:r>
            <a:r>
              <a:rPr lang="es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8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   /* Sacar una bolita de color Azul en la celda actual. */</a:t>
            </a:r>
            <a:endParaRPr sz="18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    Sacar</a:t>
            </a:r>
            <a:r>
              <a:rPr lang="es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" sz="1800">
                <a:solidFill>
                  <a:srgbClr val="76A5AF"/>
                </a:solidFill>
                <a:latin typeface="Consolas"/>
                <a:ea typeface="Consolas"/>
                <a:cs typeface="Consolas"/>
                <a:sym typeface="Consolas"/>
              </a:rPr>
              <a:t>Azul</a:t>
            </a:r>
            <a:r>
              <a:rPr lang="es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800">
              <a:solidFill>
                <a:srgbClr val="38761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29" name="Google Shape;629;p72"/>
          <p:cNvSpPr txBox="1"/>
          <p:nvPr/>
        </p:nvSpPr>
        <p:spPr>
          <a:xfrm>
            <a:off x="170900" y="5126225"/>
            <a:ext cx="8455500" cy="125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A64D79"/>
                </a:solidFill>
                <a:latin typeface="Consolas"/>
                <a:ea typeface="Consolas"/>
                <a:cs typeface="Consolas"/>
                <a:sym typeface="Consolas"/>
              </a:rPr>
              <a:t>program</a:t>
            </a:r>
            <a:r>
              <a:rPr lang="es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8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   /* Mover el cabezal a la celda lindante</a:t>
            </a:r>
            <a:endParaRPr sz="1800">
              <a:solidFill>
                <a:srgbClr val="38761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al Este. */</a:t>
            </a:r>
            <a:endParaRPr sz="18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    Mover</a:t>
            </a:r>
            <a:r>
              <a:rPr lang="es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" sz="1800">
                <a:solidFill>
                  <a:srgbClr val="76A5AF"/>
                </a:solidFill>
                <a:latin typeface="Consolas"/>
                <a:ea typeface="Consolas"/>
                <a:cs typeface="Consolas"/>
                <a:sym typeface="Consolas"/>
              </a:rPr>
              <a:t>Este</a:t>
            </a:r>
            <a:r>
              <a:rPr lang="es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800">
              <a:solidFill>
                <a:srgbClr val="38761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30" name="Google Shape;630;p72"/>
          <p:cNvSpPr txBox="1"/>
          <p:nvPr/>
        </p:nvSpPr>
        <p:spPr>
          <a:xfrm>
            <a:off x="5986925" y="6161600"/>
            <a:ext cx="2982900" cy="542100"/>
          </a:xfrm>
          <a:prstGeom prst="rect">
            <a:avLst/>
          </a:prstGeom>
          <a:solidFill>
            <a:srgbClr val="FFE599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 b="1" i="1"/>
              <a:t>PRECONDICIONES</a:t>
            </a:r>
            <a:endParaRPr sz="2400" b="1" i="1"/>
          </a:p>
        </p:txBody>
      </p:sp>
      <p:sp>
        <p:nvSpPr>
          <p:cNvPr id="631" name="Google Shape;631;p72"/>
          <p:cNvSpPr txBox="1"/>
          <p:nvPr/>
        </p:nvSpPr>
        <p:spPr>
          <a:xfrm>
            <a:off x="6574100" y="4674336"/>
            <a:ext cx="2052300" cy="12561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/>
              <a:t>¿Cómo saber cuándo va a funcionar?</a:t>
            </a:r>
            <a:endParaRPr sz="24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73"/>
          <p:cNvSpPr txBox="1">
            <a:spLocks noGrp="1"/>
          </p:cNvSpPr>
          <p:nvPr>
            <p:ph type="title"/>
          </p:nvPr>
        </p:nvSpPr>
        <p:spPr>
          <a:xfrm>
            <a:off x="62100" y="-37200"/>
            <a:ext cx="6978300" cy="70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900"/>
              <a:t>Contratos: Propósitos y </a:t>
            </a:r>
            <a:r>
              <a:rPr lang="es" sz="2900" b="1"/>
              <a:t>Precondiciones</a:t>
            </a:r>
            <a:endParaRPr b="1"/>
          </a:p>
        </p:txBody>
      </p:sp>
      <p:sp>
        <p:nvSpPr>
          <p:cNvPr id="637" name="Google Shape;637;p73"/>
          <p:cNvSpPr txBox="1"/>
          <p:nvPr/>
        </p:nvSpPr>
        <p:spPr>
          <a:xfrm>
            <a:off x="517500" y="1060950"/>
            <a:ext cx="8109000" cy="15306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es" sz="2400"/>
              <a:t>Las </a:t>
            </a:r>
            <a:r>
              <a:rPr lang="es" sz="2400" b="1" i="1"/>
              <a:t>precondiciones </a:t>
            </a:r>
            <a:r>
              <a:rPr lang="es" sz="2400"/>
              <a:t>son las condiciones necesarias para garantizar que un problema puede resolverse</a:t>
            </a:r>
            <a:endParaRPr sz="2400"/>
          </a:p>
          <a:p>
            <a: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" sz="2400"/>
              <a:t>Deben escribirse junto con el propósito</a:t>
            </a:r>
            <a:endParaRPr sz="24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38" name="Google Shape;638;p73"/>
          <p:cNvSpPr txBox="1"/>
          <p:nvPr/>
        </p:nvSpPr>
        <p:spPr>
          <a:xfrm>
            <a:off x="4954600" y="4943050"/>
            <a:ext cx="3804300" cy="12174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/>
              <a:t>Siempre funciona. No hay un máximo de bolitas que se pueda poner.</a:t>
            </a:r>
            <a:endParaRPr sz="2400"/>
          </a:p>
        </p:txBody>
      </p:sp>
      <p:sp>
        <p:nvSpPr>
          <p:cNvPr id="639" name="Google Shape;639;p73"/>
          <p:cNvSpPr txBox="1"/>
          <p:nvPr/>
        </p:nvSpPr>
        <p:spPr>
          <a:xfrm>
            <a:off x="592250" y="3081025"/>
            <a:ext cx="6890400" cy="21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A64D79"/>
                </a:solidFill>
                <a:latin typeface="Consolas"/>
                <a:ea typeface="Consolas"/>
                <a:cs typeface="Consolas"/>
                <a:sym typeface="Consolas"/>
              </a:rPr>
              <a:t>program</a:t>
            </a:r>
            <a:r>
              <a:rPr lang="es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8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   /*</a:t>
            </a:r>
            <a:endParaRPr sz="1800">
              <a:solidFill>
                <a:srgbClr val="38761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     PROPÓSITO: Poner una bolita de color Azul en</a:t>
            </a:r>
            <a:endParaRPr sz="1800">
              <a:solidFill>
                <a:srgbClr val="38761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        la celda actual.</a:t>
            </a:r>
            <a:endParaRPr sz="1800">
              <a:solidFill>
                <a:srgbClr val="38761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     PRECONDICIONES:</a:t>
            </a:r>
            <a:endParaRPr sz="1800">
              <a:solidFill>
                <a:srgbClr val="38761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        * Ninguna</a:t>
            </a:r>
            <a:endParaRPr sz="1800">
              <a:solidFill>
                <a:srgbClr val="38761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   */</a:t>
            </a:r>
            <a:endParaRPr sz="1800">
              <a:solidFill>
                <a:srgbClr val="38761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    Poner</a:t>
            </a:r>
            <a:r>
              <a:rPr lang="es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" sz="1800">
                <a:solidFill>
                  <a:srgbClr val="76A5AF"/>
                </a:solidFill>
                <a:latin typeface="Consolas"/>
                <a:ea typeface="Consolas"/>
                <a:cs typeface="Consolas"/>
                <a:sym typeface="Consolas"/>
              </a:rPr>
              <a:t>Azul</a:t>
            </a:r>
            <a:r>
              <a:rPr lang="es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800">
              <a:solidFill>
                <a:srgbClr val="38761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640" name="Google Shape;640;p73"/>
          <p:cNvCxnSpPr>
            <a:stCxn id="638" idx="1"/>
          </p:cNvCxnSpPr>
          <p:nvPr/>
        </p:nvCxnSpPr>
        <p:spPr>
          <a:xfrm rot="10800000">
            <a:off x="3094900" y="5070850"/>
            <a:ext cx="1859700" cy="4809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74"/>
          <p:cNvSpPr txBox="1">
            <a:spLocks noGrp="1"/>
          </p:cNvSpPr>
          <p:nvPr>
            <p:ph type="title"/>
          </p:nvPr>
        </p:nvSpPr>
        <p:spPr>
          <a:xfrm>
            <a:off x="62100" y="-37200"/>
            <a:ext cx="6978300" cy="70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900"/>
              <a:t>Contratos: Propósitos y </a:t>
            </a:r>
            <a:r>
              <a:rPr lang="es" sz="2900" b="1"/>
              <a:t>Precondiciones</a:t>
            </a:r>
            <a:endParaRPr b="1"/>
          </a:p>
        </p:txBody>
      </p:sp>
      <p:sp>
        <p:nvSpPr>
          <p:cNvPr id="646" name="Google Shape;646;p74"/>
          <p:cNvSpPr txBox="1"/>
          <p:nvPr/>
        </p:nvSpPr>
        <p:spPr>
          <a:xfrm>
            <a:off x="517500" y="1060950"/>
            <a:ext cx="8109000" cy="15306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es" sz="2400"/>
              <a:t>Las </a:t>
            </a:r>
            <a:r>
              <a:rPr lang="es" sz="2400" b="1" i="1"/>
              <a:t>precondiciones </a:t>
            </a:r>
            <a:r>
              <a:rPr lang="es" sz="2400"/>
              <a:t>son las condiciones necesarias para garantizar que un problema puede resolverse</a:t>
            </a:r>
            <a:endParaRPr sz="2400"/>
          </a:p>
          <a:p>
            <a: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" sz="2400"/>
              <a:t>Deben escribirse junto con el propósito</a:t>
            </a:r>
            <a:endParaRPr sz="24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47" name="Google Shape;647;p74"/>
          <p:cNvSpPr txBox="1"/>
          <p:nvPr/>
        </p:nvSpPr>
        <p:spPr>
          <a:xfrm>
            <a:off x="4954600" y="5480650"/>
            <a:ext cx="3804300" cy="12174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/>
              <a:t>Solo funciona si hay bolitas del color que se quiere sacar.</a:t>
            </a:r>
            <a:endParaRPr sz="2400"/>
          </a:p>
        </p:txBody>
      </p:sp>
      <p:sp>
        <p:nvSpPr>
          <p:cNvPr id="648" name="Google Shape;648;p74"/>
          <p:cNvSpPr txBox="1"/>
          <p:nvPr/>
        </p:nvSpPr>
        <p:spPr>
          <a:xfrm>
            <a:off x="592250" y="3081025"/>
            <a:ext cx="6890400" cy="21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A64D79"/>
                </a:solidFill>
                <a:latin typeface="Consolas"/>
                <a:ea typeface="Consolas"/>
                <a:cs typeface="Consolas"/>
                <a:sym typeface="Consolas"/>
              </a:rPr>
              <a:t>program</a:t>
            </a:r>
            <a:r>
              <a:rPr lang="es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8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   /*</a:t>
            </a:r>
            <a:endParaRPr sz="1800">
              <a:solidFill>
                <a:srgbClr val="38761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     PROPÓSITO: Sacar una bolita de color Azul</a:t>
            </a:r>
            <a:endParaRPr sz="1800">
              <a:solidFill>
                <a:srgbClr val="38761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        de la celda actual.</a:t>
            </a:r>
            <a:endParaRPr sz="1800">
              <a:solidFill>
                <a:srgbClr val="38761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     PRECONDICIONES:</a:t>
            </a:r>
            <a:endParaRPr sz="1800">
              <a:solidFill>
                <a:srgbClr val="38761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        * Debe haber al menos una bolita de color</a:t>
            </a:r>
            <a:endParaRPr sz="1800">
              <a:solidFill>
                <a:srgbClr val="38761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          Azul en la celda actual.</a:t>
            </a:r>
            <a:endParaRPr sz="1800">
              <a:solidFill>
                <a:srgbClr val="38761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   */</a:t>
            </a:r>
            <a:endParaRPr sz="1800">
              <a:solidFill>
                <a:srgbClr val="38761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    Sacar</a:t>
            </a:r>
            <a:r>
              <a:rPr lang="es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" sz="1800">
                <a:solidFill>
                  <a:srgbClr val="76A5AF"/>
                </a:solidFill>
                <a:latin typeface="Consolas"/>
                <a:ea typeface="Consolas"/>
                <a:cs typeface="Consolas"/>
                <a:sym typeface="Consolas"/>
              </a:rPr>
              <a:t>Azul</a:t>
            </a:r>
            <a:r>
              <a:rPr lang="es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800">
              <a:solidFill>
                <a:srgbClr val="38761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649" name="Google Shape;649;p74"/>
          <p:cNvCxnSpPr>
            <a:stCxn id="647" idx="1"/>
          </p:cNvCxnSpPr>
          <p:nvPr/>
        </p:nvCxnSpPr>
        <p:spPr>
          <a:xfrm rot="10800000">
            <a:off x="3734200" y="5361550"/>
            <a:ext cx="1220400" cy="7278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50" name="Google Shape;650;p74"/>
          <p:cNvSpPr txBox="1"/>
          <p:nvPr/>
        </p:nvSpPr>
        <p:spPr>
          <a:xfrm>
            <a:off x="6930650" y="4047950"/>
            <a:ext cx="2140500" cy="7278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/>
              <a:t>Al menos... puede haber más de una.</a:t>
            </a:r>
            <a:endParaRPr sz="1800"/>
          </a:p>
        </p:txBody>
      </p:sp>
      <p:cxnSp>
        <p:nvCxnSpPr>
          <p:cNvPr id="651" name="Google Shape;651;p74"/>
          <p:cNvCxnSpPr>
            <a:stCxn id="650" idx="1"/>
            <a:endCxn id="652" idx="7"/>
          </p:cNvCxnSpPr>
          <p:nvPr/>
        </p:nvCxnSpPr>
        <p:spPr>
          <a:xfrm flipH="1">
            <a:off x="4400450" y="4411850"/>
            <a:ext cx="2530200" cy="3615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52" name="Google Shape;652;p74"/>
          <p:cNvSpPr/>
          <p:nvPr/>
        </p:nvSpPr>
        <p:spPr>
          <a:xfrm>
            <a:off x="3399950" y="4722150"/>
            <a:ext cx="1172100" cy="348600"/>
          </a:xfrm>
          <a:prstGeom prst="ellipse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75"/>
          <p:cNvSpPr txBox="1">
            <a:spLocks noGrp="1"/>
          </p:cNvSpPr>
          <p:nvPr>
            <p:ph type="title"/>
          </p:nvPr>
        </p:nvSpPr>
        <p:spPr>
          <a:xfrm>
            <a:off x="62100" y="-37200"/>
            <a:ext cx="6978300" cy="70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900"/>
              <a:t>Contratos: Propósitos y </a:t>
            </a:r>
            <a:r>
              <a:rPr lang="es" sz="2900" b="1"/>
              <a:t>Precondiciones</a:t>
            </a:r>
            <a:endParaRPr b="1"/>
          </a:p>
        </p:txBody>
      </p:sp>
      <p:sp>
        <p:nvSpPr>
          <p:cNvPr id="658" name="Google Shape;658;p75"/>
          <p:cNvSpPr txBox="1"/>
          <p:nvPr/>
        </p:nvSpPr>
        <p:spPr>
          <a:xfrm>
            <a:off x="517500" y="1060950"/>
            <a:ext cx="8109000" cy="15306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es" sz="2400"/>
              <a:t>Las </a:t>
            </a:r>
            <a:r>
              <a:rPr lang="es" sz="2400" b="1" i="1"/>
              <a:t>precondiciones </a:t>
            </a:r>
            <a:r>
              <a:rPr lang="es" sz="2400"/>
              <a:t>son las condiciones necesarias para garantizar que un problema puede resolverse</a:t>
            </a:r>
            <a:endParaRPr sz="2400"/>
          </a:p>
          <a:p>
            <a: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" sz="2400"/>
              <a:t>Deben escribirse junto con el propósito</a:t>
            </a:r>
            <a:endParaRPr sz="24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59" name="Google Shape;659;p75"/>
          <p:cNvSpPr txBox="1"/>
          <p:nvPr/>
        </p:nvSpPr>
        <p:spPr>
          <a:xfrm>
            <a:off x="4954600" y="5763800"/>
            <a:ext cx="3804300" cy="9342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/>
              <a:t>Solo funciona si hay una o más celdas al Este.</a:t>
            </a:r>
            <a:endParaRPr sz="2400"/>
          </a:p>
        </p:txBody>
      </p:sp>
      <p:sp>
        <p:nvSpPr>
          <p:cNvPr id="660" name="Google Shape;660;p75"/>
          <p:cNvSpPr txBox="1"/>
          <p:nvPr/>
        </p:nvSpPr>
        <p:spPr>
          <a:xfrm>
            <a:off x="592250" y="3081025"/>
            <a:ext cx="6890400" cy="21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A64D79"/>
                </a:solidFill>
                <a:latin typeface="Consolas"/>
                <a:ea typeface="Consolas"/>
                <a:cs typeface="Consolas"/>
                <a:sym typeface="Consolas"/>
              </a:rPr>
              <a:t>program</a:t>
            </a:r>
            <a:r>
              <a:rPr lang="es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8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   /*</a:t>
            </a:r>
            <a:endParaRPr sz="1800">
              <a:solidFill>
                <a:srgbClr val="38761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     PROPÓSITO: Mover el cabezal a la celda lindante</a:t>
            </a:r>
            <a:endParaRPr sz="1800">
              <a:solidFill>
                <a:srgbClr val="38761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       al Este.</a:t>
            </a:r>
            <a:endParaRPr sz="1800">
              <a:solidFill>
                <a:srgbClr val="38761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     PRECONDICIONES:</a:t>
            </a:r>
            <a:endParaRPr sz="1800">
              <a:solidFill>
                <a:srgbClr val="38761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        * Debe haber al menos una celda en dirección          </a:t>
            </a:r>
            <a:endParaRPr sz="1800">
              <a:solidFill>
                <a:srgbClr val="38761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          Este de la celda actual.</a:t>
            </a:r>
            <a:endParaRPr sz="1800">
              <a:solidFill>
                <a:srgbClr val="38761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   */</a:t>
            </a:r>
            <a:endParaRPr sz="1800">
              <a:solidFill>
                <a:srgbClr val="38761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    Mover</a:t>
            </a:r>
            <a:r>
              <a:rPr lang="es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" sz="1800">
                <a:solidFill>
                  <a:srgbClr val="76A5AF"/>
                </a:solidFill>
                <a:latin typeface="Consolas"/>
                <a:ea typeface="Consolas"/>
                <a:cs typeface="Consolas"/>
                <a:sym typeface="Consolas"/>
              </a:rPr>
              <a:t>Este</a:t>
            </a:r>
            <a:r>
              <a:rPr lang="es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800">
              <a:solidFill>
                <a:srgbClr val="38761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661" name="Google Shape;661;p75"/>
          <p:cNvCxnSpPr>
            <a:stCxn id="659" idx="1"/>
          </p:cNvCxnSpPr>
          <p:nvPr/>
        </p:nvCxnSpPr>
        <p:spPr>
          <a:xfrm rot="10800000">
            <a:off x="3516100" y="5405000"/>
            <a:ext cx="1438500" cy="8259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76"/>
          <p:cNvSpPr txBox="1">
            <a:spLocks noGrp="1"/>
          </p:cNvSpPr>
          <p:nvPr>
            <p:ph type="title"/>
          </p:nvPr>
        </p:nvSpPr>
        <p:spPr>
          <a:xfrm>
            <a:off x="62100" y="-37200"/>
            <a:ext cx="6978300" cy="70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900"/>
              <a:t>Contratos: Propósitos y </a:t>
            </a:r>
            <a:r>
              <a:rPr lang="es" sz="2900" b="1"/>
              <a:t>Precondiciones</a:t>
            </a:r>
            <a:endParaRPr b="1"/>
          </a:p>
        </p:txBody>
      </p:sp>
      <p:sp>
        <p:nvSpPr>
          <p:cNvPr id="667" name="Google Shape;667;p76"/>
          <p:cNvSpPr txBox="1"/>
          <p:nvPr/>
        </p:nvSpPr>
        <p:spPr>
          <a:xfrm>
            <a:off x="517500" y="1060950"/>
            <a:ext cx="8109000" cy="18555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es" sz="2400"/>
              <a:t>Las </a:t>
            </a:r>
            <a:r>
              <a:rPr lang="es" sz="2400" b="1" i="1"/>
              <a:t>precondiciones </a:t>
            </a:r>
            <a:r>
              <a:rPr lang="es" sz="2400"/>
              <a:t>se dan en términos del estado del tablero inicial</a:t>
            </a:r>
            <a:endParaRPr sz="2400"/>
          </a:p>
          <a:p>
            <a: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" sz="2400"/>
              <a:t>Si la precondición se cumple, un programa correcto debe cumplir su propósito</a:t>
            </a:r>
            <a:endParaRPr sz="24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pic>
        <p:nvPicPr>
          <p:cNvPr id="668" name="Google Shape;668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39352" y="3169267"/>
            <a:ext cx="3464925" cy="2345819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669" name="Google Shape;669;p76"/>
          <p:cNvSpPr txBox="1"/>
          <p:nvPr/>
        </p:nvSpPr>
        <p:spPr>
          <a:xfrm>
            <a:off x="1850212" y="5920300"/>
            <a:ext cx="5443200" cy="5253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/>
              <a:t>¿Y si la precondición no se cumple?</a:t>
            </a:r>
            <a:endParaRPr sz="2400"/>
          </a:p>
        </p:txBody>
      </p:sp>
      <p:pic>
        <p:nvPicPr>
          <p:cNvPr id="670" name="Google Shape;670;p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7925" y="3307351"/>
            <a:ext cx="1893789" cy="2069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71" name="Google Shape;671;p76"/>
          <p:cNvPicPr preferRelativeResize="0"/>
          <p:nvPr/>
        </p:nvPicPr>
        <p:blipFill rotWithShape="1">
          <a:blip r:embed="rId5">
            <a:alphaModFix/>
          </a:blip>
          <a:srcRect t="758" b="748"/>
          <a:stretch/>
        </p:blipFill>
        <p:spPr>
          <a:xfrm>
            <a:off x="6736325" y="3307351"/>
            <a:ext cx="1893789" cy="206965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72" name="Google Shape;672;p76"/>
          <p:cNvCxnSpPr>
            <a:endCxn id="668" idx="1"/>
          </p:cNvCxnSpPr>
          <p:nvPr/>
        </p:nvCxnSpPr>
        <p:spPr>
          <a:xfrm>
            <a:off x="2381852" y="4342176"/>
            <a:ext cx="457500" cy="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73" name="Google Shape;673;p76"/>
          <p:cNvCxnSpPr>
            <a:stCxn id="668" idx="3"/>
            <a:endCxn id="671" idx="1"/>
          </p:cNvCxnSpPr>
          <p:nvPr/>
        </p:nvCxnSpPr>
        <p:spPr>
          <a:xfrm>
            <a:off x="6304277" y="4342176"/>
            <a:ext cx="432000" cy="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77"/>
          <p:cNvSpPr txBox="1">
            <a:spLocks noGrp="1"/>
          </p:cNvSpPr>
          <p:nvPr>
            <p:ph type="title"/>
          </p:nvPr>
        </p:nvSpPr>
        <p:spPr>
          <a:xfrm>
            <a:off x="62100" y="-37200"/>
            <a:ext cx="6978300" cy="70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900"/>
              <a:t>Contratos: Propósitos y </a:t>
            </a:r>
            <a:r>
              <a:rPr lang="es" sz="2900" b="1"/>
              <a:t>Precondiciones</a:t>
            </a:r>
            <a:endParaRPr b="1"/>
          </a:p>
        </p:txBody>
      </p:sp>
      <p:sp>
        <p:nvSpPr>
          <p:cNvPr id="679" name="Google Shape;679;p77"/>
          <p:cNvSpPr txBox="1"/>
          <p:nvPr/>
        </p:nvSpPr>
        <p:spPr>
          <a:xfrm>
            <a:off x="517500" y="1060950"/>
            <a:ext cx="8232000" cy="18555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" sz="2400"/>
              <a:t>Si la precondición NO se cumple, el programa puede comportarse de cualquier manera</a:t>
            </a:r>
            <a:endParaRPr sz="2400"/>
          </a:p>
          <a:p>
            <a:pPr marL="914400" marR="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s" sz="2400"/>
              <a:t>En esta materia, el programa debe fallar con BOOM</a:t>
            </a:r>
            <a:endParaRPr sz="2400"/>
          </a:p>
          <a:p>
            <a:pPr marL="914400" marR="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s" sz="2400"/>
              <a:t>Es mejor para establecer precondiciones</a:t>
            </a:r>
            <a:endParaRPr sz="2400"/>
          </a:p>
        </p:txBody>
      </p:sp>
      <p:pic>
        <p:nvPicPr>
          <p:cNvPr id="680" name="Google Shape;680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39352" y="3169267"/>
            <a:ext cx="3464925" cy="2345819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681" name="Google Shape;681;p77"/>
          <p:cNvSpPr txBox="1"/>
          <p:nvPr/>
        </p:nvSpPr>
        <p:spPr>
          <a:xfrm>
            <a:off x="2084525" y="5804025"/>
            <a:ext cx="4822200" cy="9240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/>
              <a:t>El BOOM es una clara muestra de que el programa falló</a:t>
            </a:r>
            <a:endParaRPr sz="2400"/>
          </a:p>
        </p:txBody>
      </p:sp>
      <p:pic>
        <p:nvPicPr>
          <p:cNvPr id="682" name="Google Shape;682;p77"/>
          <p:cNvPicPr preferRelativeResize="0"/>
          <p:nvPr/>
        </p:nvPicPr>
        <p:blipFill rotWithShape="1">
          <a:blip r:embed="rId4">
            <a:alphaModFix/>
          </a:blip>
          <a:srcRect t="864" b="855"/>
          <a:stretch/>
        </p:blipFill>
        <p:spPr>
          <a:xfrm>
            <a:off x="487925" y="3307351"/>
            <a:ext cx="1893789" cy="206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3" name="Google Shape;683;p7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36325" y="3358215"/>
            <a:ext cx="1893789" cy="196792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84" name="Google Shape;684;p77"/>
          <p:cNvCxnSpPr>
            <a:endCxn id="680" idx="1"/>
          </p:cNvCxnSpPr>
          <p:nvPr/>
        </p:nvCxnSpPr>
        <p:spPr>
          <a:xfrm>
            <a:off x="2381852" y="4342176"/>
            <a:ext cx="457500" cy="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85" name="Google Shape;685;p77"/>
          <p:cNvCxnSpPr>
            <a:stCxn id="680" idx="3"/>
            <a:endCxn id="683" idx="1"/>
          </p:cNvCxnSpPr>
          <p:nvPr/>
        </p:nvCxnSpPr>
        <p:spPr>
          <a:xfrm>
            <a:off x="6304277" y="4342176"/>
            <a:ext cx="432000" cy="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78"/>
          <p:cNvSpPr txBox="1">
            <a:spLocks noGrp="1"/>
          </p:cNvSpPr>
          <p:nvPr>
            <p:ph type="title"/>
          </p:nvPr>
        </p:nvSpPr>
        <p:spPr>
          <a:xfrm>
            <a:off x="62100" y="-37200"/>
            <a:ext cx="6978300" cy="70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900"/>
              <a:t>Totalidad y Parcialidad</a:t>
            </a:r>
            <a:endParaRPr b="1"/>
          </a:p>
        </p:txBody>
      </p:sp>
      <p:sp>
        <p:nvSpPr>
          <p:cNvPr id="691" name="Google Shape;691;p78"/>
          <p:cNvSpPr txBox="1"/>
          <p:nvPr/>
        </p:nvSpPr>
        <p:spPr>
          <a:xfrm>
            <a:off x="517500" y="1060950"/>
            <a:ext cx="8109000" cy="27603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" sz="2400"/>
              <a:t>Hay comandos que siempre funcionan. Ej. Poner, IrAlBorde. Decimos que estos son </a:t>
            </a:r>
            <a:r>
              <a:rPr lang="es" sz="2400" b="1"/>
              <a:t>totales</a:t>
            </a:r>
            <a:r>
              <a:rPr lang="es" sz="2400"/>
              <a:t>.</a:t>
            </a:r>
            <a:endParaRPr sz="2400"/>
          </a:p>
          <a:p>
            <a: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" sz="2400"/>
              <a:t>Otros, funcionan solo en determinadas circunstancias. Es decir, tienen una precondición que debemos cumplir al llamar a dicho comando. Ej. Sacar, Mover. Decimos que son </a:t>
            </a:r>
            <a:r>
              <a:rPr lang="es" sz="2400" b="1"/>
              <a:t>parciales</a:t>
            </a:r>
            <a:r>
              <a:rPr lang="es" sz="2400"/>
              <a:t>.</a:t>
            </a:r>
            <a:endParaRPr sz="24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92" name="Google Shape;692;p78"/>
          <p:cNvSpPr txBox="1"/>
          <p:nvPr/>
        </p:nvSpPr>
        <p:spPr>
          <a:xfrm>
            <a:off x="4387925" y="4315225"/>
            <a:ext cx="3804300" cy="14487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/>
              <a:t>¿Qué sucede cuando nuestro programa usa comandos parciales?</a:t>
            </a:r>
            <a:endParaRPr sz="2400"/>
          </a:p>
        </p:txBody>
      </p:sp>
      <p:sp>
        <p:nvSpPr>
          <p:cNvPr id="693" name="Google Shape;693;p78"/>
          <p:cNvSpPr txBox="1"/>
          <p:nvPr/>
        </p:nvSpPr>
        <p:spPr>
          <a:xfrm>
            <a:off x="592250" y="4315225"/>
            <a:ext cx="2386200" cy="14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A64D79"/>
                </a:solidFill>
                <a:latin typeface="Consolas"/>
                <a:ea typeface="Consolas"/>
                <a:cs typeface="Consolas"/>
                <a:sym typeface="Consolas"/>
              </a:rPr>
              <a:t>program</a:t>
            </a:r>
            <a:r>
              <a:rPr lang="es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800">
              <a:solidFill>
                <a:srgbClr val="38761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    Mover</a:t>
            </a:r>
            <a:r>
              <a:rPr lang="es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" sz="1800">
                <a:solidFill>
                  <a:srgbClr val="76A5AF"/>
                </a:solidFill>
                <a:latin typeface="Consolas"/>
                <a:ea typeface="Consolas"/>
                <a:cs typeface="Consolas"/>
                <a:sym typeface="Consolas"/>
              </a:rPr>
              <a:t>Sur</a:t>
            </a:r>
            <a:r>
              <a:rPr lang="es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8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    Mover</a:t>
            </a:r>
            <a:r>
              <a:rPr lang="es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" sz="1800">
                <a:solidFill>
                  <a:srgbClr val="76A5AF"/>
                </a:solidFill>
                <a:latin typeface="Consolas"/>
                <a:ea typeface="Consolas"/>
                <a:cs typeface="Consolas"/>
                <a:sym typeface="Consolas"/>
              </a:rPr>
              <a:t>Este</a:t>
            </a:r>
            <a:r>
              <a:rPr lang="es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8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80"/>
          <p:cNvSpPr txBox="1">
            <a:spLocks noGrp="1"/>
          </p:cNvSpPr>
          <p:nvPr>
            <p:ph type="title"/>
          </p:nvPr>
        </p:nvSpPr>
        <p:spPr>
          <a:xfrm>
            <a:off x="62100" y="-37200"/>
            <a:ext cx="6978300" cy="70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900"/>
              <a:t>Contratos: Propósitos y </a:t>
            </a:r>
            <a:r>
              <a:rPr lang="es" sz="2900" b="1"/>
              <a:t>Precondiciones</a:t>
            </a:r>
            <a:endParaRPr sz="2900"/>
          </a:p>
        </p:txBody>
      </p:sp>
      <p:sp>
        <p:nvSpPr>
          <p:cNvPr id="709" name="Google Shape;709;p80"/>
          <p:cNvSpPr txBox="1"/>
          <p:nvPr/>
        </p:nvSpPr>
        <p:spPr>
          <a:xfrm>
            <a:off x="517500" y="1060950"/>
            <a:ext cx="8109000" cy="17940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" sz="2400"/>
              <a:t>La precondición puede no ser tan fácil de determinar.</a:t>
            </a:r>
            <a:endParaRPr sz="2400"/>
          </a:p>
          <a:p>
            <a: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" sz="2400"/>
              <a:t>No basta mirar los comandos parciales que se usan, hay que analizar cuando y donde se utilizan para determinar la precondición.</a:t>
            </a:r>
            <a:endParaRPr sz="24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10" name="Google Shape;710;p80"/>
          <p:cNvSpPr txBox="1"/>
          <p:nvPr/>
        </p:nvSpPr>
        <p:spPr>
          <a:xfrm>
            <a:off x="517500" y="3117125"/>
            <a:ext cx="7880700" cy="34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A64D79"/>
                </a:solidFill>
                <a:latin typeface="Consolas"/>
                <a:ea typeface="Consolas"/>
                <a:cs typeface="Consolas"/>
                <a:sym typeface="Consolas"/>
              </a:rPr>
              <a:t>program</a:t>
            </a:r>
            <a:r>
              <a:rPr lang="es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8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   /*</a:t>
            </a:r>
            <a:endParaRPr sz="1800">
              <a:solidFill>
                <a:srgbClr val="38761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       PROPÓSITO: No hace nada (No hay ningún cambio en</a:t>
            </a:r>
            <a:endParaRPr sz="1800">
              <a:solidFill>
                <a:srgbClr val="38761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          el tablero)</a:t>
            </a:r>
            <a:endParaRPr sz="1800">
              <a:solidFill>
                <a:srgbClr val="38761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       PRECONDICIONES:</a:t>
            </a:r>
            <a:endParaRPr sz="1800">
              <a:solidFill>
                <a:srgbClr val="38761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          * Ninguna</a:t>
            </a:r>
            <a:endParaRPr sz="1800">
              <a:solidFill>
                <a:srgbClr val="38761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    */</a:t>
            </a:r>
            <a:endParaRPr sz="1800">
              <a:solidFill>
                <a:srgbClr val="38761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    Poner</a:t>
            </a:r>
            <a:r>
              <a:rPr lang="es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" sz="1800">
                <a:solidFill>
                  <a:srgbClr val="76A5AF"/>
                </a:solidFill>
                <a:latin typeface="Consolas"/>
                <a:ea typeface="Consolas"/>
                <a:cs typeface="Consolas"/>
                <a:sym typeface="Consolas"/>
              </a:rPr>
              <a:t>Rojo</a:t>
            </a:r>
            <a:r>
              <a:rPr lang="es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8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    Sacar</a:t>
            </a:r>
            <a:r>
              <a:rPr lang="es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" sz="1800">
                <a:solidFill>
                  <a:srgbClr val="76A5AF"/>
                </a:solidFill>
                <a:latin typeface="Consolas"/>
                <a:ea typeface="Consolas"/>
                <a:cs typeface="Consolas"/>
                <a:sym typeface="Consolas"/>
              </a:rPr>
              <a:t>Rojo</a:t>
            </a:r>
            <a:r>
              <a:rPr lang="es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8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711" name="Google Shape;711;p80"/>
          <p:cNvCxnSpPr>
            <a:stCxn id="712" idx="1"/>
          </p:cNvCxnSpPr>
          <p:nvPr/>
        </p:nvCxnSpPr>
        <p:spPr>
          <a:xfrm rot="10800000">
            <a:off x="2629900" y="5899100"/>
            <a:ext cx="2324700" cy="3318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12" name="Google Shape;712;p80"/>
          <p:cNvSpPr txBox="1"/>
          <p:nvPr/>
        </p:nvSpPr>
        <p:spPr>
          <a:xfrm>
            <a:off x="4954600" y="5763800"/>
            <a:ext cx="3804300" cy="9342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/>
              <a:t>Sacar es parcial, pero la bolita a sacar siempre va a existir gracias al Poner de la línea anterior.</a:t>
            </a:r>
            <a:endParaRPr sz="180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81"/>
          <p:cNvSpPr txBox="1">
            <a:spLocks noGrp="1"/>
          </p:cNvSpPr>
          <p:nvPr>
            <p:ph type="title"/>
          </p:nvPr>
        </p:nvSpPr>
        <p:spPr>
          <a:xfrm>
            <a:off x="62100" y="-37200"/>
            <a:ext cx="6978300" cy="70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900" b="1"/>
              <a:t>Contratos</a:t>
            </a:r>
            <a:r>
              <a:rPr lang="es" sz="2900"/>
              <a:t>: Propósitos y Precondiciones</a:t>
            </a:r>
            <a:endParaRPr/>
          </a:p>
        </p:txBody>
      </p:sp>
      <p:sp>
        <p:nvSpPr>
          <p:cNvPr id="718" name="Google Shape;718;p81"/>
          <p:cNvSpPr txBox="1"/>
          <p:nvPr/>
        </p:nvSpPr>
        <p:spPr>
          <a:xfrm>
            <a:off x="517500" y="1060950"/>
            <a:ext cx="8232000" cy="18555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es" sz="2400"/>
              <a:t>Al conjunto de propósito y precondiciones lo llamamos </a:t>
            </a:r>
            <a:r>
              <a:rPr lang="es" sz="2400" b="1" i="1"/>
              <a:t>CONTRATO </a:t>
            </a:r>
            <a:r>
              <a:rPr lang="es" sz="2400"/>
              <a:t>de un programa</a:t>
            </a:r>
            <a:endParaRPr sz="2400"/>
          </a:p>
          <a:p>
            <a: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" sz="2400"/>
              <a:t>El contrato establece qué debe hacer un programa y en qué situaciones va a funcionar correctamente</a:t>
            </a:r>
            <a:endParaRPr sz="2400"/>
          </a:p>
        </p:txBody>
      </p:sp>
      <p:pic>
        <p:nvPicPr>
          <p:cNvPr id="719" name="Google Shape;719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2375" y="3035025"/>
            <a:ext cx="6018753" cy="2574213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720" name="Google Shape;720;p81"/>
          <p:cNvSpPr txBox="1"/>
          <p:nvPr/>
        </p:nvSpPr>
        <p:spPr>
          <a:xfrm>
            <a:off x="799125" y="5727825"/>
            <a:ext cx="7744500" cy="924000"/>
          </a:xfrm>
          <a:prstGeom prst="rect">
            <a:avLst/>
          </a:prstGeom>
          <a:solidFill>
            <a:srgbClr val="FFE599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 b="1"/>
              <a:t>¡¡SIEMPRE SE DEBE ESCRIBIR EL CONTRATO DEL PROGRAMA ANTES QUE EL CÓDIGO!!</a:t>
            </a:r>
            <a:endParaRPr sz="2400" b="1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82"/>
          <p:cNvSpPr txBox="1">
            <a:spLocks noGrp="1"/>
          </p:cNvSpPr>
          <p:nvPr>
            <p:ph type="title"/>
          </p:nvPr>
        </p:nvSpPr>
        <p:spPr>
          <a:xfrm>
            <a:off x="62100" y="-37200"/>
            <a:ext cx="6978300" cy="70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900" b="1"/>
              <a:t>Contratos</a:t>
            </a:r>
            <a:r>
              <a:rPr lang="es" sz="2900"/>
              <a:t>: Propósitos y Precondiciones</a:t>
            </a:r>
            <a:endParaRPr/>
          </a:p>
        </p:txBody>
      </p:sp>
      <p:sp>
        <p:nvSpPr>
          <p:cNvPr id="726" name="Google Shape;726;p82"/>
          <p:cNvSpPr txBox="1"/>
          <p:nvPr/>
        </p:nvSpPr>
        <p:spPr>
          <a:xfrm>
            <a:off x="517500" y="1060950"/>
            <a:ext cx="8232000" cy="15300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" sz="2400"/>
              <a:t>El </a:t>
            </a:r>
            <a:r>
              <a:rPr lang="es" sz="2400" b="1"/>
              <a:t>CONTRATO</a:t>
            </a:r>
            <a:r>
              <a:rPr lang="es" sz="2400"/>
              <a:t> se escribe primero. Si no se sabe qué debe realizar el programa ¿Cómo saber qué código escribir?</a:t>
            </a:r>
            <a:endParaRPr sz="2400"/>
          </a:p>
        </p:txBody>
      </p:sp>
      <p:pic>
        <p:nvPicPr>
          <p:cNvPr id="727" name="Google Shape;727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2375" y="3035025"/>
            <a:ext cx="6018753" cy="2574213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83"/>
          <p:cNvSpPr txBox="1">
            <a:spLocks noGrp="1"/>
          </p:cNvSpPr>
          <p:nvPr>
            <p:ph type="title"/>
          </p:nvPr>
        </p:nvSpPr>
        <p:spPr>
          <a:xfrm>
            <a:off x="62100" y="-37200"/>
            <a:ext cx="6978300" cy="70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900" b="1"/>
              <a:t>Contratos</a:t>
            </a:r>
            <a:r>
              <a:rPr lang="es" sz="2900"/>
              <a:t>: Propósitos y Precondiciones</a:t>
            </a:r>
            <a:endParaRPr/>
          </a:p>
        </p:txBody>
      </p:sp>
      <p:pic>
        <p:nvPicPr>
          <p:cNvPr id="733" name="Google Shape;733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3250" y="3566975"/>
            <a:ext cx="4215150" cy="307447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734" name="Google Shape;734;p83"/>
          <p:cNvSpPr txBox="1"/>
          <p:nvPr/>
        </p:nvSpPr>
        <p:spPr>
          <a:xfrm>
            <a:off x="517500" y="1060950"/>
            <a:ext cx="8130900" cy="18555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" sz="2400"/>
              <a:t>El contrato </a:t>
            </a:r>
            <a:r>
              <a:rPr lang="es" sz="2400" b="1"/>
              <a:t>ES PARTE</a:t>
            </a:r>
            <a:r>
              <a:rPr lang="es" sz="2400"/>
              <a:t> del programa</a:t>
            </a:r>
            <a:endParaRPr sz="2400"/>
          </a:p>
          <a:p>
            <a: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" sz="2400"/>
              <a:t>Debe aparecer como comentario para que se pueda</a:t>
            </a:r>
            <a:endParaRPr sz="2400"/>
          </a:p>
          <a:p>
            <a:pPr marL="914400" marR="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s" sz="2400"/>
              <a:t>determinar si el programa es correcto</a:t>
            </a:r>
            <a:endParaRPr sz="2400"/>
          </a:p>
          <a:p>
            <a:pPr marL="914400" marR="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s" sz="2400"/>
              <a:t>saber en qué condiciones va a funcionar</a:t>
            </a:r>
            <a:endParaRPr sz="2400"/>
          </a:p>
        </p:txBody>
      </p:sp>
      <p:pic>
        <p:nvPicPr>
          <p:cNvPr id="735" name="Google Shape;735;p8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7500" y="3103562"/>
            <a:ext cx="3842750" cy="136875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736" name="Google Shape;736;p83"/>
          <p:cNvSpPr txBox="1"/>
          <p:nvPr/>
        </p:nvSpPr>
        <p:spPr>
          <a:xfrm>
            <a:off x="762925" y="4774900"/>
            <a:ext cx="3351900" cy="16212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/>
              <a:t>Uno de estos dos programas no es considerado adecuado en esta materia…</a:t>
            </a:r>
            <a:endParaRPr sz="240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84"/>
          <p:cNvSpPr txBox="1">
            <a:spLocks noGrp="1"/>
          </p:cNvSpPr>
          <p:nvPr>
            <p:ph type="title"/>
          </p:nvPr>
        </p:nvSpPr>
        <p:spPr>
          <a:xfrm>
            <a:off x="311700" y="1452975"/>
            <a:ext cx="8520600" cy="457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/>
              <a:t>Un programa está formado por tres partes:</a:t>
            </a:r>
            <a:endParaRPr sz="30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>
                <a:solidFill>
                  <a:srgbClr val="45818E"/>
                </a:solidFill>
              </a:rPr>
              <a:t>Propósito - ¿Qué?</a:t>
            </a:r>
            <a:br>
              <a:rPr lang="es" sz="3000">
                <a:solidFill>
                  <a:srgbClr val="45818E"/>
                </a:solidFill>
              </a:rPr>
            </a:br>
            <a:r>
              <a:rPr lang="es" sz="1800">
                <a:solidFill>
                  <a:srgbClr val="45818E"/>
                </a:solidFill>
              </a:rPr>
              <a:t>(Qué hace el programa)</a:t>
            </a:r>
            <a:endParaRPr sz="1800">
              <a:solidFill>
                <a:srgbClr val="45818E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>
                <a:solidFill>
                  <a:srgbClr val="45818E"/>
                </a:solidFill>
              </a:rPr>
              <a:t>Precondición - ¿Cuándo?</a:t>
            </a:r>
            <a:endParaRPr sz="3000">
              <a:solidFill>
                <a:srgbClr val="45818E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45818E"/>
                </a:solidFill>
              </a:rPr>
              <a:t>(Cuándo, o bajo qué supuestos hace lo que dice que hace.)</a:t>
            </a:r>
            <a:endParaRPr sz="1800">
              <a:solidFill>
                <a:srgbClr val="45818E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>
                <a:solidFill>
                  <a:srgbClr val="45818E"/>
                </a:solidFill>
              </a:rPr>
              <a:t>Código - ¿Cómo?</a:t>
            </a:r>
            <a:endParaRPr sz="3000">
              <a:solidFill>
                <a:srgbClr val="45818E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45818E"/>
                </a:solidFill>
              </a:rPr>
              <a:t>(Cómo lleva adelante aquellos que hace)</a:t>
            </a:r>
            <a:endParaRPr sz="1800">
              <a:solidFill>
                <a:srgbClr val="45818E"/>
              </a:solidFill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85"/>
          <p:cNvSpPr txBox="1">
            <a:spLocks noGrp="1"/>
          </p:cNvSpPr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Cierre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86"/>
          <p:cNvSpPr txBox="1">
            <a:spLocks noGrp="1"/>
          </p:cNvSpPr>
          <p:nvPr>
            <p:ph type="title"/>
          </p:nvPr>
        </p:nvSpPr>
        <p:spPr>
          <a:xfrm>
            <a:off x="62100" y="-37200"/>
            <a:ext cx="6978300" cy="70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Cierre</a:t>
            </a:r>
            <a:endParaRPr/>
          </a:p>
        </p:txBody>
      </p:sp>
      <p:sp>
        <p:nvSpPr>
          <p:cNvPr id="752" name="Google Shape;752;p86"/>
          <p:cNvSpPr txBox="1"/>
          <p:nvPr/>
        </p:nvSpPr>
        <p:spPr>
          <a:xfrm>
            <a:off x="517500" y="1441950"/>
            <a:ext cx="8174100" cy="49680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" sz="2400" b="1"/>
              <a:t>Programar </a:t>
            </a:r>
            <a:r>
              <a:rPr lang="es" sz="2400"/>
              <a:t>es </a:t>
            </a:r>
            <a:r>
              <a:rPr lang="es" sz="2400" b="1"/>
              <a:t>comunicar</a:t>
            </a:r>
            <a:endParaRPr sz="2400" b="1"/>
          </a:p>
          <a:p>
            <a:pPr marL="914400" marR="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" sz="2000"/>
              <a:t>una máquina </a:t>
            </a:r>
            <a:r>
              <a:rPr lang="es" sz="2000" b="1"/>
              <a:t>ejecuta </a:t>
            </a:r>
            <a:r>
              <a:rPr lang="es" sz="2000"/>
              <a:t>el código</a:t>
            </a:r>
            <a:endParaRPr sz="2000"/>
          </a:p>
          <a:p>
            <a:pPr marL="914400" marR="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" sz="2000"/>
              <a:t>las personas deben </a:t>
            </a:r>
            <a:r>
              <a:rPr lang="es" sz="2000" b="1"/>
              <a:t>entender </a:t>
            </a:r>
            <a:r>
              <a:rPr lang="es" sz="2000"/>
              <a:t>el código</a:t>
            </a:r>
            <a:endParaRPr sz="2000"/>
          </a:p>
          <a:p>
            <a: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" sz="2400"/>
              <a:t>Lenguaje de programación (Gobstones)</a:t>
            </a:r>
            <a:endParaRPr sz="2400"/>
          </a:p>
          <a:p>
            <a:pPr marL="914400" marR="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" sz="2000" b="1"/>
              <a:t>Comandos</a:t>
            </a:r>
            <a:r>
              <a:rPr lang="es" sz="2000"/>
              <a:t>: describen acciones</a:t>
            </a:r>
            <a:endParaRPr sz="2000"/>
          </a:p>
          <a:p>
            <a:pPr marL="1371600" marR="0" lvl="2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lang="es" sz="2000"/>
              <a:t>Comandos primitivos</a:t>
            </a:r>
            <a:endParaRPr sz="2000"/>
          </a:p>
          <a:p>
            <a:pPr marL="914400" marR="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" sz="2000" b="1"/>
              <a:t>Expresiones</a:t>
            </a:r>
            <a:r>
              <a:rPr lang="es" sz="2000"/>
              <a:t>: describen información</a:t>
            </a:r>
            <a:endParaRPr sz="2000"/>
          </a:p>
          <a:p>
            <a:pPr marL="914400" marR="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" sz="2000"/>
              <a:t>Debemos aprender las reglas de sintaxis</a:t>
            </a:r>
            <a:endParaRPr sz="2000"/>
          </a:p>
          <a:p>
            <a: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" sz="2400"/>
              <a:t>El programa </a:t>
            </a:r>
            <a:endParaRPr sz="2400"/>
          </a:p>
          <a:p>
            <a:pPr marL="914400" marR="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" sz="2000"/>
              <a:t>puede ser un texto o estar hecho con bloques y</a:t>
            </a:r>
            <a:endParaRPr sz="2000"/>
          </a:p>
          <a:p>
            <a:pPr marL="914400" marR="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" sz="2000" b="1"/>
              <a:t>describe</a:t>
            </a:r>
            <a:r>
              <a:rPr lang="es" sz="2000"/>
              <a:t> soluciones a problemas expresados como</a:t>
            </a:r>
            <a:endParaRPr sz="2000"/>
          </a:p>
          <a:p>
            <a:pPr marL="914400" marR="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" sz="2000" b="1"/>
              <a:t>transformaciones de estado </a:t>
            </a:r>
            <a:r>
              <a:rPr lang="es" sz="2000"/>
              <a:t>(tablero inicial en final)</a:t>
            </a:r>
            <a:endParaRPr sz="2000"/>
          </a:p>
          <a:p>
            <a:pPr marL="914400" marR="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" sz="2000"/>
              <a:t>y si es la misma transformación son </a:t>
            </a:r>
            <a:r>
              <a:rPr lang="es" sz="2000" b="1"/>
              <a:t>equivalentes</a:t>
            </a:r>
            <a:endParaRPr sz="2000" b="1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87"/>
          <p:cNvSpPr txBox="1">
            <a:spLocks noGrp="1"/>
          </p:cNvSpPr>
          <p:nvPr>
            <p:ph type="title"/>
          </p:nvPr>
        </p:nvSpPr>
        <p:spPr>
          <a:xfrm>
            <a:off x="62100" y="-37200"/>
            <a:ext cx="6978300" cy="70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Cierre</a:t>
            </a:r>
            <a:endParaRPr/>
          </a:p>
        </p:txBody>
      </p:sp>
      <p:sp>
        <p:nvSpPr>
          <p:cNvPr id="758" name="Google Shape;758;p87"/>
          <p:cNvSpPr txBox="1"/>
          <p:nvPr/>
        </p:nvSpPr>
        <p:spPr>
          <a:xfrm>
            <a:off x="517500" y="1670550"/>
            <a:ext cx="8174100" cy="40191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" sz="2400" b="1"/>
              <a:t>Indentar </a:t>
            </a:r>
            <a:r>
              <a:rPr lang="es" sz="2400"/>
              <a:t>es organizar el texto </a:t>
            </a:r>
            <a:endParaRPr sz="240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" sz="2000"/>
              <a:t>para mostrar las jerarquías, y </a:t>
            </a:r>
            <a:endParaRPr sz="200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" sz="2000"/>
              <a:t>hacer el texto más entendible</a:t>
            </a:r>
            <a:endParaRPr sz="2000"/>
          </a:p>
          <a:p>
            <a: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" sz="2400" b="1"/>
              <a:t>Documentar </a:t>
            </a:r>
            <a:r>
              <a:rPr lang="es" sz="2400"/>
              <a:t>es agregar información para las personas</a:t>
            </a:r>
            <a:endParaRPr sz="2000" b="1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s" sz="2000" b="1">
                <a:solidFill>
                  <a:schemeClr val="dk1"/>
                </a:solidFill>
              </a:rPr>
              <a:t>Contrato</a:t>
            </a:r>
            <a:r>
              <a:rPr lang="es" sz="2000">
                <a:solidFill>
                  <a:schemeClr val="dk1"/>
                </a:solidFill>
              </a:rPr>
              <a:t>: </a:t>
            </a:r>
            <a:r>
              <a:rPr lang="es" sz="2000" b="1">
                <a:solidFill>
                  <a:schemeClr val="dk1"/>
                </a:solidFill>
              </a:rPr>
              <a:t>propósito </a:t>
            </a:r>
            <a:r>
              <a:rPr lang="es" sz="2000">
                <a:solidFill>
                  <a:schemeClr val="dk1"/>
                </a:solidFill>
              </a:rPr>
              <a:t>y </a:t>
            </a:r>
            <a:r>
              <a:rPr lang="es" sz="2000" b="1">
                <a:solidFill>
                  <a:schemeClr val="dk1"/>
                </a:solidFill>
              </a:rPr>
              <a:t>precondiciones</a:t>
            </a:r>
            <a:endParaRPr sz="2000" b="1">
              <a:solidFill>
                <a:schemeClr val="dk1"/>
              </a:solidFill>
            </a:endParaRPr>
          </a:p>
          <a:p>
            <a:pPr marL="914400" marR="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" sz="2000"/>
              <a:t>Se utilizan </a:t>
            </a:r>
            <a:r>
              <a:rPr lang="es" sz="2000" b="1"/>
              <a:t>comentarios</a:t>
            </a:r>
            <a:r>
              <a:rPr lang="es" sz="2000"/>
              <a:t>, que es texto que la máquina ignora</a:t>
            </a:r>
            <a:endParaRPr sz="240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>
          <a:extLst>
            <a:ext uri="{FF2B5EF4-FFF2-40B4-BE49-F238E27FC236}">
              <a16:creationId xmlns:a16="http://schemas.microsoft.com/office/drawing/2014/main" id="{EB46DFF1-06C1-1618-24AB-D2AE19DB5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3">
            <a:extLst>
              <a:ext uri="{FF2B5EF4-FFF2-40B4-BE49-F238E27FC236}">
                <a16:creationId xmlns:a16="http://schemas.microsoft.com/office/drawing/2014/main" id="{3734A2F8-25E2-FA23-899C-E8EC9F006B94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2909402"/>
            <a:ext cx="8520600" cy="103919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/>
              <a:t>Programación estructurada</a:t>
            </a:r>
            <a:endParaRPr dirty="0"/>
          </a:p>
        </p:txBody>
      </p:sp>
      <p:sp>
        <p:nvSpPr>
          <p:cNvPr id="166" name="Google Shape;166;p23">
            <a:extLst>
              <a:ext uri="{FF2B5EF4-FFF2-40B4-BE49-F238E27FC236}">
                <a16:creationId xmlns:a16="http://schemas.microsoft.com/office/drawing/2014/main" id="{56280FD5-3355-3939-ADC8-B9D2F3B9CDE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11700" y="5261233"/>
            <a:ext cx="8520600" cy="66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s-AR" dirty="0"/>
              <a:t>&lt; |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1348757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3214</Words>
  <Application>Microsoft Office PowerPoint</Application>
  <PresentationFormat>Presentación en pantalla (4:3)</PresentationFormat>
  <Paragraphs>487</Paragraphs>
  <Slides>56</Slides>
  <Notes>56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56</vt:i4>
      </vt:variant>
    </vt:vector>
  </HeadingPairs>
  <TitlesOfParts>
    <vt:vector size="61" baseType="lpstr">
      <vt:lpstr>Arial</vt:lpstr>
      <vt:lpstr>Consolas</vt:lpstr>
      <vt:lpstr>Courier New</vt:lpstr>
      <vt:lpstr>Simple Light</vt:lpstr>
      <vt:lpstr>Simple Light</vt:lpstr>
      <vt:lpstr>Programación estructurada</vt:lpstr>
      <vt:lpstr>Introducción a Gobstones</vt:lpstr>
      <vt:lpstr>Elementos de Gobstones</vt:lpstr>
      <vt:lpstr>Elementos de Gobstones</vt:lpstr>
      <vt:lpstr>Programas</vt:lpstr>
      <vt:lpstr>Programar es comunicar</vt:lpstr>
      <vt:lpstr>Programar es comunicar</vt:lpstr>
      <vt:lpstr>Programar: Comunicar la descripción de la solución a un problema que puede ser ejecutado en una computadora.</vt:lpstr>
      <vt:lpstr>Programar como transformar estados</vt:lpstr>
      <vt:lpstr>Programar como transformar estados</vt:lpstr>
      <vt:lpstr>Programar como transformar estados</vt:lpstr>
      <vt:lpstr>Programar como transformar estados</vt:lpstr>
      <vt:lpstr>Aprender a programar es un viaje personal</vt:lpstr>
      <vt:lpstr>Programar en texto</vt:lpstr>
      <vt:lpstr>Bloques vs. Texto</vt:lpstr>
      <vt:lpstr>Reglas de sintaxis</vt:lpstr>
      <vt:lpstr>Reglas de sintaxis</vt:lpstr>
      <vt:lpstr>Reglas de sintaxis</vt:lpstr>
      <vt:lpstr>Reglas de sintaxis</vt:lpstr>
      <vt:lpstr>Reglas de sintaxis</vt:lpstr>
      <vt:lpstr>Reglas de Estilo: Indentación</vt:lpstr>
      <vt:lpstr>Reglas de estilo: Indentación</vt:lpstr>
      <vt:lpstr>Reglas de estilo: Indentación</vt:lpstr>
      <vt:lpstr>Reglas de estilo: Indentación</vt:lpstr>
      <vt:lpstr>Reglas de estilo: Indentación</vt:lpstr>
      <vt:lpstr>El mismo código, pero indentado</vt:lpstr>
      <vt:lpstr>Reglas de Estilo: Comentarios</vt:lpstr>
      <vt:lpstr>Reglas de estilo: Comentarios</vt:lpstr>
      <vt:lpstr>Reglas de estilo: Comentarios</vt:lpstr>
      <vt:lpstr>El mismo código, pero con comentarios</vt:lpstr>
      <vt:lpstr>Reglas de estilo</vt:lpstr>
      <vt:lpstr>¿Es correcto este código?</vt:lpstr>
      <vt:lpstr>¿Es correcto este código?</vt:lpstr>
      <vt:lpstr>Contratos</vt:lpstr>
      <vt:lpstr>Contratos: Propósitos y Precondiciones</vt:lpstr>
      <vt:lpstr>Contratos: Propósitos y Precondiciones</vt:lpstr>
      <vt:lpstr>Contratos: Propósitos y Precondiciones</vt:lpstr>
      <vt:lpstr>Contratos: Propósitos y Precondiciones</vt:lpstr>
      <vt:lpstr>Contratos: Propósitos y Precondiciones</vt:lpstr>
      <vt:lpstr>Contratos: Propósitos y Precondiciones</vt:lpstr>
      <vt:lpstr>Contratos: Propósitos y Precondiciones</vt:lpstr>
      <vt:lpstr>Contratos: Propósitos y Precondiciones</vt:lpstr>
      <vt:lpstr>Contratos: Propósitos y Precondiciones</vt:lpstr>
      <vt:lpstr>Contratos: Propósitos y Precondiciones</vt:lpstr>
      <vt:lpstr>Contratos: Propósitos y Precondiciones</vt:lpstr>
      <vt:lpstr>Contratos: Propósitos y Precondiciones</vt:lpstr>
      <vt:lpstr>Totalidad y Parcialidad</vt:lpstr>
      <vt:lpstr>Contratos: Propósitos y Precondiciones</vt:lpstr>
      <vt:lpstr>Contratos: Propósitos y Precondiciones</vt:lpstr>
      <vt:lpstr>Contratos: Propósitos y Precondiciones</vt:lpstr>
      <vt:lpstr>Contratos: Propósitos y Precondiciones</vt:lpstr>
      <vt:lpstr>Un programa está formado por tres partes:  Propósito - ¿Qué? (Qué hace el programa) Precondición - ¿Cuándo? (Cuándo, o bajo qué supuestos hace lo que dice que hace.) Código - ¿Cómo? (Cómo lleva adelante aquellos que hace)</vt:lpstr>
      <vt:lpstr>Cierre</vt:lpstr>
      <vt:lpstr>Cierre</vt:lpstr>
      <vt:lpstr>Cierre</vt:lpstr>
      <vt:lpstr>Programación estructurada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QUIROGA HERNAN</cp:lastModifiedBy>
  <cp:revision>1</cp:revision>
  <dcterms:modified xsi:type="dcterms:W3CDTF">2025-08-09T02:26:48Z</dcterms:modified>
</cp:coreProperties>
</file>