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B2FAuI4lhIbIuO6PHTdVnNnul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949440" y="-457200"/>
            <a:ext cx="2926080" cy="2926080"/>
          </a:xfrm>
          <a:prstGeom prst="ellipse">
            <a:avLst/>
          </a:prstGeom>
          <a:solidFill>
            <a:srgbClr val="028090">
              <a:alpha val="16078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0" y="3200400"/>
            <a:ext cx="1828800" cy="1828800"/>
          </a:xfrm>
          <a:prstGeom prst="ellipse">
            <a:avLst/>
          </a:prstGeom>
          <a:solidFill>
            <a:srgbClr val="E8611A">
              <a:alpha val="14117"/>
            </a:srgbClr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960120"/>
            <a:ext cx="2103120" cy="347472"/>
          </a:xfrm>
          <a:prstGeom prst="roundRect">
            <a:avLst>
              <a:gd fmla="val 2105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96012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3 — PRESENCIAL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41732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HTML: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19456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3000"/>
              <a:buFont typeface="Calibri"/>
              <a:buNone/>
            </a:pPr>
            <a:r>
              <a:rPr lang="en-US" sz="3000">
                <a:solidFill>
                  <a:srgbClr val="02A8BC"/>
                </a:solidFill>
                <a:latin typeface="Calibri"/>
                <a:ea typeface="Calibri"/>
                <a:cs typeface="Calibri"/>
                <a:sym typeface="Calibri"/>
              </a:rPr>
              <a:t>Texto, listas y enlaces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292608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457200" y="31272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8A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898A8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</a:t>
            </a:r>
            <a:r>
              <a:rPr b="1" lang="en-US" sz="1300">
                <a:solidFill>
                  <a:srgbClr val="02A8BC"/>
                </a:solidFill>
                <a:latin typeface="Calibri"/>
                <a:ea typeface="Calibri"/>
                <a:cs typeface="Calibri"/>
                <a:sym typeface="Calibri"/>
              </a:rPr>
              <a:t>UNAHUR </a:t>
            </a:r>
            <a:r>
              <a:rPr b="1" lang="en-US" sz="1300">
                <a:solidFill>
                  <a:srgbClr val="02A8BC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49300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8A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898A8"/>
                </a:solidFill>
                <a:latin typeface="Calibri"/>
                <a:ea typeface="Calibri"/>
                <a:cs typeface="Calibri"/>
                <a:sym typeface="Calibri"/>
              </a:rPr>
              <a:t>Unidad 1 — Lenguajes de marcado y estructura de documentos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92240" y="1417320"/>
            <a:ext cx="2423160" cy="493776"/>
          </a:xfrm>
          <a:prstGeom prst="roundRect">
            <a:avLst>
              <a:gd fmla="val 11111" name="adj"/>
            </a:avLst>
          </a:prstGeom>
          <a:solidFill>
            <a:srgbClr val="1E2D3D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92240" y="1417320"/>
            <a:ext cx="73152" cy="4937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20256" y="145389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028090"/>
                </a:solidFill>
                <a:latin typeface="Consolas"/>
                <a:ea typeface="Consolas"/>
                <a:cs typeface="Consolas"/>
                <a:sym typeface="Consolas"/>
              </a:rPr>
              <a:t>&lt;strong&gt;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240280"/>
            <a:ext cx="2423160" cy="493776"/>
          </a:xfrm>
          <a:prstGeom prst="roundRect">
            <a:avLst>
              <a:gd fmla="val 11111" name="adj"/>
            </a:avLst>
          </a:prstGeom>
          <a:solidFill>
            <a:srgbClr val="1E2D3D"/>
          </a:solidFill>
          <a:ln cap="flat" cmpd="sng" w="1905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92240" y="2240280"/>
            <a:ext cx="73152" cy="493776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620256" y="227685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E8611A"/>
                </a:solidFill>
                <a:latin typeface="Consolas"/>
                <a:ea typeface="Consolas"/>
                <a:cs typeface="Consolas"/>
                <a:sym typeface="Consolas"/>
              </a:rPr>
              <a:t>&lt;ul&gt; &lt;ol&gt;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92240" y="3063240"/>
            <a:ext cx="2423160" cy="493776"/>
          </a:xfrm>
          <a:prstGeom prst="roundRect">
            <a:avLst>
              <a:gd fmla="val 11111" name="adj"/>
            </a:avLst>
          </a:prstGeom>
          <a:solidFill>
            <a:srgbClr val="1E2D3D"/>
          </a:solidFill>
          <a:ln cap="flat" cmpd="sng" w="1905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92240" y="3063240"/>
            <a:ext cx="73152" cy="493776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620256" y="309981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6B3FA0"/>
                </a:solidFill>
                <a:latin typeface="Consolas"/>
                <a:ea typeface="Consolas"/>
                <a:cs typeface="Consolas"/>
                <a:sym typeface="Consolas"/>
              </a:rPr>
              <a:t>&lt;a href=""&gt;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hacemos hoy? (3 horas)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Hoja de ruta de la clase presencial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" y="1170432"/>
            <a:ext cx="1097280" cy="420624"/>
          </a:xfrm>
          <a:prstGeom prst="roundRect">
            <a:avLst>
              <a:gd fmla="val 13043" name="adj"/>
            </a:avLst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" y="1170432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508760" y="11704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993392" y="1170432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Repaso y demo en vivo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993392" y="1389888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Etiquetas de texto, listas y enlaces — conexión con la teoría de la Clase 2.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859536" y="1591056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0D8E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320040" y="1865376"/>
            <a:ext cx="1097280" cy="420624"/>
          </a:xfrm>
          <a:prstGeom prst="roundRect">
            <a:avLst>
              <a:gd fmla="val 1304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1865376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 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508760" y="18653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993392" y="1865376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Ejercicio 1: La Pasta Fresca SRL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993392" y="2084832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Página web de un restaurante familiar — menú, horarios y contacto.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859536" y="2286000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0D8E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320040" y="2560320"/>
            <a:ext cx="1097280" cy="420624"/>
          </a:xfrm>
          <a:prstGeom prst="roundRect">
            <a:avLst>
              <a:gd fmla="val 13043" name="adj"/>
            </a:avLst>
          </a:prstGeom>
          <a:solidFill>
            <a:srgbClr val="5A6A7A"/>
          </a:solidFill>
          <a:ln cap="flat" cmpd="sng" w="12700">
            <a:solidFill>
              <a:srgbClr val="5A6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0040" y="256032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508760" y="25603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993392" y="2560320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Pausa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859536" y="298094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0D8E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320040" y="3255264"/>
            <a:ext cx="1097280" cy="420624"/>
          </a:xfrm>
          <a:prstGeom prst="roundRect">
            <a:avLst>
              <a:gd fmla="val 13043" name="adj"/>
            </a:avLst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0040" y="325526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 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508760" y="32552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993392" y="325526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Ejercicio 2: FundAR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993392" y="34747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Portal institucional de una ONG — programas, impacto y formulario de contacto.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859536" y="3675888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0D8E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/>
          <p:nvPr/>
        </p:nvSpPr>
        <p:spPr>
          <a:xfrm>
            <a:off x="320040" y="3950208"/>
            <a:ext cx="1097280" cy="420624"/>
          </a:xfrm>
          <a:prstGeom prst="roundRect">
            <a:avLst>
              <a:gd fmla="val 13043" name="adj"/>
            </a:avLst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20040" y="3950208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508760" y="39502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993392" y="395020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Puesta en común y TP Grupal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993392" y="416966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Comparación de soluciones + Próximos pasos del TP grupal.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Etiquetas de texto en 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Para dar énfasis y significado al contenido escrito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0040" y="1115568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20040" y="1115568"/>
            <a:ext cx="2743200" cy="365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11480" y="111556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&lt;strong&gt;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11480" y="1517904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Importancia semántica. Negrita con significado para lectores de pantalla y buscadores.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93192" y="2267712"/>
            <a:ext cx="2596896" cy="475488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29768" y="2286000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&lt;strong&gt;30 años&lt;/strong&gt; de historia.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0040" y="2962656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0040" y="2962656"/>
            <a:ext cx="2743200" cy="365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11480" y="2962656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&lt;em&gt;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3364992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Énfasis semántico. Cursiva con significado. Indica que esa palabra tiene un matiz especial.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93192" y="4114800"/>
            <a:ext cx="2596896" cy="475488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29768" y="413308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La brecha digital es &lt;em&gt;también&lt;/em&gt; una brecha de oportunidades.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264408" y="1115568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64408" y="1115568"/>
            <a:ext cx="2743200" cy="36576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355848" y="111556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&lt;mark&gt;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355848" y="1517904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Texto resaltado como marcador. Útil para destacar el plato del día, términos, info clave.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337560" y="2267712"/>
            <a:ext cx="2596896" cy="475488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374136" y="2286000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&lt;mark&gt;Plato del día&lt;/mark&gt;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264408" y="2962656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64408" y="2962656"/>
            <a:ext cx="2743200" cy="36576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355848" y="2962656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&lt;small&gt;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355848" y="3364992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Texto de menor relevancia: copyright, notas legales, aclaraciones. No es para reducir tamaño.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337560" y="4114800"/>
            <a:ext cx="2596896" cy="475488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374136" y="413308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&lt;small&gt;FundAR &amp;copy; </a:t>
            </a: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2026</a:t>
            </a: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&lt;/small&gt;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208776" y="1115568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208776" y="1115568"/>
            <a:ext cx="2743200" cy="3657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300216" y="111556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&lt;br&gt;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300216" y="1517904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Salto de línea dentro de un párrafo. No tiene etiqueta de cierre. No es un elemento de bloque.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281928" y="2267712"/>
            <a:ext cx="2596896" cy="475488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318504" y="2286000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Thames 1420&lt;br&gt;Palermo, CABA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208776" y="2962656"/>
            <a:ext cx="274320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208776" y="2962656"/>
            <a:ext cx="2743200" cy="36576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300216" y="2962656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lang="en-US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&lt;hr&gt;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300216" y="3364992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Separador horizontal temático. Indica cambio de tema en la página. Tampoco se cierra.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281928" y="4114800"/>
            <a:ext cx="2596896" cy="475488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318504" y="4133088"/>
            <a:ext cx="25237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&lt;hr&gt; (separador visual)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Listas en 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Tres tipos para tres situaciones distintas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0040" y="1115568"/>
            <a:ext cx="2651760" cy="4023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1480" y="1115568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&lt;ul&gt;  Sin orden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11480" y="15727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orden de los ítems NO importa.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93192" y="1956816"/>
            <a:ext cx="2505456" cy="1170432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48056" y="199339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48056" y="2194560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&lt;li&gt;Bruschetta&lt;/li&gt;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48056" y="2395728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&lt;li&gt;Tabla de fiambres&lt;/li&gt;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48056" y="2596896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11480" y="321868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84632" y="345643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Bruschetta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4632" y="373075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Tabla de fiambres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24612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46120" y="1115568"/>
            <a:ext cx="2651760" cy="402336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337560" y="1115568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&lt;ol&gt;  Ordenada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337560" y="15727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orden SÍ importa (pasos, procesos).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319272" y="1956816"/>
            <a:ext cx="2505456" cy="1170432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374136" y="199339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05A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5A05A"/>
                </a:solidFill>
                <a:latin typeface="Consolas"/>
                <a:ea typeface="Consolas"/>
                <a:cs typeface="Consolas"/>
                <a:sym typeface="Consolas"/>
              </a:rPr>
              <a:t>&lt;ol&gt;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374136" y="2194560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&lt;li&gt;Inscripción&lt;/li&gt;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374136" y="2395728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&lt;li&gt;Reunión informativa&lt;/li&gt;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374136" y="2596896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05A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5A05A"/>
                </a:solidFill>
                <a:latin typeface="Consolas"/>
                <a:ea typeface="Consolas"/>
                <a:cs typeface="Consolas"/>
                <a:sym typeface="Consolas"/>
              </a:rPr>
              <a:t>&lt;/ol&gt;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337560" y="321868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410712" y="345643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Inscripción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410712" y="373075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Reunión informativa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17220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172200" y="1115568"/>
            <a:ext cx="2651760" cy="402336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263640" y="1115568"/>
            <a:ext cx="2468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&lt;dl&gt;  Definición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263640" y="15727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Pares clave-valor: término y descripción.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45352" y="1956816"/>
            <a:ext cx="2505456" cy="1170432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300216" y="199339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D0D8E0"/>
                </a:solidFill>
                <a:latin typeface="Consolas"/>
                <a:ea typeface="Consolas"/>
                <a:cs typeface="Consolas"/>
                <a:sym typeface="Consolas"/>
              </a:rPr>
              <a:t>&lt;dl&gt;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300216" y="2194560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&lt;dt&gt;Personas&lt;/dt&gt;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300216" y="2395728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&lt;dd&gt;4.200&lt;/dd&gt;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300216" y="2596896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&lt;dt&gt;Comunidades&lt;/dt&gt;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263640" y="321868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4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4A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336792" y="345643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Personas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336792" y="373075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4.200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336792" y="4005072"/>
            <a:ext cx="23225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Comunidades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elemento &lt;a&gt; — Hipervínculos en 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La base de la Web: conectar documentos y recursos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74320" y="4845333"/>
            <a:ext cx="8595360" cy="26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20040" y="111556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Todo enlace: &lt;a href="destino"&gt;texto visible&lt;/a&gt;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20040" y="1391292"/>
            <a:ext cx="4206240" cy="10929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20040" y="1391292"/>
            <a:ext cx="4206240" cy="31527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93192" y="1437012"/>
            <a:ext cx="237744" cy="22769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93192" y="1437012"/>
            <a:ext cx="237744" cy="227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04088" y="1427868"/>
            <a:ext cx="3749040" cy="24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Enlace externo (URL absoluta)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93192" y="1775340"/>
            <a:ext cx="4059936" cy="402851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48056" y="1793628"/>
            <a:ext cx="3968496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&lt;a href="https://maps.google.com/..."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target="_blank"&gt;Cómo llegar&lt;/a&gt;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11480" y="2250828"/>
            <a:ext cx="4023360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Siempre https://. Agregar target="_blank" para abrir en pestaña nueva.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727448" y="1391292"/>
            <a:ext cx="4206240" cy="10929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727448" y="1391292"/>
            <a:ext cx="4206240" cy="315275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800600" y="1437012"/>
            <a:ext cx="237744" cy="227698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800600" y="1437012"/>
            <a:ext cx="237744" cy="227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111496" y="1427868"/>
            <a:ext cx="3749040" cy="24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Enlace interno (URL relativa)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800600" y="1775340"/>
            <a:ext cx="4059936" cy="402851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855464" y="1793628"/>
            <a:ext cx="3968496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&lt;a href="menu.html"&gt;Ver menú&lt;/a&gt;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818888" y="2250828"/>
            <a:ext cx="4023360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Navega entre archivos del proyecto. No lleva https://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20040" y="2545239"/>
            <a:ext cx="4206240" cy="10929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20040" y="2545239"/>
            <a:ext cx="4206240" cy="315275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93192" y="2590959"/>
            <a:ext cx="237744" cy="227698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93192" y="2590959"/>
            <a:ext cx="237744" cy="227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04088" y="2581815"/>
            <a:ext cx="3749040" cy="24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Ancla — salto en la misma página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93192" y="2929287"/>
            <a:ext cx="4059936" cy="402851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48056" y="2947575"/>
            <a:ext cx="3968496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&lt;a href="#menu"&gt;Ir al menú&lt;/a&gt;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&lt;section id="menu"&gt;...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11480" y="3404775"/>
            <a:ext cx="4023360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El href empieza con #. El destino tiene id con ese nombre.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4727448" y="2545239"/>
            <a:ext cx="4206240" cy="10929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727448" y="2545239"/>
            <a:ext cx="4206240" cy="315275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800600" y="2590959"/>
            <a:ext cx="237744" cy="227698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800600" y="2590959"/>
            <a:ext cx="237744" cy="227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111496" y="2581815"/>
            <a:ext cx="3749040" cy="24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Enlace de correo (mailto:)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800600" y="2929287"/>
            <a:ext cx="4059936" cy="402851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855464" y="2947575"/>
            <a:ext cx="3968496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&lt;a href="mailto:info@fundar.org.ar"&gt;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Escribinos&lt;/a&gt;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818888" y="3404775"/>
            <a:ext cx="4023360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Abre el cliente de email del usuario.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20040" y="3845117"/>
            <a:ext cx="4206240" cy="95548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320040" y="3718505"/>
            <a:ext cx="4206240" cy="315275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393192" y="3764225"/>
            <a:ext cx="237744" cy="227698"/>
          </a:xfrm>
          <a:prstGeom prst="ellipse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393192" y="3764225"/>
            <a:ext cx="237744" cy="227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04088" y="3755081"/>
            <a:ext cx="3749040" cy="24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Enlace de teléfono (tel:)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393192" y="4102553"/>
            <a:ext cx="4059936" cy="402851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448056" y="4120841"/>
            <a:ext cx="3968496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&lt;a href="tel:+541143218765"&gt;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Llamar al restaurante&lt;/a&gt;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11480" y="4556939"/>
            <a:ext cx="4023360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En celulares abre el marcador directamente.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727448" y="3845117"/>
            <a:ext cx="4206240" cy="96673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727448" y="3718505"/>
            <a:ext cx="4206240" cy="315275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4800600" y="3764225"/>
            <a:ext cx="237744" cy="227698"/>
          </a:xfrm>
          <a:prstGeom prst="ellipse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800600" y="3764225"/>
            <a:ext cx="237744" cy="227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111496" y="3755081"/>
            <a:ext cx="3749040" cy="24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con target=_blank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800600" y="4102553"/>
            <a:ext cx="4059936" cy="402851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855464" y="4120841"/>
            <a:ext cx="3968496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&lt;a href="https://..." target="_blank"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rel="noopener noreferrer"&gt;Abrir&lt;/a&gt;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818888" y="4563973"/>
            <a:ext cx="4023360" cy="367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Siempre agregar rel="noopener noreferrer" con _blank.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 junto — Sección HTML del restaurante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Texto, listas y enlaces integrados en un documento real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20040" y="1115568"/>
            <a:ext cx="4480560" cy="36576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20040" y="11155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2A8BC"/>
                </a:solidFill>
                <a:latin typeface="Calibri"/>
                <a:ea typeface="Calibri"/>
                <a:cs typeface="Calibri"/>
                <a:sym typeface="Calibri"/>
              </a:rPr>
              <a:t>📝  HTML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38912" y="1444752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&lt;section id="menu"&gt;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38912" y="1623974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&lt;h2&gt;Menú del día&lt;/h2&gt;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38912" y="1803197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&lt;h3&gt;Pastas&lt;/h3&gt;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38912" y="1982419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&lt;ul&gt;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38912" y="2161642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&lt;li&gt;Fetuccine bolognesa&lt;/li&gt;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38912" y="2340864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&lt;li&gt;&lt;mark&gt;Ñoquis (plato del día)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38912" y="2520086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&lt;/mark&gt;&lt;/li&gt;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38912" y="2699309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&lt;/ul&gt;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38912" y="2878531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&lt;h3&gt;Pasos para reservar&lt;/h3&gt;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38912" y="3057754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&lt;ol&gt;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38912" y="3236976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&lt;li&gt;Llamar al restaurante&lt;/li&gt;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38912" y="3416198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&lt;li&gt;Confirmar disponibilidad&lt;/li&gt;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38912" y="3595421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&lt;/ol&gt;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38912" y="3774643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&lt;p&gt;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38912" y="3953866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&lt;a href="tel:+541143218765"&gt;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38912" y="4133088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Llamar ahora&lt;/a&gt;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38912" y="4312310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38912" y="4491533"/>
            <a:ext cx="4251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6"/>
          <p:cNvCxnSpPr/>
          <p:nvPr/>
        </p:nvCxnSpPr>
        <p:spPr>
          <a:xfrm>
            <a:off x="4892040" y="3035808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6"/>
          <p:cNvSpPr/>
          <p:nvPr/>
        </p:nvSpPr>
        <p:spPr>
          <a:xfrm>
            <a:off x="4846320" y="29077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5394960" y="1115568"/>
            <a:ext cx="3429000" cy="274320"/>
          </a:xfrm>
          <a:prstGeom prst="rect">
            <a:avLst/>
          </a:prstGeom>
          <a:solidFill>
            <a:srgbClr val="D0D8E0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486400" y="1188720"/>
            <a:ext cx="118872" cy="118872"/>
          </a:xfrm>
          <a:prstGeom prst="ellipse">
            <a:avLst/>
          </a:prstGeom>
          <a:solidFill>
            <a:srgbClr val="D94F37"/>
          </a:solidFill>
          <a:ln cap="flat" cmpd="sng" w="12700">
            <a:solidFill>
              <a:srgbClr val="D94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669280" y="1188720"/>
            <a:ext cx="118872" cy="118872"/>
          </a:xfrm>
          <a:prstGeom prst="ellipse">
            <a:avLst/>
          </a:prstGeom>
          <a:solidFill>
            <a:srgbClr val="F0A000"/>
          </a:solidFill>
          <a:ln cap="flat" cmpd="sng" w="12700">
            <a:solidFill>
              <a:srgbClr val="F0A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852160" y="1188720"/>
            <a:ext cx="118872" cy="118872"/>
          </a:xfrm>
          <a:prstGeom prst="ellipse">
            <a:avLst/>
          </a:prstGeom>
          <a:solidFill>
            <a:srgbClr val="5CB85C"/>
          </a:solidFill>
          <a:ln cap="flat" cmpd="sng" w="12700">
            <a:solidFill>
              <a:srgbClr val="5CB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035040" y="11155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restaurante.html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394960" y="1389888"/>
            <a:ext cx="342900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504688" y="14996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Menú del día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>
            <a:off x="5504688" y="1792224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6"/>
          <p:cNvSpPr/>
          <p:nvPr/>
        </p:nvSpPr>
        <p:spPr>
          <a:xfrm>
            <a:off x="5504688" y="188366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Pastas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559552" y="212140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Fetuccine bolognesa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5559552" y="2331720"/>
            <a:ext cx="2011680" cy="201168"/>
          </a:xfrm>
          <a:prstGeom prst="rect">
            <a:avLst/>
          </a:prstGeom>
          <a:solidFill>
            <a:srgbClr val="FFFF00">
              <a:alpha val="60000"/>
            </a:srgbClr>
          </a:solidFill>
          <a:ln cap="flat" cmpd="sng" w="127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5559552" y="2322576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Ñoquis (plato del día)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504688" y="262432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Pasos para reservar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5559552" y="287121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Llamar al restaurante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5559552" y="307238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Confirmar disponibilidad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5559552" y="341985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B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6BB5"/>
                </a:solidFill>
                <a:latin typeface="Calibri"/>
                <a:ea typeface="Calibri"/>
                <a:cs typeface="Calibri"/>
                <a:sym typeface="Calibri"/>
              </a:rPr>
              <a:t>Llamar ahora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6"/>
          <p:cNvCxnSpPr/>
          <p:nvPr/>
        </p:nvCxnSpPr>
        <p:spPr>
          <a:xfrm>
            <a:off x="5559552" y="3639312"/>
            <a:ext cx="804672" cy="0"/>
          </a:xfrm>
          <a:prstGeom prst="straightConnector1">
            <a:avLst/>
          </a:prstGeom>
          <a:noFill/>
          <a:ln cap="flat" cmpd="sng" w="9525">
            <a:solidFill>
              <a:srgbClr val="1A6BB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1 — La Pasta Fresca SRL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Primera web para un restaurante familiar de 30 años — sin CSS todavía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320040" y="1115568"/>
            <a:ext cx="8503920" cy="9601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20040" y="1115568"/>
            <a:ext cx="91440" cy="96012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48640" y="1152144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2A8BC"/>
                </a:solidFill>
                <a:latin typeface="Calibri"/>
                <a:ea typeface="Calibri"/>
                <a:cs typeface="Calibri"/>
                <a:sym typeface="Calibri"/>
              </a:rPr>
              <a:t>🍝  El caso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48640" y="1389888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 Héctor lleva 30 años con su restaurante familiar en Palermo y nunca tuvo web. Su sobrino armó un equipo de sistemas y el primer encargo es una página HTML pura — sin CSS — con el menú, horarios y contacto.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320040" y="20802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Consigna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20040" y="2354580"/>
            <a:ext cx="237744" cy="23774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20040" y="235458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67512" y="2311146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Crear restaurante.html con estructura HTML5 completa.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20040" y="2666531"/>
            <a:ext cx="237744" cy="23774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20040" y="2666531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58368" y="2611667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Nombre en &lt;h1&gt;, slogan en &lt;h2&gt;. Párrafo de presentación con &lt;strong&gt; para resaltar los años de trayectoria.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320040" y="2964766"/>
            <a:ext cx="237744" cy="23774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20040" y="296476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49224" y="2911309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Menú del día con secciones &lt;h3&gt;: Entradas, Pastas, Postres. Cada sección con &lt;ul&gt;. Resaltar el plato del día con &lt;mark&gt;.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10896" y="3257198"/>
            <a:ext cx="237744" cy="23774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10896" y="325719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49224" y="3220447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Horarios con &lt;dl&gt;: días como &lt;dt&gt;, horario como &lt;dd&gt;.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14413" y="3569149"/>
            <a:ext cx="237744" cy="23774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314413" y="3569149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58368" y="3509890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&lt;footer&gt; con &lt;a href="tel:"&gt;, enlace a Google Maps con target="_blank", y &lt;a href="mailto:"&gt;.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10896" y="3878638"/>
            <a:ext cx="237744" cy="23774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10896" y="387863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49224" y="3794760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&lt;nav&gt; con al menos dos enlaces internos (#menu, #contacto).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 — restaurante.html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La Pasta Fresca SRL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20040" y="1038194"/>
            <a:ext cx="8503920" cy="37490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38912" y="1129634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D0D8E0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38912" y="1277767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&lt;html lang="es"&gt;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38912" y="1425900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38912" y="1574032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&lt;title&gt;La Pasta Fresca&lt;/title&gt;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38912" y="1722165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38912" y="1870298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38912" y="2018431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&lt;header&gt;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438912" y="2166564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&lt;h1&gt;La Pasta Fresca SRL&lt;/h1&gt;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38912" y="2314696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&lt;h2&gt;Cocina italiana desde 1994&lt;/h2&gt;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38912" y="2462829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&lt;nav&gt;&lt;ul&gt;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38912" y="2610962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&lt;li&gt;&lt;a href="#menu"&gt;Menú&lt;/a&gt;&lt;/li&gt;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38912" y="2759095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&lt;li&gt;&lt;a href="#contacto"&gt;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38912" y="2907228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 Contacto&lt;/a&gt;&lt;/li&gt;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38912" y="3055360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&lt;/ul&gt;&lt;/nav&gt;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38912" y="3203493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&lt;/header&gt;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38912" y="3351626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&lt;main&gt;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38912" y="3499759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&lt;p&gt;Más de &lt;strong&gt;30 años&lt;/strong&gt;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38912" y="3647892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 historia en Palermo.&lt;/p&gt;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38912" y="3796024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&lt;section id="menu"&gt;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38912" y="3944157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&lt;h3&gt;Pastas&lt;/h3&gt;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38912" y="4092290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38912" y="4240423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&lt;li&gt;Fetuccine bolognesa&lt;/li&gt;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38912" y="4388556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    &lt;li&gt;&lt;mark&gt;Ñoquis&lt;/mark&gt;&lt;/li&gt;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38912" y="4536688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&lt;/ul&gt;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38912" y="4656685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&lt;/section&gt;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599432" y="112963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&lt;section id="horarios"&gt;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599432" y="1277767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&lt;h2&gt;Horarios&lt;/h2&gt;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599432" y="142590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&lt;dl&gt;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599432" y="157403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&lt;dt&gt;Lunes a viernes&lt;/dt&gt;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4599432" y="1722165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      &lt;dd&gt;12:00 a 15:30 hs&lt;/dd&gt;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599432" y="187029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&lt;dt&gt;Sábados&lt;/dt&gt;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599432" y="2018431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      &lt;dd&gt;12:00 a 16:00 hs&lt;/dd&gt;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599432" y="216656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&lt;/dl&gt;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599432" y="231469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&lt;/section&gt;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4599432" y="2462829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&lt;/main&gt;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599432" y="261096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&lt;footer id="contacto"&gt;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4599432" y="2759095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599432" y="290722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&lt;p&gt;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599432" y="305536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&lt;a href="tel:+541143218765"&gt;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599432" y="3203493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 +54 11 4321-8765&lt;/a&gt;&lt;br&gt;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599432" y="335162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&lt;a href="https://maps.google.com/..."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599432" y="3499759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  target="_blank"&gt;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599432" y="364789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  Cómo llegar&lt;/a&gt;&lt;br&gt;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599432" y="379602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&lt;a href="mailto:reservas@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599432" y="3944157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 lapastafresca.com.ar"&gt;Reservar&lt;/a&gt;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599432" y="409229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&lt;/p&gt;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599432" y="4240423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&lt;/footer&gt;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599432" y="438855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&lt;/body&gt;&lt;/html&gt;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8"/>
          <p:cNvCxnSpPr/>
          <p:nvPr/>
        </p:nvCxnSpPr>
        <p:spPr>
          <a:xfrm>
            <a:off x="4480560" y="1111346"/>
            <a:ext cx="0" cy="3456432"/>
          </a:xfrm>
          <a:prstGeom prst="straightConnector1">
            <a:avLst/>
          </a:prstGeom>
          <a:noFill/>
          <a:ln cap="flat" cmpd="sng" w="12700">
            <a:solidFill>
              <a:srgbClr val="2D4A5A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2 — FundAR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Portal institucional de una ONG — más libre que el Ejercicio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274320" y="4857562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20040" y="1115568"/>
            <a:ext cx="8503920" cy="960120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320040" y="1115568"/>
            <a:ext cx="91440" cy="960120"/>
          </a:xfrm>
          <a:prstGeom prst="rect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48640" y="1152144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05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5A05A"/>
                </a:solidFill>
                <a:latin typeface="Calibri"/>
                <a:ea typeface="Calibri"/>
                <a:cs typeface="Calibri"/>
                <a:sym typeface="Calibri"/>
              </a:rPr>
              <a:t>🤝  El caso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48640" y="1389888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FundAR es una ONG de educación digital en comunidades del conurbano. Consiguieron financiamiento para rediseñar su sitio web y necesitan la primera versión HTML de su página institucional.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320040" y="221284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1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8611A"/>
                </a:solidFill>
                <a:latin typeface="Calibri"/>
                <a:ea typeface="Calibri"/>
                <a:cs typeface="Calibri"/>
                <a:sym typeface="Calibri"/>
              </a:rPr>
              <a:t>Consigna — más libre que el Ejercicio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20040" y="2596896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20040" y="259689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67512" y="2578608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Crear fundar.html con estructura HTML5 completa.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20040" y="2889500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320040" y="28895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667512" y="2871212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Nombre en &lt;h1&gt;, misión en &lt;h2&gt;. Párrafo de presentación con &lt;em&gt; para enfatizar la idea central.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20040" y="3182104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320040" y="318210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667512" y="3163816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Sección 'Nuestros programas': al menos 3 programas, cada uno con &lt;h3&gt; y &lt;p&gt;.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20040" y="3474709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20040" y="3474709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667512" y="3456421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Sección 'Nuestro impacto': números clave con &lt;dl&gt; (ej: Personas alcanzadas → 4.200).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320040" y="3760279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320040" y="3760279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667512" y="3741991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Sección 'Sumáte': &lt;ul&gt; con formas de colaborar + &lt;ol&gt; con pasos para ser voluntario/a.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20040" y="4045849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0040" y="4045849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4027561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&lt;nav&gt; con enlaces internos. Enlace externo a red social con target='_blank'. Enlace mailto: para contacto.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20040" y="4331420"/>
            <a:ext cx="237744" cy="237744"/>
          </a:xfrm>
          <a:prstGeom prst="ellipse">
            <a:avLst/>
          </a:prstGeom>
          <a:solidFill>
            <a:srgbClr val="E8611A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20040" y="433142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667512" y="4313132"/>
            <a:ext cx="81198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Reflexionar: ¿por qué &lt;dl&gt; para los números de impacto y no una &lt;ul&gt;?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Solución — fundar.html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FundAR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320040" y="1115568"/>
            <a:ext cx="8503920" cy="36576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E86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38912" y="1207008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D0D8E0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38912" y="1355141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&lt;html lang="es"&gt;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438912" y="1503274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38912" y="1651406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&lt;title&gt;FundAR&lt;/title&gt;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38912" y="1799539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38912" y="1947672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38912" y="2095805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&lt;header&gt;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38912" y="2243938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&lt;h1&gt;FundAR&lt;/h1&gt;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438912" y="2392070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&lt;h2&gt;Educación digital para todos&lt;/h2&gt;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38912" y="2540203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&lt;nav&gt;&lt;ul&gt;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38912" y="2688336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&lt;li&gt;&lt;a href="#programas"&gt;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38912" y="2836469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 Programas&lt;/a&gt;&lt;/li&gt;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38912" y="2984602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&lt;li&gt;&lt;a href="#impacto"&gt;Impacto&lt;/a&gt;&lt;/li&gt;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38912" y="3132734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&lt;/ul&gt;&lt;/nav&gt;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38912" y="3280867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&lt;/header&gt;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38912" y="3429000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&lt;main&gt;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438912" y="3577133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&lt;p&gt;&lt;em&gt;La brecha digital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38912" y="3725266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es una brecha de oportunidades&lt;/em&gt;.&lt;/p&gt;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38912" y="3873398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&lt;section id="programas"&gt;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438912" y="4021531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&lt;h2&gt;Nuestros programas&lt;/h2&gt;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38912" y="4169664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&lt;h3&gt;Primeras Líneas de Código&lt;/h3&gt;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38912" y="4317797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&lt;p&gt;Talleres para adolescentes.&lt;/p&gt;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38912" y="4465930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&lt;h3&gt;Mujeres en Tecnología&lt;/h3&gt;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38912" y="4614062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&lt;p&gt;Formación para adultas.&lt;/p&gt;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438912" y="4762195"/>
            <a:ext cx="39776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&lt;/section&gt;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4599432" y="120700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&lt;section id="impacto"&gt;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4599432" y="1355141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&lt;h2&gt;Nuestro impacto&lt;/h2&gt;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4599432" y="150327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&lt;dl&gt;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599432" y="165140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&lt;dt&gt;Personas&lt;/dt&gt;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4599432" y="1799539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      &lt;dd&gt;4.200&lt;/dd&gt;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4599432" y="194767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&lt;dt&gt;Comunidades&lt;/dt&gt;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4599432" y="2095805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        &lt;dd&gt;18 municipios&lt;/dd&gt;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4599432" y="224393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&lt;/dl&gt;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599432" y="239207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&lt;/section&gt;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599432" y="2540203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&lt;section id="sumate"&gt;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4599432" y="268833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&lt;h2&gt;Sumáte&lt;/h2&gt;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599432" y="2836469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4599432" y="298460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&lt;li&gt;Ser voluntario/a&lt;/li&gt;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599432" y="313273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&lt;li&gt;Hacer una donación&lt;/li&gt;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599432" y="3280867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&lt;/ul&gt;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4599432" y="342900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&lt;ol&gt;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4599432" y="3577133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&lt;li&gt;Completar formulario&lt;/li&gt;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4599432" y="3725266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&lt;li&gt;Reunión informativa&lt;/li&gt;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4599432" y="387339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  &lt;/ol&gt;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4599432" y="4021531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  &lt;/section&gt;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4599432" y="416966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&lt;/main&gt;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4599432" y="4317797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&lt;footer&gt;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4599432" y="4465930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&lt;a href="mailto:info@fundar.org.ar"&gt;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4599432" y="4614062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info@fundar.org.ar&lt;/a&gt;&lt;br&gt;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4599432" y="4762195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&lt;a href="https://instagram.com/fundar_org"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4599432" y="4910328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D8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7DD3D8"/>
                </a:solidFill>
                <a:latin typeface="Consolas"/>
                <a:ea typeface="Consolas"/>
                <a:cs typeface="Consolas"/>
                <a:sym typeface="Consolas"/>
              </a:rPr>
              <a:t>       target="_blank"&gt;Instagram&lt;/a&gt;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4599432" y="5058461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  &lt;/footer&gt;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4599432" y="5206594"/>
            <a:ext cx="38862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02A8BC"/>
                </a:solidFill>
                <a:latin typeface="Consolas"/>
                <a:ea typeface="Consolas"/>
                <a:cs typeface="Consolas"/>
                <a:sym typeface="Consolas"/>
              </a:rPr>
              <a:t>&lt;/body&gt;&lt;/html&gt;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10"/>
          <p:cNvCxnSpPr/>
          <p:nvPr/>
        </p:nvCxnSpPr>
        <p:spPr>
          <a:xfrm>
            <a:off x="4480560" y="1188720"/>
            <a:ext cx="0" cy="3456432"/>
          </a:xfrm>
          <a:prstGeom prst="straightConnector1">
            <a:avLst/>
          </a:prstGeom>
          <a:noFill/>
          <a:ln cap="flat" cmpd="sng" w="12700">
            <a:solidFill>
              <a:srgbClr val="2D4A5A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A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65760" y="365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Errores frecuentes en esta clase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EF2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8EEF2"/>
                </a:solidFill>
                <a:latin typeface="Calibri"/>
                <a:ea typeface="Calibri"/>
                <a:cs typeface="Calibri"/>
                <a:sym typeface="Calibri"/>
              </a:rPr>
              <a:t>Los que van a aparecer hoy — y cómo corregirlos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320040" y="1115568"/>
            <a:ext cx="420624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320040" y="1115568"/>
            <a:ext cx="4206240" cy="310896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11480" y="111556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✖  &lt;b&gt; en vez de &lt;strong&gt;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393192" y="1481328"/>
            <a:ext cx="4059936" cy="365760"/>
          </a:xfrm>
          <a:prstGeom prst="rect">
            <a:avLst/>
          </a:prstGeom>
          <a:solidFill>
            <a:srgbClr val="3D1A1A"/>
          </a:solidFill>
          <a:ln cap="flat" cmpd="sng" w="12700">
            <a:solidFill>
              <a:srgbClr val="3D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429768" y="1499616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8A8A"/>
                </a:solidFill>
                <a:latin typeface="Consolas"/>
                <a:ea typeface="Consolas"/>
                <a:cs typeface="Consolas"/>
                <a:sym typeface="Consolas"/>
              </a:rPr>
              <a:t>&lt;b&gt;30 años de historia&lt;/b&gt;  ← solo visual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393192" y="1901952"/>
            <a:ext cx="4059936" cy="365760"/>
          </a:xfrm>
          <a:prstGeom prst="rect">
            <a:avLst/>
          </a:prstGeom>
          <a:solidFill>
            <a:srgbClr val="1A3D1A"/>
          </a:solidFill>
          <a:ln cap="flat" cmpd="sng" w="12700">
            <a:solidFill>
              <a:srgbClr val="1A3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29768" y="1920240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FF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8AFF8A"/>
                </a:solidFill>
                <a:latin typeface="Consolas"/>
                <a:ea typeface="Consolas"/>
                <a:cs typeface="Consolas"/>
                <a:sym typeface="Consolas"/>
              </a:rPr>
              <a:t>&lt;strong&gt;30 años de historia&lt;/strong&gt;  ← semántico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411480" y="232257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💡 En HTML5 siempre prefiere las etiquetas semánticas.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4727448" y="1115568"/>
            <a:ext cx="420624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4727448" y="1115568"/>
            <a:ext cx="4206240" cy="310896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4818888" y="111556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✖  Olvidar cerrar &lt;li&gt;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4800600" y="1481328"/>
            <a:ext cx="4059936" cy="365760"/>
          </a:xfrm>
          <a:prstGeom prst="rect">
            <a:avLst/>
          </a:prstGeom>
          <a:solidFill>
            <a:srgbClr val="3D1A1A"/>
          </a:solidFill>
          <a:ln cap="flat" cmpd="sng" w="12700">
            <a:solidFill>
              <a:srgbClr val="3D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4837176" y="1499616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8A8A"/>
                </a:solidFill>
                <a:latin typeface="Consolas"/>
                <a:ea typeface="Consolas"/>
                <a:cs typeface="Consolas"/>
                <a:sym typeface="Consolas"/>
              </a:rPr>
              <a:t>&lt;ul&gt;&lt;li&gt;Fetuccine&lt;li&gt;Ñoquis&lt;/ul&gt;  ← sin cerrar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4800600" y="1901952"/>
            <a:ext cx="4059936" cy="365760"/>
          </a:xfrm>
          <a:prstGeom prst="rect">
            <a:avLst/>
          </a:prstGeom>
          <a:solidFill>
            <a:srgbClr val="1A3D1A"/>
          </a:solidFill>
          <a:ln cap="flat" cmpd="sng" w="12700">
            <a:solidFill>
              <a:srgbClr val="1A3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4837176" y="1920240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FF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8AFF8A"/>
                </a:solidFill>
                <a:latin typeface="Consolas"/>
                <a:ea typeface="Consolas"/>
                <a:cs typeface="Consolas"/>
                <a:sym typeface="Consolas"/>
              </a:rPr>
              <a:t>&lt;ul&gt;&lt;li&gt;Fetuccine&lt;/li&gt;&lt;li&gt;Ñoquis&lt;/li&gt;&lt;/ul&gt;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4818888" y="232257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💡 El navegador lo tolera, pero el HTML queda inválido.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320040" y="2990088"/>
            <a:ext cx="420624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320040" y="2990088"/>
            <a:ext cx="4206240" cy="310896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411480" y="299008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✖  href sin # en enlace interno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393192" y="3355848"/>
            <a:ext cx="4059936" cy="365760"/>
          </a:xfrm>
          <a:prstGeom prst="rect">
            <a:avLst/>
          </a:prstGeom>
          <a:solidFill>
            <a:srgbClr val="3D1A1A"/>
          </a:solidFill>
          <a:ln cap="flat" cmpd="sng" w="12700">
            <a:solidFill>
              <a:srgbClr val="3D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429768" y="3374136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8A8A"/>
                </a:solidFill>
                <a:latin typeface="Consolas"/>
                <a:ea typeface="Consolas"/>
                <a:cs typeface="Consolas"/>
                <a:sym typeface="Consolas"/>
              </a:rPr>
              <a:t>&lt;a href="menu"&gt;Ir al menú&lt;/a&gt;  ← busca archivo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393192" y="3776472"/>
            <a:ext cx="4059936" cy="365760"/>
          </a:xfrm>
          <a:prstGeom prst="rect">
            <a:avLst/>
          </a:prstGeom>
          <a:solidFill>
            <a:srgbClr val="1A3D1A"/>
          </a:solidFill>
          <a:ln cap="flat" cmpd="sng" w="12700">
            <a:solidFill>
              <a:srgbClr val="1A3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429768" y="3794760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FF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8AFF8A"/>
                </a:solidFill>
                <a:latin typeface="Consolas"/>
                <a:ea typeface="Consolas"/>
                <a:cs typeface="Consolas"/>
                <a:sym typeface="Consolas"/>
              </a:rPr>
              <a:t>&lt;a href="#menu"&gt;Ir al menú&lt;/a&gt;  ← salta al id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411480" y="419709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💡 Los anclas internas siempre llevan # antes del id.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4727448" y="2990088"/>
            <a:ext cx="4206240" cy="17190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4727448" y="2990088"/>
            <a:ext cx="4206240" cy="310896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4818888" y="299008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✖  &lt;li&gt; dentro de &lt;dl&gt;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4800600" y="3355848"/>
            <a:ext cx="4059936" cy="365760"/>
          </a:xfrm>
          <a:prstGeom prst="rect">
            <a:avLst/>
          </a:prstGeom>
          <a:solidFill>
            <a:srgbClr val="3D1A1A"/>
          </a:solidFill>
          <a:ln cap="flat" cmpd="sng" w="12700">
            <a:solidFill>
              <a:srgbClr val="3D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4837176" y="3374136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FF8A8A"/>
                </a:solidFill>
                <a:latin typeface="Consolas"/>
                <a:ea typeface="Consolas"/>
                <a:cs typeface="Consolas"/>
                <a:sym typeface="Consolas"/>
              </a:rPr>
              <a:t>&lt;dl&gt;&lt;li&gt;4.200 personas&lt;/li&gt;&lt;/dl&gt;  ← incorrecto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4800600" y="3776472"/>
            <a:ext cx="4059936" cy="365760"/>
          </a:xfrm>
          <a:prstGeom prst="rect">
            <a:avLst/>
          </a:prstGeom>
          <a:solidFill>
            <a:srgbClr val="1A3D1A"/>
          </a:solidFill>
          <a:ln cap="flat" cmpd="sng" w="12700">
            <a:solidFill>
              <a:srgbClr val="1A3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4837176" y="3794760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FF8A"/>
              </a:buClr>
              <a:buSzPts val="820"/>
              <a:buFont typeface="Consolas"/>
              <a:buNone/>
            </a:pPr>
            <a:r>
              <a:rPr lang="en-US" sz="820">
                <a:solidFill>
                  <a:srgbClr val="8AFF8A"/>
                </a:solidFill>
                <a:latin typeface="Consolas"/>
                <a:ea typeface="Consolas"/>
                <a:cs typeface="Consolas"/>
                <a:sym typeface="Consolas"/>
              </a:rPr>
              <a:t>&lt;dl&gt;&lt;dt&gt;Personas&lt;/dt&gt;&lt;dd&gt;4.200&lt;/dd&gt;&lt;/dl&gt;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4818888" y="419709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💡 &lt;dl&gt; solo acepta &lt;dt&gt; y &lt;dd&gt; como hijos directos.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71C1C"/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858000" y="-365760"/>
            <a:ext cx="2926080" cy="2926080"/>
          </a:xfrm>
          <a:prstGeom prst="ellipse">
            <a:avLst/>
          </a:prstGeom>
          <a:solidFill>
            <a:srgbClr val="B71C1C">
              <a:alpha val="12156"/>
            </a:srgbClr>
          </a:solidFill>
          <a:ln cap="flat" cmpd="sng" w="1270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8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8A8A"/>
                </a:solidFill>
                <a:latin typeface="Calibri"/>
                <a:ea typeface="Calibri"/>
                <a:cs typeface="Calibri"/>
                <a:sym typeface="Calibri"/>
              </a:rPr>
              <a:t>Antes de irse — Commit Obligatorio 1 se acerca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próxima clase (Clase 4, Virtual) es la fecha límite del Commit Obligatorio 1.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12"/>
          <p:cNvCxnSpPr/>
          <p:nvPr/>
        </p:nvCxnSpPr>
        <p:spPr>
          <a:xfrm>
            <a:off x="457200" y="107899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FF8A8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16" name="Google Shape;516;p12"/>
          <p:cNvSpPr/>
          <p:nvPr/>
        </p:nvSpPr>
        <p:spPr>
          <a:xfrm>
            <a:off x="457200" y="120700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¿Qué tiene que tener el repo antes de la Clase 4?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457200" y="1664208"/>
            <a:ext cx="118872" cy="118872"/>
          </a:xfrm>
          <a:prstGeom prst="ellipse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85800" y="160934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 menos un archivo HTML del TP en el repositorio (puede ser el index.html del sitio del TP).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457200" y="2258568"/>
            <a:ext cx="118872" cy="118872"/>
          </a:xfrm>
          <a:prstGeom prst="ellipse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85800" y="220370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Commits de todos los integrantes del equipo — verificamos el historial de Git.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457200" y="2852928"/>
            <a:ext cx="118872" cy="118872"/>
          </a:xfrm>
          <a:prstGeom prst="ellipse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685800" y="2798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repositorio tiene que estar en GitHub, no solo local.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457200" y="3447288"/>
            <a:ext cx="118872" cy="118872"/>
          </a:xfrm>
          <a:prstGeom prst="ellipse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685800" y="339242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mensaje del commit debe ser descriptivo: "feat: estructura inicial del sitio del TP"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B71C1C">
              <a:alpha val="80000"/>
            </a:srgbClr>
          </a:solidFill>
          <a:ln cap="flat" cmpd="sng" w="12700">
            <a:solidFill>
              <a:srgbClr val="F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Si tu equipo aún no tiene repositorio en GitHub → hacerlo AHORA, antes de salir de clase.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A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6675120" y="-365760"/>
            <a:ext cx="3108960" cy="3108960"/>
          </a:xfrm>
          <a:prstGeom prst="ellipse">
            <a:avLst/>
          </a:prstGeom>
          <a:solidFill>
            <a:srgbClr val="028090">
              <a:alpha val="14117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A8BC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2A8BC"/>
                </a:solidFill>
                <a:latin typeface="Calibri"/>
                <a:ea typeface="Calibri"/>
                <a:cs typeface="Calibri"/>
                <a:sym typeface="Calibri"/>
              </a:rPr>
              <a:t>¿Qué aprendimos hoy?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457200" y="868680"/>
            <a:ext cx="118872" cy="118872"/>
          </a:xfrm>
          <a:prstGeom prst="ellipse">
            <a:avLst/>
          </a:prstGeom>
          <a:solidFill>
            <a:srgbClr val="02A8BC"/>
          </a:solidFill>
          <a:ln cap="flat" cmpd="sng" w="12700">
            <a:solidFill>
              <a:srgbClr val="02A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685800" y="813816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etiquetas semánticas de texto (&lt;strong&gt;, &lt;em&gt;, &lt;mark&gt;, &lt;small&gt;) dan significado, no solo estilo.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457200" y="1362456"/>
            <a:ext cx="118872" cy="118872"/>
          </a:xfrm>
          <a:prstGeom prst="ellipse">
            <a:avLst/>
          </a:prstGeom>
          <a:solidFill>
            <a:srgbClr val="02A8BC"/>
          </a:solidFill>
          <a:ln cap="flat" cmpd="sng" w="12700">
            <a:solidFill>
              <a:srgbClr val="02A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685800" y="1307592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&lt;ul&gt; cuando el orden no importa, &lt;ol&gt; para procesos, &lt;dl&gt;/&lt;dt&gt;/&lt;dd&gt; para pares clave-valor.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457200" y="1856232"/>
            <a:ext cx="118872" cy="118872"/>
          </a:xfrm>
          <a:prstGeom prst="ellipse">
            <a:avLst/>
          </a:prstGeom>
          <a:solidFill>
            <a:srgbClr val="02A8BC"/>
          </a:solidFill>
          <a:ln cap="flat" cmpd="sng" w="12700">
            <a:solidFill>
              <a:srgbClr val="02A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685800" y="180136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elemento &lt;a&gt; conecta páginas, secciones internas, correos y teléfonos — cada uno con su protocolo.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457200" y="2350008"/>
            <a:ext cx="118872" cy="118872"/>
          </a:xfrm>
          <a:prstGeom prst="ellipse">
            <a:avLst/>
          </a:prstGeom>
          <a:solidFill>
            <a:srgbClr val="02A8BC"/>
          </a:solidFill>
          <a:ln cap="flat" cmpd="sng" w="12700">
            <a:solidFill>
              <a:srgbClr val="02A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685800" y="2295144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enlaces internos con href='#id' permiten navegar dentro de una misma página.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457200" y="2843784"/>
            <a:ext cx="118872" cy="118872"/>
          </a:xfrm>
          <a:prstGeom prst="ellipse">
            <a:avLst/>
          </a:prstGeom>
          <a:solidFill>
            <a:srgbClr val="02A8BC"/>
          </a:solidFill>
          <a:ln cap="flat" cmpd="sng" w="12700">
            <a:solidFill>
              <a:srgbClr val="02A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685800" y="278892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target='_blank' siempre acompañado de rel='noopener noreferrer' por seguridad.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457200" y="3337560"/>
            <a:ext cx="118872" cy="118872"/>
          </a:xfrm>
          <a:prstGeom prst="ellipse">
            <a:avLst/>
          </a:prstGeom>
          <a:solidFill>
            <a:srgbClr val="02A8BC"/>
          </a:solidFill>
          <a:ln cap="flat" cmpd="sng" w="12700">
            <a:solidFill>
              <a:srgbClr val="02A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685800" y="3282696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validación en validator.w3.org es parte del flujo de trabajo, no opcional.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13"/>
          <p:cNvCxnSpPr/>
          <p:nvPr/>
        </p:nvCxnSpPr>
        <p:spPr>
          <a:xfrm>
            <a:off x="457200" y="385876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02809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50" name="Google Shape;550;p13"/>
          <p:cNvSpPr/>
          <p:nvPr/>
        </p:nvSpPr>
        <p:spPr>
          <a:xfrm>
            <a:off x="457200" y="3977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Próxima clase (Clase 4 — Virtual)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8A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8A8"/>
                </a:solidFill>
                <a:latin typeface="Calibri"/>
                <a:ea typeface="Calibri"/>
                <a:cs typeface="Calibri"/>
                <a:sym typeface="Calibri"/>
              </a:rPr>
              <a:t>HTML Avanzado: multimedia (audio, video), tablas y formularios. Commit Obligatorio 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457200" y="4608576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Leer el material del campus antes de la clase virtual.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2B4A"/>
          </a:solidFill>
          <a:ln cap="flat" cmpd="sng" w="12700">
            <a:solidFill>
              <a:srgbClr val="1A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274320" y="4864608"/>
            <a:ext cx="8595360" cy="27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Lenguajes Informáticos 1  |  UNAHUR 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r>
              <a:rPr lang="en-US" sz="900">
                <a:solidFill>
                  <a:srgbClr val="D0D8E0"/>
                </a:solidFill>
                <a:latin typeface="Calibri"/>
                <a:ea typeface="Calibri"/>
                <a:cs typeface="Calibri"/>
                <a:sym typeface="Calibri"/>
              </a:rPr>
              <a:t>  |  Clase 3 — Práctica HTML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2026-04-05T17:13:19Z</dcterms:created>
  <dc:creator>PptxGenJS</dc:creator>
</cp:coreProperties>
</file>